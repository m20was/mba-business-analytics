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7" r:id="rId2"/>
    <p:sldId id="311" r:id="rId3"/>
    <p:sldId id="308" r:id="rId4"/>
    <p:sldId id="309" r:id="rId5"/>
    <p:sldId id="312" r:id="rId6"/>
    <p:sldId id="316" r:id="rId7"/>
    <p:sldId id="313" r:id="rId8"/>
    <p:sldId id="314" r:id="rId9"/>
    <p:sldId id="299" r:id="rId10"/>
    <p:sldId id="300" r:id="rId11"/>
    <p:sldId id="301" r:id="rId12"/>
    <p:sldId id="305" r:id="rId13"/>
    <p:sldId id="310" r:id="rId14"/>
    <p:sldId id="306" r:id="rId15"/>
    <p:sldId id="315" r:id="rId16"/>
    <p:sldId id="289" r:id="rId17"/>
    <p:sldId id="293" r:id="rId18"/>
    <p:sldId id="294" r:id="rId19"/>
    <p:sldId id="295" r:id="rId20"/>
    <p:sldId id="296" r:id="rId21"/>
    <p:sldId id="297" r:id="rId22"/>
    <p:sldId id="298" r:id="rId23"/>
    <p:sldId id="277" r:id="rId24"/>
    <p:sldId id="319" r:id="rId25"/>
    <p:sldId id="320" r:id="rId26"/>
    <p:sldId id="321" r:id="rId27"/>
    <p:sldId id="279" r:id="rId28"/>
    <p:sldId id="280" r:id="rId29"/>
    <p:sldId id="281" r:id="rId30"/>
    <p:sldId id="322" r:id="rId31"/>
    <p:sldId id="282" r:id="rId32"/>
    <p:sldId id="263" r:id="rId33"/>
    <p:sldId id="264" r:id="rId34"/>
    <p:sldId id="266" r:id="rId35"/>
    <p:sldId id="267" r:id="rId36"/>
    <p:sldId id="317" r:id="rId37"/>
    <p:sldId id="318"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28" y="9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08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14842F-6ADD-4198-AC03-E3E71206DBCF}" type="datetimeFigureOut">
              <a:rPr lang="en-US" smtClean="0"/>
              <a:pPr/>
              <a:t>3/17/2023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A6F564-B587-4976-9BC5-7E7764342C5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BD2CA3F3-2DDD-4DD1-BC19-0662832E9728}" type="slidenum">
              <a:rPr lang="en-US"/>
              <a:pPr/>
              <a:t>4</a:t>
            </a:fld>
            <a:endParaRPr lang="en-US"/>
          </a:p>
        </p:txBody>
      </p:sp>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45D34CF-7B77-4997-86CB-5CCFFD616743}" type="datetimeFigureOut">
              <a:rPr lang="en-US" smtClean="0"/>
              <a:pPr/>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D34CF-7B77-4997-86CB-5CCFFD616743}" type="datetimeFigureOut">
              <a:rPr lang="en-US" smtClean="0"/>
              <a:pPr/>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D34CF-7B77-4997-86CB-5CCFFD616743}" type="datetimeFigureOut">
              <a:rPr lang="en-US" smtClean="0"/>
              <a:pPr/>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5D34CF-7B77-4997-86CB-5CCFFD616743}" type="datetimeFigureOut">
              <a:rPr lang="en-US" smtClean="0"/>
              <a:pPr/>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5D34CF-7B77-4997-86CB-5CCFFD616743}" type="datetimeFigureOut">
              <a:rPr lang="en-US" smtClean="0"/>
              <a:pPr/>
              <a:t>3/17/2023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5D34CF-7B77-4997-86CB-5CCFFD616743}" type="datetimeFigureOut">
              <a:rPr lang="en-US" smtClean="0"/>
              <a:pPr/>
              <a:t>3/17/2023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D34CF-7B77-4997-86CB-5CCFFD616743}" type="datetimeFigureOut">
              <a:rPr lang="en-US" smtClean="0"/>
              <a:pPr/>
              <a:t>3/17/2023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5D34CF-7B77-4997-86CB-5CCFFD616743}" type="datetimeFigureOut">
              <a:rPr lang="en-US" smtClean="0"/>
              <a:pPr/>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5D34CF-7B77-4997-86CB-5CCFFD616743}" type="datetimeFigureOut">
              <a:rPr lang="en-US" smtClean="0"/>
              <a:pPr/>
              <a:t>3/17/2023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D34CF-7B77-4997-86CB-5CCFFD616743}" type="datetimeFigureOut">
              <a:rPr lang="en-US" smtClean="0"/>
              <a:pPr/>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D34CF-7B77-4997-86CB-5CCFFD616743}" type="datetimeFigureOut">
              <a:rPr lang="en-US" smtClean="0"/>
              <a:pPr/>
              <a:t>3/17/2023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A3C0E-BB0A-496A-8625-0461A1222E9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5D34CF-7B77-4997-86CB-5CCFFD616743}" type="datetimeFigureOut">
              <a:rPr lang="en-US" smtClean="0"/>
              <a:pPr/>
              <a:t>3/17/2023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3A3C0E-BB0A-496A-8625-0461A1222E9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hyperlink" Target="http://www.au.af.mil/au/awc/awcgate/ndu/strat-ldr-dm/pt4ch15.html" TargetMode="External"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3" Type="http://schemas.openxmlformats.org/officeDocument/2006/relationships/image" Target="../media/image16.jpeg" /><Relationship Id="rId2" Type="http://schemas.openxmlformats.org/officeDocument/2006/relationships/image" Target="../media/image15.jpe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endParaRPr lang="en-US" dirty="0">
              <a:solidFill>
                <a:schemeClr val="tx1"/>
              </a:solidFill>
            </a:endParaRPr>
          </a:p>
          <a:p>
            <a:endParaRPr lang="en-US" sz="2600" dirty="0">
              <a:solidFill>
                <a:schemeClr val="tx1"/>
              </a:solidFill>
              <a:latin typeface="Berlin Sans FB" pitchFamily="34" charset="0"/>
            </a:endParaRPr>
          </a:p>
          <a:p>
            <a:r>
              <a:rPr lang="en-US" sz="2600" b="1" dirty="0">
                <a:solidFill>
                  <a:schemeClr val="tx1"/>
                </a:solidFill>
                <a:latin typeface="+mj-lt"/>
              </a:rPr>
              <a:t>Draupadi asks her husband, Yudhishthira, about unmerited suffering: "When everything was going so well for us, why was our kingdom stolen in a rigged game of dice?" she complains. She exhorts her husband, who gambled away the kingdom, to raise an army and get their possessions back. But he reminds her that he has given his word to his enemies to remain in exile for 13 years as punishment for losing the game.</a:t>
            </a:r>
          </a:p>
          <a:p>
            <a:r>
              <a:rPr lang="en-US" sz="2600" b="1" dirty="0">
                <a:solidFill>
                  <a:schemeClr val="tx1"/>
                </a:solidFill>
                <a:latin typeface="+mj-lt"/>
              </a:rPr>
              <a:t>"What is the point of being good?" she persists. "Isn't it better to be powerful and rich than to be good in an unfair world where those who steal and cheat sleep on sheets of silk and pillows of down while those who are good have to settle for the hard earth? Why be good?" To this he replies in the only way that he knows: "I act because I must."</a:t>
            </a:r>
          </a:p>
          <a:p>
            <a:endParaRPr lang="en-US" dirty="0"/>
          </a:p>
        </p:txBody>
      </p:sp>
      <p:sp>
        <p:nvSpPr>
          <p:cNvPr id="4" name="Rectangle 3"/>
          <p:cNvSpPr/>
          <p:nvPr/>
        </p:nvSpPr>
        <p:spPr>
          <a:xfrm>
            <a:off x="0" y="0"/>
            <a:ext cx="9144000" cy="838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I act because  I must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a:t>Ethics</a:t>
            </a:r>
          </a:p>
        </p:txBody>
      </p:sp>
      <p:sp>
        <p:nvSpPr>
          <p:cNvPr id="3" name="Content Placeholder 2"/>
          <p:cNvSpPr>
            <a:spLocks noGrp="1"/>
          </p:cNvSpPr>
          <p:nvPr>
            <p:ph idx="1"/>
          </p:nvPr>
        </p:nvSpPr>
        <p:spPr>
          <a:xfrm>
            <a:off x="0" y="838200"/>
            <a:ext cx="9144000" cy="6019800"/>
          </a:xfrm>
        </p:spPr>
        <p:txBody>
          <a:bodyPr>
            <a:normAutofit/>
          </a:bodyPr>
          <a:lstStyle/>
          <a:p>
            <a:endParaRPr lang="en-US" sz="2400" dirty="0"/>
          </a:p>
          <a:p>
            <a:r>
              <a:rPr lang="en-US" sz="2400" dirty="0"/>
              <a:t>Greek word </a:t>
            </a:r>
            <a:r>
              <a:rPr lang="en-US" sz="2400" b="1" dirty="0"/>
              <a:t>Ethike</a:t>
            </a:r>
            <a:r>
              <a:rPr lang="en-US" sz="2400" dirty="0"/>
              <a:t>: Social environment, ethos or Social milieu.</a:t>
            </a:r>
          </a:p>
          <a:p>
            <a:endParaRPr lang="en-US" sz="2400" dirty="0"/>
          </a:p>
          <a:p>
            <a:r>
              <a:rPr lang="en-US" sz="2400" dirty="0"/>
              <a:t>It refers to everything that is part and parcel of society.</a:t>
            </a:r>
          </a:p>
          <a:p>
            <a:endParaRPr lang="en-US" sz="2400" dirty="0"/>
          </a:p>
          <a:p>
            <a:r>
              <a:rPr lang="en-US" sz="2400" dirty="0"/>
              <a:t>Ethics is a branch of philosophy known as </a:t>
            </a:r>
            <a:r>
              <a:rPr lang="en-US" sz="2400" b="1" u="sng" dirty="0"/>
              <a:t>'moral philosophy</a:t>
            </a:r>
            <a:r>
              <a:rPr lang="en-US" sz="2400" dirty="0"/>
              <a:t>'. Moral philosophy is </a:t>
            </a:r>
            <a:r>
              <a:rPr lang="en-US" sz="2400" b="1" dirty="0"/>
              <a:t>about life and how it should be lived</a:t>
            </a:r>
            <a:r>
              <a:rPr lang="en-US" sz="2400" dirty="0"/>
              <a:t>. And so ethics is about the philosophy of life and how it governs our dealings with our fellow human beings and the world we live </a:t>
            </a:r>
            <a:r>
              <a:rPr lang="en-US" sz="2400" i="1" dirty="0"/>
              <a:t>in.</a:t>
            </a:r>
          </a:p>
          <a:p>
            <a:endParaRPr lang="en-US" sz="2400" i="1" dirty="0"/>
          </a:p>
          <a:p>
            <a:r>
              <a:rPr lang="en-IN" sz="2400" dirty="0"/>
              <a:t>The field of ethics (or moral philosophy) involves </a:t>
            </a:r>
            <a:r>
              <a:rPr lang="en-IN" sz="2400" b="1" dirty="0"/>
              <a:t>systematizing, defending, and recommending </a:t>
            </a:r>
            <a:r>
              <a:rPr lang="en-IN" sz="2400" dirty="0"/>
              <a:t>concepts of </a:t>
            </a:r>
            <a:r>
              <a:rPr lang="en-IN" sz="2400" b="1" dirty="0"/>
              <a:t>right and wrong behaviour.</a:t>
            </a:r>
            <a:endParaRPr lang="en-US" sz="2400" b="1"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Meaning of Ethics Character  of a man Conduct of a person Series of Actions Good or  Bad, Right or wrong, Moral or Immoral..."/>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1"/>
          <p:cNvSpPr>
            <a:spLocks noGrp="1"/>
          </p:cNvSpPr>
          <p:nvPr>
            <p:ph type="dt" sz="half" idx="10"/>
          </p:nvPr>
        </p:nvSpPr>
        <p:spPr/>
        <p:txBody>
          <a:bodyPr/>
          <a:lstStyle/>
          <a:p>
            <a:r>
              <a:rPr lang="en-US"/>
              <a:t>Islamic University</a:t>
            </a:r>
          </a:p>
        </p:txBody>
      </p:sp>
      <p:sp>
        <p:nvSpPr>
          <p:cNvPr id="5" name="Footer Placeholder 2"/>
          <p:cNvSpPr>
            <a:spLocks noGrp="1"/>
          </p:cNvSpPr>
          <p:nvPr>
            <p:ph type="ftr" sz="quarter" idx="11"/>
          </p:nvPr>
        </p:nvSpPr>
        <p:spPr/>
        <p:txBody>
          <a:bodyPr/>
          <a:lstStyle/>
          <a:p>
            <a:r>
              <a:rPr lang="en-US"/>
              <a:t>Dr. Basil Hamed</a:t>
            </a:r>
          </a:p>
        </p:txBody>
      </p:sp>
      <p:sp>
        <p:nvSpPr>
          <p:cNvPr id="6" name="Slide Number Placeholder 3"/>
          <p:cNvSpPr>
            <a:spLocks noGrp="1"/>
          </p:cNvSpPr>
          <p:nvPr>
            <p:ph type="sldNum" sz="quarter" idx="12"/>
          </p:nvPr>
        </p:nvSpPr>
        <p:spPr/>
        <p:txBody>
          <a:bodyPr/>
          <a:lstStyle/>
          <a:p>
            <a:fld id="{C7B69C70-CCBB-4573-B3C0-C29202610D1A}" type="slidenum">
              <a:rPr lang="en-US"/>
              <a:pPr/>
              <a:t>4</a:t>
            </a:fld>
            <a:endParaRPr lang="en-US"/>
          </a:p>
        </p:txBody>
      </p:sp>
      <p:pic>
        <p:nvPicPr>
          <p:cNvPr id="53250" name="Picture 1026" descr="Japan"/>
          <p:cNvPicPr>
            <a:picLocks noChangeAspect="1" noChangeArrowheads="1"/>
          </p:cNvPicPr>
          <p:nvPr/>
        </p:nvPicPr>
        <p:blipFill>
          <a:blip r:embed="rId3" cstate="print"/>
          <a:srcRect/>
          <a:stretch>
            <a:fillRect/>
          </a:stretch>
        </p:blipFill>
        <p:spPr bwMode="auto">
          <a:xfrm>
            <a:off x="0" y="1"/>
            <a:ext cx="9144000" cy="6858000"/>
          </a:xfrm>
          <a:prstGeom prst="rect">
            <a:avLst/>
          </a:prstGeom>
          <a:noFill/>
        </p:spPr>
      </p:pic>
      <p:sp>
        <p:nvSpPr>
          <p:cNvPr id="9" name="Text Box 1027"/>
          <p:cNvSpPr txBox="1">
            <a:spLocks noChangeArrowheads="1"/>
          </p:cNvSpPr>
          <p:nvPr/>
        </p:nvSpPr>
        <p:spPr bwMode="auto">
          <a:xfrm>
            <a:off x="1143000" y="381000"/>
            <a:ext cx="6705600" cy="1587500"/>
          </a:xfrm>
          <a:prstGeom prst="rect">
            <a:avLst/>
          </a:prstGeom>
          <a:noFill/>
          <a:ln w="9525">
            <a:noFill/>
            <a:miter lim="800000"/>
            <a:headEnd/>
            <a:tailEnd/>
          </a:ln>
          <a:effectLst/>
        </p:spPr>
        <p:txBody>
          <a:bodyPr>
            <a:spAutoFit/>
          </a:bodyPr>
          <a:lstStyle/>
          <a:p>
            <a:pPr>
              <a:spcBef>
                <a:spcPct val="50000"/>
              </a:spcBef>
            </a:pPr>
            <a:r>
              <a:rPr lang="en-US" sz="2800" b="1" dirty="0">
                <a:latin typeface="Garamond" pitchFamily="18" charset="0"/>
              </a:rPr>
              <a:t>The reputation of a thousand years may be determined by the conduct of one hour.</a:t>
            </a:r>
          </a:p>
          <a:p>
            <a:pPr>
              <a:spcBef>
                <a:spcPct val="50000"/>
              </a:spcBef>
            </a:pPr>
            <a:r>
              <a:rPr lang="en-US" sz="2800" b="1" dirty="0">
                <a:latin typeface="Garamond" pitchFamily="18" charset="0"/>
              </a:rPr>
              <a:t>				Japanese proverb</a:t>
            </a:r>
            <a:r>
              <a:rPr lang="en-US" sz="28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b="1" dirty="0"/>
              <a:t>Evolution of Ethics</a:t>
            </a:r>
          </a:p>
        </p:txBody>
      </p:sp>
      <p:sp>
        <p:nvSpPr>
          <p:cNvPr id="3" name="Content Placeholder 2"/>
          <p:cNvSpPr>
            <a:spLocks noGrp="1"/>
          </p:cNvSpPr>
          <p:nvPr>
            <p:ph idx="1"/>
          </p:nvPr>
        </p:nvSpPr>
        <p:spPr>
          <a:xfrm>
            <a:off x="0" y="762000"/>
            <a:ext cx="9144000" cy="6096000"/>
          </a:xfrm>
        </p:spPr>
        <p:txBody>
          <a:bodyPr/>
          <a:lstStyle/>
          <a:p>
            <a:r>
              <a:rPr lang="en-US" dirty="0"/>
              <a:t>Social conduct evolved along with the </a:t>
            </a:r>
            <a:r>
              <a:rPr lang="en-US" b="1" dirty="0"/>
              <a:t>evolution of society.</a:t>
            </a:r>
          </a:p>
          <a:p>
            <a:r>
              <a:rPr lang="en-US" b="1" dirty="0"/>
              <a:t>Code of conduct </a:t>
            </a:r>
            <a:r>
              <a:rPr lang="en-US" dirty="0"/>
              <a:t>passed down from </a:t>
            </a:r>
            <a:r>
              <a:rPr lang="en-US" b="1" dirty="0"/>
              <a:t>generation to generation.</a:t>
            </a:r>
          </a:p>
          <a:p>
            <a:r>
              <a:rPr lang="en-US" b="1" dirty="0"/>
              <a:t>Acceptable behavior is promoted </a:t>
            </a:r>
            <a:r>
              <a:rPr lang="en-US" dirty="0"/>
              <a:t>&amp; elevated as a social value, unaccepted behavior is rejected and condemned.</a:t>
            </a:r>
          </a:p>
          <a:p>
            <a:r>
              <a:rPr lang="en-US" dirty="0"/>
              <a:t>Laws of country based on customs or </a:t>
            </a:r>
            <a:r>
              <a:rPr lang="en-US" b="1" dirty="0"/>
              <a:t>moral codes of its society.</a:t>
            </a:r>
          </a:p>
          <a:p>
            <a:r>
              <a:rPr lang="en-US" dirty="0"/>
              <a:t>Object of social codes of conduct is to maintain, </a:t>
            </a:r>
            <a:r>
              <a:rPr lang="en-US" b="1" dirty="0"/>
              <a:t>promote and elevate harmonious relationship.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4818" name="Picture 2" descr="Sources of Ethical Norms Culture  Fellow Workers Family Friends The Law Regions of Country Profession Employer Society at ..."/>
          <p:cNvPicPr>
            <a:picLocks noChangeAspect="1" noChangeArrowheads="1"/>
          </p:cNvPicPr>
          <p:nvPr/>
        </p:nvPicPr>
        <p:blipFill>
          <a:blip r:embed="rId2" cstate="print"/>
          <a:srcRect/>
          <a:stretch>
            <a:fillRect/>
          </a:stretch>
        </p:blipFill>
        <p:spPr bwMode="auto">
          <a:xfrm>
            <a:off x="0" y="1"/>
            <a:ext cx="9144000" cy="6858000"/>
          </a:xfrm>
          <a:prstGeom prst="rect">
            <a:avLst/>
          </a:prstGeom>
          <a:noFill/>
        </p:spPr>
      </p:pic>
      <p:sp>
        <p:nvSpPr>
          <p:cNvPr id="5" name="Rectangle 4"/>
          <p:cNvSpPr/>
          <p:nvPr/>
        </p:nvSpPr>
        <p:spPr>
          <a:xfrm>
            <a:off x="1143000" y="914400"/>
            <a:ext cx="1600200" cy="6858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Geography &amp; Topology</a:t>
            </a:r>
          </a:p>
        </p:txBody>
      </p:sp>
      <p:cxnSp>
        <p:nvCxnSpPr>
          <p:cNvPr id="7" name="Straight Arrow Connector 6"/>
          <p:cNvCxnSpPr/>
          <p:nvPr/>
        </p:nvCxnSpPr>
        <p:spPr>
          <a:xfrm>
            <a:off x="2743200" y="1524000"/>
            <a:ext cx="1219200" cy="1600200"/>
          </a:xfrm>
          <a:prstGeom prst="straightConnector1">
            <a:avLst/>
          </a:prstGeom>
          <a:ln cmpd="thickThin">
            <a:solidFill>
              <a:schemeClr val="tx1">
                <a:lumMod val="75000"/>
                <a:lumOff val="2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pPr algn="l"/>
            <a:br>
              <a:rPr lang="en-US" sz="3200" dirty="0"/>
            </a:br>
            <a:r>
              <a:rPr lang="en-US" sz="3200" b="1" dirty="0"/>
              <a:t>Every society makes some determination of morally correct behavior</a:t>
            </a:r>
            <a:r>
              <a:rPr lang="en-US" sz="3200" b="1" dirty="0">
                <a:solidFill>
                  <a:srgbClr val="FF0000"/>
                </a:solidFill>
              </a:rPr>
              <a:t>.</a:t>
            </a:r>
            <a:br>
              <a:rPr lang="en-US" sz="3200" dirty="0"/>
            </a:br>
            <a:endParaRPr lang="en-US" sz="3200" dirty="0"/>
          </a:p>
        </p:txBody>
      </p:sp>
      <p:sp>
        <p:nvSpPr>
          <p:cNvPr id="3" name="Content Placeholder 2"/>
          <p:cNvSpPr>
            <a:spLocks noGrp="1"/>
          </p:cNvSpPr>
          <p:nvPr>
            <p:ph idx="1"/>
          </p:nvPr>
        </p:nvSpPr>
        <p:spPr>
          <a:xfrm>
            <a:off x="0" y="1143000"/>
            <a:ext cx="9144000" cy="5715000"/>
          </a:xfrm>
        </p:spPr>
        <p:txBody>
          <a:bodyPr>
            <a:normAutofit fontScale="92500" lnSpcReduction="10000"/>
          </a:bodyPr>
          <a:lstStyle/>
          <a:p>
            <a:pPr marL="0" indent="0">
              <a:buNone/>
            </a:pPr>
            <a:endParaRPr lang="en-US" b="1" dirty="0">
              <a:solidFill>
                <a:srgbClr val="FF0000"/>
              </a:solidFill>
            </a:endParaRPr>
          </a:p>
          <a:p>
            <a:pPr marL="0" indent="0">
              <a:buNone/>
            </a:pPr>
            <a:r>
              <a:rPr lang="en-US" sz="2800" dirty="0"/>
              <a:t>In Islamic countries, a determination of what is right or moral is tied to </a:t>
            </a:r>
            <a:r>
              <a:rPr lang="en-US" sz="2800" b="1" dirty="0"/>
              <a:t>religious scriptures.</a:t>
            </a:r>
          </a:p>
          <a:p>
            <a:pPr marL="0" indent="0">
              <a:buNone/>
            </a:pPr>
            <a:endParaRPr lang="en-US" sz="2800" dirty="0"/>
          </a:p>
          <a:p>
            <a:pPr marL="0" indent="0">
              <a:buNone/>
            </a:pPr>
            <a:r>
              <a:rPr lang="en-US" sz="2800" dirty="0"/>
              <a:t> In societies more secular, the influence of religious beliefs may be less obvious, but still a key factor.</a:t>
            </a:r>
          </a:p>
          <a:p>
            <a:pPr marL="0" indent="0">
              <a:buNone/>
            </a:pPr>
            <a:endParaRPr lang="en-US" sz="2800" dirty="0"/>
          </a:p>
          <a:p>
            <a:pPr marL="0" indent="0">
              <a:buNone/>
            </a:pPr>
            <a:r>
              <a:rPr lang="en-US" sz="2800" dirty="0"/>
              <a:t> In the United States much of what is believed to be right or wrong is based in </a:t>
            </a:r>
            <a:r>
              <a:rPr lang="en-US" sz="2800" b="1" dirty="0"/>
              <a:t>Judeo-Christian heritage</a:t>
            </a:r>
            <a:r>
              <a:rPr lang="en-US" sz="2800" dirty="0"/>
              <a:t>. The Ten Commandments, for many people, define what is morally right or wrong. </a:t>
            </a:r>
          </a:p>
          <a:p>
            <a:pPr marL="0" indent="0">
              <a:buNone/>
            </a:pPr>
            <a:endParaRPr lang="en-US" sz="2800" dirty="0"/>
          </a:p>
          <a:p>
            <a:pPr marL="0" indent="0">
              <a:buNone/>
            </a:pPr>
            <a:r>
              <a:rPr lang="en-US" sz="2800" dirty="0"/>
              <a:t>Societies not only </a:t>
            </a:r>
            <a:r>
              <a:rPr lang="en-US" sz="2800" b="1" dirty="0"/>
              <a:t>regulate the behavior of their members, but also define their societal core values.</a:t>
            </a:r>
            <a:r>
              <a:rPr lang="en-US" sz="2800" dirty="0"/>
              <a:t> "</a:t>
            </a:r>
            <a:r>
              <a:rPr lang="en-US" sz="2800" b="1" dirty="0"/>
              <a:t>Life, liberty, and the pursuit of happiness</a:t>
            </a:r>
            <a:r>
              <a:rPr lang="en-US" sz="2800" dirty="0"/>
              <a:t>" represent core American values.</a:t>
            </a:r>
          </a:p>
          <a:p>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a:t>Society define Values and Ethics</a:t>
            </a:r>
          </a:p>
        </p:txBody>
      </p:sp>
      <p:graphicFrame>
        <p:nvGraphicFramePr>
          <p:cNvPr id="4" name="Content Placeholder 3"/>
          <p:cNvGraphicFramePr>
            <a:graphicFrameLocks noGrp="1"/>
          </p:cNvGraphicFramePr>
          <p:nvPr>
            <p:ph idx="1"/>
          </p:nvPr>
        </p:nvGraphicFramePr>
        <p:xfrm>
          <a:off x="152400" y="1143000"/>
          <a:ext cx="8763000" cy="5562598"/>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2921000">
                  <a:extLst>
                    <a:ext uri="{9D8B030D-6E8A-4147-A177-3AD203B41FA5}">
                      <a16:colId xmlns:a16="http://schemas.microsoft.com/office/drawing/2014/main" val="20001"/>
                    </a:ext>
                  </a:extLst>
                </a:gridCol>
                <a:gridCol w="2921000">
                  <a:extLst>
                    <a:ext uri="{9D8B030D-6E8A-4147-A177-3AD203B41FA5}">
                      <a16:colId xmlns:a16="http://schemas.microsoft.com/office/drawing/2014/main" val="20002"/>
                    </a:ext>
                  </a:extLst>
                </a:gridCol>
              </a:tblGrid>
              <a:tr h="417338">
                <a:tc>
                  <a:txBody>
                    <a:bodyPr/>
                    <a:lstStyle/>
                    <a:p>
                      <a:r>
                        <a:rPr lang="en-US" dirty="0"/>
                        <a:t>US</a:t>
                      </a:r>
                      <a:r>
                        <a:rPr lang="en-US" baseline="0" dirty="0"/>
                        <a:t> Culture</a:t>
                      </a:r>
                      <a:endParaRPr lang="en-US" dirty="0"/>
                    </a:p>
                  </a:txBody>
                  <a:tcPr/>
                </a:tc>
                <a:tc>
                  <a:txBody>
                    <a:bodyPr/>
                    <a:lstStyle/>
                    <a:p>
                      <a:r>
                        <a:rPr lang="en-US" dirty="0"/>
                        <a:t>Indian Culture </a:t>
                      </a:r>
                    </a:p>
                  </a:txBody>
                  <a:tcPr/>
                </a:tc>
                <a:tc>
                  <a:txBody>
                    <a:bodyPr/>
                    <a:lstStyle/>
                    <a:p>
                      <a:r>
                        <a:rPr lang="en-US" dirty="0"/>
                        <a:t>Japanese Culture</a:t>
                      </a:r>
                    </a:p>
                  </a:txBody>
                  <a:tcPr/>
                </a:tc>
                <a:extLst>
                  <a:ext uri="{0D108BD9-81ED-4DB2-BD59-A6C34878D82A}">
                    <a16:rowId xmlns:a16="http://schemas.microsoft.com/office/drawing/2014/main" val="10000"/>
                  </a:ext>
                </a:extLst>
              </a:tr>
              <a:tr h="1029052">
                <a:tc>
                  <a:txBody>
                    <a:bodyPr/>
                    <a:lstStyle/>
                    <a:p>
                      <a:r>
                        <a:rPr lang="en-US" b="1" dirty="0"/>
                        <a:t>Individuals</a:t>
                      </a:r>
                      <a:r>
                        <a:rPr lang="en-US" b="1" baseline="0" dirty="0"/>
                        <a:t> can influence future</a:t>
                      </a:r>
                      <a:endParaRPr lang="en-US" b="1" dirty="0"/>
                    </a:p>
                  </a:txBody>
                  <a:tcPr/>
                </a:tc>
                <a:tc>
                  <a:txBody>
                    <a:bodyPr/>
                    <a:lstStyle/>
                    <a:p>
                      <a:r>
                        <a:rPr lang="en-US" b="1" dirty="0"/>
                        <a:t>Life is a pre planned, Human action is pre determined.</a:t>
                      </a:r>
                    </a:p>
                  </a:txBody>
                  <a:tcPr/>
                </a:tc>
                <a:tc>
                  <a:txBody>
                    <a:bodyPr/>
                    <a:lstStyle/>
                    <a:p>
                      <a:r>
                        <a:rPr lang="en-US" b="1" dirty="0"/>
                        <a:t>Groupism</a:t>
                      </a:r>
                    </a:p>
                  </a:txBody>
                  <a:tcPr/>
                </a:tc>
                <a:extLst>
                  <a:ext uri="{0D108BD9-81ED-4DB2-BD59-A6C34878D82A}">
                    <a16:rowId xmlns:a16="http://schemas.microsoft.com/office/drawing/2014/main" val="10001"/>
                  </a:ext>
                </a:extLst>
              </a:tr>
              <a:tr h="1337768">
                <a:tc>
                  <a:txBody>
                    <a:bodyPr/>
                    <a:lstStyle/>
                    <a:p>
                      <a:r>
                        <a:rPr lang="en-US" b="1" dirty="0"/>
                        <a:t>I can change work to achieve objective commitment to organization</a:t>
                      </a:r>
                    </a:p>
                  </a:txBody>
                  <a:tcPr/>
                </a:tc>
                <a:tc>
                  <a:txBody>
                    <a:bodyPr/>
                    <a:lstStyle/>
                    <a:p>
                      <a:r>
                        <a:rPr lang="en-US" b="1" dirty="0"/>
                        <a:t>I need to adjust, human action is pre determined.</a:t>
                      </a:r>
                    </a:p>
                  </a:txBody>
                  <a:tcPr/>
                </a:tc>
                <a:tc>
                  <a:txBody>
                    <a:bodyPr/>
                    <a:lstStyle/>
                    <a:p>
                      <a:r>
                        <a:rPr lang="en-US" b="1" dirty="0"/>
                        <a:t>Homogeneity</a:t>
                      </a:r>
                    </a:p>
                  </a:txBody>
                  <a:tcPr/>
                </a:tc>
                <a:extLst>
                  <a:ext uri="{0D108BD9-81ED-4DB2-BD59-A6C34878D82A}">
                    <a16:rowId xmlns:a16="http://schemas.microsoft.com/office/drawing/2014/main" val="10002"/>
                  </a:ext>
                </a:extLst>
              </a:tr>
              <a:tr h="1029052">
                <a:tc>
                  <a:txBody>
                    <a:bodyPr/>
                    <a:lstStyle/>
                    <a:p>
                      <a:r>
                        <a:rPr lang="en-US" b="1" dirty="0"/>
                        <a:t>Data based decisions</a:t>
                      </a:r>
                      <a:r>
                        <a:rPr lang="en-US" b="1" baseline="0" dirty="0"/>
                        <a:t> and they are healthy</a:t>
                      </a:r>
                      <a:endParaRPr lang="en-US" b="1" dirty="0"/>
                    </a:p>
                  </a:txBody>
                  <a:tcPr/>
                </a:tc>
                <a:tc>
                  <a:txBody>
                    <a:bodyPr/>
                    <a:lstStyle/>
                    <a:p>
                      <a:r>
                        <a:rPr lang="en-US" b="1" dirty="0"/>
                        <a:t>Decisions flow from the experience and Wisdom of authorities.</a:t>
                      </a:r>
                    </a:p>
                  </a:txBody>
                  <a:tcPr/>
                </a:tc>
                <a:tc>
                  <a:txBody>
                    <a:bodyPr/>
                    <a:lstStyle/>
                    <a:p>
                      <a:r>
                        <a:rPr lang="en-US" b="1" dirty="0"/>
                        <a:t>Confucian</a:t>
                      </a:r>
                      <a:r>
                        <a:rPr lang="en-US" b="1" baseline="0" dirty="0"/>
                        <a:t> Ethics.</a:t>
                      </a:r>
                      <a:endParaRPr lang="en-US" b="1" dirty="0"/>
                    </a:p>
                  </a:txBody>
                  <a:tcPr/>
                </a:tc>
                <a:extLst>
                  <a:ext uri="{0D108BD9-81ED-4DB2-BD59-A6C34878D82A}">
                    <a16:rowId xmlns:a16="http://schemas.microsoft.com/office/drawing/2014/main" val="10003"/>
                  </a:ext>
                </a:extLst>
              </a:tr>
              <a:tr h="1029052">
                <a:tc>
                  <a:txBody>
                    <a:bodyPr/>
                    <a:lstStyle/>
                    <a:p>
                      <a:r>
                        <a:rPr lang="en-US" b="1" dirty="0"/>
                        <a:t>I can</a:t>
                      </a:r>
                      <a:r>
                        <a:rPr lang="en-US" b="1" baseline="0" dirty="0"/>
                        <a:t> disagree.</a:t>
                      </a:r>
                      <a:endParaRPr lang="en-US" b="1" dirty="0"/>
                    </a:p>
                  </a:txBody>
                  <a:tcPr/>
                </a:tc>
                <a:tc>
                  <a:txBody>
                    <a:bodyPr/>
                    <a:lstStyle/>
                    <a:p>
                      <a:r>
                        <a:rPr lang="en-US" b="1" dirty="0"/>
                        <a:t>Deference to age and seniority, suppression</a:t>
                      </a:r>
                      <a:r>
                        <a:rPr lang="en-US" b="1" baseline="0" dirty="0"/>
                        <a:t> of negative feelings.</a:t>
                      </a:r>
                      <a:endParaRPr lang="en-US" b="1" dirty="0"/>
                    </a:p>
                  </a:txBody>
                  <a:tcPr/>
                </a:tc>
                <a:tc>
                  <a:txBody>
                    <a:bodyPr/>
                    <a:lstStyle/>
                    <a:p>
                      <a:r>
                        <a:rPr lang="en-US" b="1" dirty="0"/>
                        <a:t>High educational</a:t>
                      </a:r>
                      <a:r>
                        <a:rPr lang="en-US" b="1" baseline="0" dirty="0"/>
                        <a:t> levels</a:t>
                      </a:r>
                      <a:endParaRPr lang="en-US" b="1" dirty="0"/>
                    </a:p>
                  </a:txBody>
                  <a:tcPr/>
                </a:tc>
                <a:extLst>
                  <a:ext uri="{0D108BD9-81ED-4DB2-BD59-A6C34878D82A}">
                    <a16:rowId xmlns:a16="http://schemas.microsoft.com/office/drawing/2014/main" val="10004"/>
                  </a:ext>
                </a:extLst>
              </a:tr>
              <a:tr h="720336">
                <a:tc>
                  <a:txBody>
                    <a:bodyPr/>
                    <a:lstStyle/>
                    <a:p>
                      <a:r>
                        <a:rPr lang="en-US" b="1" dirty="0"/>
                        <a:t>Protestant Ethic</a:t>
                      </a:r>
                    </a:p>
                  </a:txBody>
                  <a:tcPr/>
                </a:tc>
                <a:tc>
                  <a:txBody>
                    <a:bodyPr/>
                    <a:lstStyle/>
                    <a:p>
                      <a:r>
                        <a:rPr lang="en-US" b="1" dirty="0"/>
                        <a:t>Joint family</a:t>
                      </a:r>
                      <a:r>
                        <a:rPr lang="en-US" b="1" baseline="0" dirty="0"/>
                        <a:t> and authoritarian values</a:t>
                      </a:r>
                      <a:endParaRPr lang="en-US" b="1" dirty="0"/>
                    </a:p>
                  </a:txBody>
                  <a:tcPr/>
                </a:tc>
                <a:tc>
                  <a:txBody>
                    <a:bodyPr/>
                    <a:lstStyle/>
                    <a:p>
                      <a:r>
                        <a:rPr lang="en-US" b="1" dirty="0"/>
                        <a:t>Group</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8674" name="Picture 2" descr="&lt;ul&gt;&lt;li&gt;Unitarian View: Business &amp; morality cannot be separated and it must play  by the rules of ethics of the community...."/>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9698" name="Picture 2" descr="Separatist view of Ethics &lt;ul&gt;&lt;li&gt;Proposed by Adam Smith and Milton Friedman: Business is a distinct entity and does not i..."/>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1066800" y="5181600"/>
            <a:ext cx="6781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Business of Business is business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30722" name="Picture 2" descr="Integration view of ethics &lt;ul&gt;&lt;li&gt;Proposed by Talcott Parsons &lt;/li&gt;&lt;/ul&gt;Law Society Government Market Systems Morality  &amp;..."/>
          <p:cNvPicPr>
            <a:picLocks noChangeAspect="1" noChangeArrowheads="1"/>
          </p:cNvPicPr>
          <p:nvPr/>
        </p:nvPicPr>
        <p:blipFill>
          <a:blip r:embed="rId2" cstate="print"/>
          <a:srcRect/>
          <a:stretch>
            <a:fillRect/>
          </a:stretch>
        </p:blipFill>
        <p:spPr bwMode="auto">
          <a:xfrm>
            <a:off x="0" y="1"/>
            <a:ext cx="9144000" cy="68580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650" name="Picture 2" descr="Business Ethics: What Does It Really Mean??? &lt;ul&gt;&lt;li&gt;comprises principles and standards that guide behavior in the world o..."/>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85000" lnSpcReduction="20000"/>
          </a:bodyPr>
          <a:lstStyle/>
          <a:p>
            <a:pPr marL="0" indent="0" algn="ctr">
              <a:buNone/>
            </a:pPr>
            <a:r>
              <a:rPr lang="en-US" sz="3800" b="1" dirty="0"/>
              <a:t>Business Ethics Contd..</a:t>
            </a:r>
          </a:p>
          <a:p>
            <a:pPr marL="0" indent="0">
              <a:buNone/>
            </a:pPr>
            <a:endParaRPr lang="en-US" dirty="0"/>
          </a:p>
          <a:p>
            <a:pPr marL="0" indent="0">
              <a:buNone/>
            </a:pPr>
            <a:r>
              <a:rPr lang="en-US" dirty="0"/>
              <a:t>Business Ethics is </a:t>
            </a:r>
            <a:r>
              <a:rPr lang="en-US" b="1" dirty="0"/>
              <a:t>the art  and discipline of applying ethical principles </a:t>
            </a:r>
            <a:r>
              <a:rPr lang="en-US" dirty="0"/>
              <a:t>to examine and solve  </a:t>
            </a:r>
            <a:r>
              <a:rPr lang="en-US" b="1" dirty="0"/>
              <a:t>complex moral dilemmas.</a:t>
            </a:r>
          </a:p>
          <a:p>
            <a:pPr marL="0" indent="0">
              <a:buNone/>
            </a:pPr>
            <a:endParaRPr lang="en-US" dirty="0"/>
          </a:p>
          <a:p>
            <a:pPr marL="0" indent="0">
              <a:buNone/>
            </a:pPr>
            <a:r>
              <a:rPr lang="en-US" dirty="0"/>
              <a:t>Business Ethics proves that </a:t>
            </a:r>
            <a:r>
              <a:rPr lang="en-US" b="1" dirty="0">
                <a:solidFill>
                  <a:srgbClr val="FF0000"/>
                </a:solidFill>
              </a:rPr>
              <a:t>business has been and can be ethical and still make profits</a:t>
            </a:r>
            <a:r>
              <a:rPr lang="en-US" dirty="0"/>
              <a:t>.</a:t>
            </a:r>
          </a:p>
          <a:p>
            <a:pPr marL="0" indent="0">
              <a:buNone/>
            </a:pPr>
            <a:endParaRPr lang="en-US" dirty="0"/>
          </a:p>
          <a:p>
            <a:pPr marL="0" indent="0">
              <a:buNone/>
            </a:pPr>
            <a:r>
              <a:rPr lang="en-US" dirty="0"/>
              <a:t>Business Ethics is that </a:t>
            </a:r>
            <a:r>
              <a:rPr lang="en-US" b="1" dirty="0"/>
              <a:t>sets of principles or reasons </a:t>
            </a:r>
            <a:r>
              <a:rPr lang="en-US" dirty="0"/>
              <a:t>which should </a:t>
            </a:r>
            <a:r>
              <a:rPr lang="en-US" b="1" dirty="0"/>
              <a:t>govern the conduct of business </a:t>
            </a:r>
            <a:r>
              <a:rPr lang="en-US" dirty="0"/>
              <a:t>whether at the </a:t>
            </a:r>
            <a:r>
              <a:rPr lang="en-US" b="1" dirty="0"/>
              <a:t>individual or collective level. </a:t>
            </a:r>
          </a:p>
          <a:p>
            <a:pPr>
              <a:buNone/>
            </a:pPr>
            <a:endParaRPr lang="en-US" dirty="0"/>
          </a:p>
          <a:p>
            <a:pPr marL="0" indent="0">
              <a:buNone/>
            </a:pPr>
            <a:r>
              <a:rPr lang="en-US" sz="3300" b="1" dirty="0">
                <a:solidFill>
                  <a:srgbClr val="660066"/>
                </a:solidFill>
              </a:rPr>
              <a:t>Ethical solutions to business problems  may have more than one right answer or sometimes no right answer at all.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Business Ethics &lt;ul&gt;&lt;li&gt;When business people speak about “business ethics” they usually mean one of three things: &lt;/li&gt;&lt;/u..."/>
          <p:cNvPicPr>
            <a:picLocks noChangeAspect="1" noChangeArrowheads="1"/>
          </p:cNvPicPr>
          <p:nvPr/>
        </p:nvPicPr>
        <p:blipFill>
          <a:blip r:embed="rId2" cstate="print"/>
          <a:srcRect/>
          <a:stretch>
            <a:fillRect/>
          </a:stretch>
        </p:blipFill>
        <p:spPr bwMode="auto">
          <a:xfrm>
            <a:off x="0" y="1"/>
            <a:ext cx="9144000" cy="68580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fontScale="90000"/>
          </a:bodyPr>
          <a:lstStyle/>
          <a:p>
            <a:pPr algn="l"/>
            <a:r>
              <a:rPr lang="en-US" b="1" dirty="0"/>
              <a:t>Tata Ethics</a:t>
            </a:r>
            <a:r>
              <a:rPr lang="en-US" sz="3600" b="1" dirty="0"/>
              <a:t>: </a:t>
            </a:r>
            <a:br>
              <a:rPr lang="en-US" sz="3600" b="1" dirty="0"/>
            </a:br>
            <a:r>
              <a:rPr lang="en-US" sz="3600" b="1" dirty="0"/>
              <a:t>What links that forge the Tata Companies together</a:t>
            </a:r>
          </a:p>
        </p:txBody>
      </p:sp>
      <p:sp>
        <p:nvSpPr>
          <p:cNvPr id="3" name="Content Placeholder 2"/>
          <p:cNvSpPr>
            <a:spLocks noGrp="1"/>
          </p:cNvSpPr>
          <p:nvPr>
            <p:ph idx="1"/>
          </p:nvPr>
        </p:nvSpPr>
        <p:spPr>
          <a:xfrm>
            <a:off x="304800" y="1600200"/>
            <a:ext cx="8382000" cy="4953000"/>
          </a:xfrm>
        </p:spPr>
        <p:txBody>
          <a:bodyPr>
            <a:normAutofit fontScale="77500" lnSpcReduction="20000"/>
          </a:bodyPr>
          <a:lstStyle/>
          <a:p>
            <a:pPr marL="0" indent="0" algn="just">
              <a:buNone/>
            </a:pPr>
            <a:r>
              <a:rPr lang="en-US" dirty="0"/>
              <a:t>J.R.D Tata once said this when asked to define the house of Tatas and </a:t>
            </a:r>
            <a:r>
              <a:rPr lang="en-US" b="1" dirty="0">
                <a:solidFill>
                  <a:srgbClr val="002060"/>
                </a:solidFill>
              </a:rPr>
              <a:t>what links that forge the Tata companies together:</a:t>
            </a:r>
          </a:p>
          <a:p>
            <a:pPr marL="0" indent="0" algn="just">
              <a:buNone/>
            </a:pPr>
            <a:endParaRPr lang="en-US" b="1" dirty="0">
              <a:solidFill>
                <a:srgbClr val="002060"/>
              </a:solidFill>
            </a:endParaRPr>
          </a:p>
          <a:p>
            <a:pPr marL="0" indent="0" algn="just">
              <a:buNone/>
            </a:pPr>
            <a:r>
              <a:rPr lang="en-US" dirty="0"/>
              <a:t>“I would call it a group of  individually managed companies united by two factors: </a:t>
            </a:r>
          </a:p>
          <a:p>
            <a:pPr marL="0" indent="0" algn="just">
              <a:buNone/>
            </a:pPr>
            <a:r>
              <a:rPr lang="en-US" b="1" dirty="0"/>
              <a:t>First, a feeling that they are part of larger group which carries the name and prestige of Tatas, </a:t>
            </a:r>
            <a:r>
              <a:rPr lang="en-US" dirty="0"/>
              <a:t>and public recognition of </a:t>
            </a:r>
            <a:r>
              <a:rPr lang="en-US" b="1" dirty="0">
                <a:solidFill>
                  <a:srgbClr val="C00000"/>
                </a:solidFill>
              </a:rPr>
              <a:t>honesty and reliability-trustworthiness</a:t>
            </a:r>
            <a:r>
              <a:rPr lang="en-US" dirty="0"/>
              <a:t>.</a:t>
            </a:r>
          </a:p>
          <a:p>
            <a:pPr marL="0" indent="0" algn="just">
              <a:buNone/>
            </a:pPr>
            <a:r>
              <a:rPr lang="en-US" dirty="0"/>
              <a:t>The other reason is more metaphysical. </a:t>
            </a:r>
            <a:r>
              <a:rPr lang="en-US" b="1" dirty="0"/>
              <a:t>There is innate loyalty, a sharing of certain beliefs. We all feel a certain pride that we are somewhat different from others.” </a:t>
            </a:r>
          </a:p>
          <a:p>
            <a:pPr marL="0" indent="0" algn="just">
              <a:buNone/>
            </a:pPr>
            <a:endParaRPr lang="en-US" b="1" dirty="0"/>
          </a:p>
          <a:p>
            <a:pPr marL="0" indent="0" algn="just">
              <a:buNone/>
            </a:pPr>
            <a:r>
              <a:rPr lang="en-US" dirty="0"/>
              <a:t>These  several values that JRD Tata refers to have been derived from the ideals of the founder of the group, Jamshedji Tata.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What is not Business Ethics</a:t>
            </a:r>
          </a:p>
        </p:txBody>
      </p:sp>
      <p:sp>
        <p:nvSpPr>
          <p:cNvPr id="3" name="Content Placeholder 2"/>
          <p:cNvSpPr>
            <a:spLocks noGrp="1"/>
          </p:cNvSpPr>
          <p:nvPr>
            <p:ph idx="1"/>
          </p:nvPr>
        </p:nvSpPr>
        <p:spPr>
          <a:xfrm>
            <a:off x="304800" y="1219200"/>
            <a:ext cx="8534400" cy="5410200"/>
          </a:xfrm>
        </p:spPr>
        <p:txBody>
          <a:bodyPr>
            <a:normAutofit/>
          </a:bodyPr>
          <a:lstStyle/>
          <a:p>
            <a:pPr>
              <a:buNone/>
            </a:pPr>
            <a:r>
              <a:rPr lang="en-US" sz="2800" b="1" dirty="0"/>
              <a:t>Ethics is different from religion</a:t>
            </a:r>
            <a:r>
              <a:rPr lang="en-US" sz="2800" dirty="0"/>
              <a:t>: </a:t>
            </a:r>
          </a:p>
          <a:p>
            <a:pPr marL="0" indent="0">
              <a:buNone/>
            </a:pPr>
            <a:r>
              <a:rPr lang="en-US" sz="2400" dirty="0"/>
              <a:t>Religion do not address all the problems we confront today: Cyber crimes and environment related issues which are new.</a:t>
            </a:r>
          </a:p>
          <a:p>
            <a:pPr marL="0" indent="0">
              <a:buNone/>
            </a:pPr>
            <a:endParaRPr lang="en-US" sz="2400" dirty="0"/>
          </a:p>
          <a:p>
            <a:pPr marL="0" indent="0">
              <a:buNone/>
            </a:pPr>
            <a:r>
              <a:rPr lang="en-US" sz="2800" b="1" dirty="0"/>
              <a:t>Ethical Standards are different from Cultural Traits</a:t>
            </a:r>
          </a:p>
          <a:p>
            <a:pPr marL="0" indent="0">
              <a:buNone/>
            </a:pPr>
            <a:r>
              <a:rPr lang="en-US" sz="2400" dirty="0"/>
              <a:t>E.g. Caste System : some people are superior to other’s in God creation.</a:t>
            </a:r>
          </a:p>
          <a:p>
            <a:pPr marL="0" indent="0">
              <a:buNone/>
            </a:pPr>
            <a:endParaRPr lang="en-US" sz="2400" dirty="0"/>
          </a:p>
          <a:p>
            <a:pPr marL="0" indent="0">
              <a:buNone/>
            </a:pPr>
            <a:r>
              <a:rPr lang="en-US" sz="2800" b="1" dirty="0"/>
              <a:t>Ethics is different from feelings</a:t>
            </a:r>
          </a:p>
          <a:p>
            <a:pPr marL="0" indent="0">
              <a:buNone/>
            </a:pPr>
            <a:r>
              <a:rPr lang="en-US" sz="2400" dirty="0"/>
              <a:t>Some have bad feelings while doing wrong, criminals may find it good. Most people when do wrong for first time find it bad when getting incentives from that find it OK.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buNone/>
            </a:pPr>
            <a:r>
              <a:rPr lang="en-US" sz="2800" b="1" dirty="0"/>
              <a:t>Ethics is not Science</a:t>
            </a:r>
          </a:p>
          <a:p>
            <a:pPr marL="0" indent="0">
              <a:buNone/>
            </a:pPr>
            <a:r>
              <a:rPr lang="en-US" sz="2400" dirty="0"/>
              <a:t>Science is not prescriptive and does not tell us what to do in situations of ethical choices. Moreover , just something is scientifically possible, it may not be ethical to do:</a:t>
            </a:r>
          </a:p>
          <a:p>
            <a:pPr marL="0" indent="0">
              <a:buNone/>
            </a:pPr>
            <a:r>
              <a:rPr lang="en-US" sz="2800" b="1" dirty="0">
                <a:solidFill>
                  <a:srgbClr val="FF0000"/>
                </a:solidFill>
              </a:rPr>
              <a:t>    Human Cloning</a:t>
            </a:r>
          </a:p>
          <a:p>
            <a:pPr marL="0" indent="0">
              <a:buNone/>
            </a:pPr>
            <a:endParaRPr lang="en-US" sz="2800" b="1" dirty="0">
              <a:solidFill>
                <a:srgbClr val="FF0000"/>
              </a:solidFill>
            </a:endParaRPr>
          </a:p>
          <a:p>
            <a:pPr marL="0" indent="0">
              <a:buNone/>
            </a:pPr>
            <a:r>
              <a:rPr lang="en-US" sz="2800" b="1" dirty="0"/>
              <a:t>Ethics is not just collection of values</a:t>
            </a:r>
          </a:p>
          <a:p>
            <a:pPr marL="0" indent="0">
              <a:buNone/>
            </a:pPr>
            <a:endParaRPr lang="en-US" sz="2800" b="1" dirty="0"/>
          </a:p>
          <a:p>
            <a:pPr marL="0" indent="0">
              <a:buNone/>
            </a:pPr>
            <a:r>
              <a:rPr lang="en-US" sz="2800" b="1" dirty="0"/>
              <a:t>Ethics is not synonymous with Law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dirty="0"/>
              <a:t>Values</a:t>
            </a:r>
          </a:p>
        </p:txBody>
      </p:sp>
      <p:sp>
        <p:nvSpPr>
          <p:cNvPr id="3" name="Content Placeholder 2"/>
          <p:cNvSpPr>
            <a:spLocks noGrp="1"/>
          </p:cNvSpPr>
          <p:nvPr>
            <p:ph idx="1"/>
          </p:nvPr>
        </p:nvSpPr>
        <p:spPr>
          <a:xfrm>
            <a:off x="0" y="762000"/>
            <a:ext cx="8915400" cy="6096000"/>
          </a:xfrm>
        </p:spPr>
        <p:txBody>
          <a:bodyPr>
            <a:normAutofit/>
          </a:bodyPr>
          <a:lstStyle/>
          <a:p>
            <a:pPr marL="0" indent="0">
              <a:buNone/>
            </a:pPr>
            <a:endParaRPr lang="en-US" sz="2400" b="1" dirty="0"/>
          </a:p>
          <a:p>
            <a:pPr marL="0" indent="0">
              <a:buNone/>
            </a:pPr>
            <a:r>
              <a:rPr lang="en-US" sz="2400" b="1" dirty="0"/>
              <a:t>Values</a:t>
            </a:r>
            <a:r>
              <a:rPr lang="en-US" sz="2400" dirty="0"/>
              <a:t> can be defined as those things that are important to or valued by </a:t>
            </a:r>
            <a:r>
              <a:rPr lang="en-US" sz="2800" b="1" u="sng" dirty="0">
                <a:solidFill>
                  <a:srgbClr val="FF0000"/>
                </a:solidFill>
              </a:rPr>
              <a:t>Someone:  </a:t>
            </a:r>
            <a:r>
              <a:rPr lang="en-US" sz="2400" dirty="0"/>
              <a:t>individual or, collectively, an organization</a:t>
            </a:r>
            <a:r>
              <a:rPr lang="en-US" sz="2800" dirty="0"/>
              <a:t>.</a:t>
            </a:r>
          </a:p>
          <a:p>
            <a:pPr marL="0" indent="0">
              <a:buNone/>
            </a:pPr>
            <a:endParaRPr lang="en-US" sz="2800" dirty="0"/>
          </a:p>
          <a:p>
            <a:pPr marL="0" indent="0">
              <a:buNone/>
            </a:pPr>
            <a:r>
              <a:rPr lang="en-US" sz="2800" dirty="0"/>
              <a:t>VALUES PROVIDE THE BASIS FOR JUDGMENTS ABOUT WHAT IS IMPORTANT FOR THE ORGANIZATION TO SUCCEED IN ITS </a:t>
            </a:r>
            <a:r>
              <a:rPr lang="en-US" sz="2800" u="sng" dirty="0">
                <a:solidFill>
                  <a:srgbClr val="FF0000"/>
                </a:solidFill>
              </a:rPr>
              <a:t>CORE BUSINESS</a:t>
            </a:r>
            <a:r>
              <a:rPr lang="en-US" sz="2800" dirty="0"/>
              <a:t>  (</a:t>
            </a:r>
            <a:r>
              <a:rPr lang="en-US" sz="2800" b="1" dirty="0">
                <a:solidFill>
                  <a:srgbClr val="FF0000"/>
                </a:solidFill>
              </a:rPr>
              <a:t>Vision</a:t>
            </a:r>
            <a:r>
              <a:rPr lang="en-US" sz="2800" dirty="0"/>
              <a:t>)</a:t>
            </a:r>
            <a:endParaRPr lang="en-US" sz="2800" b="1" u="sng" dirty="0">
              <a:solidFill>
                <a:srgbClr val="FF0000"/>
              </a:solidFill>
            </a:endParaRPr>
          </a:p>
          <a:p>
            <a:pPr marL="0" indent="0">
              <a:buNone/>
            </a:pPr>
            <a:endParaRPr lang="en-US" sz="2400" b="1" u="sng" dirty="0"/>
          </a:p>
          <a:p>
            <a:pPr marL="0" indent="0">
              <a:buNone/>
            </a:pPr>
            <a:r>
              <a:rPr lang="en-US" sz="2400" b="1" u="sng" dirty="0"/>
              <a:t>Organizational vision </a:t>
            </a:r>
            <a:r>
              <a:rPr lang="en-US" sz="2400" dirty="0"/>
              <a:t>: must be based on and consistent with the organization's </a:t>
            </a:r>
            <a:r>
              <a:rPr lang="en-US" b="1" dirty="0">
                <a:solidFill>
                  <a:srgbClr val="FF0000"/>
                </a:solidFill>
              </a:rPr>
              <a:t>core values </a:t>
            </a:r>
            <a:r>
              <a:rPr lang="en-US" sz="2400" dirty="0"/>
              <a:t>:  </a:t>
            </a:r>
            <a:r>
              <a:rPr lang="en-US" sz="2400" b="1" dirty="0"/>
              <a:t>integrity, professionalism, caring, teamwork, and stewardship</a:t>
            </a:r>
            <a:r>
              <a:rPr lang="en-US" sz="2400" dirty="0"/>
              <a:t>.</a:t>
            </a:r>
          </a:p>
          <a:p>
            <a:pPr marL="0" indent="0">
              <a:buNone/>
            </a:pPr>
            <a:endParaRPr lang="en-US" sz="2400" dirty="0"/>
          </a:p>
          <a:p>
            <a:pPr marL="0" indent="0">
              <a:buNone/>
            </a:pP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dirty="0"/>
              <a:t>Values v/s Ethics</a:t>
            </a:r>
          </a:p>
        </p:txBody>
      </p:sp>
      <p:sp>
        <p:nvSpPr>
          <p:cNvPr id="3" name="Content Placeholder 2"/>
          <p:cNvSpPr>
            <a:spLocks noGrp="1"/>
          </p:cNvSpPr>
          <p:nvPr>
            <p:ph idx="1"/>
          </p:nvPr>
        </p:nvSpPr>
        <p:spPr>
          <a:xfrm>
            <a:off x="152400" y="762000"/>
            <a:ext cx="8686800" cy="5867400"/>
          </a:xfrm>
        </p:spPr>
        <p:txBody>
          <a:bodyPr>
            <a:noAutofit/>
          </a:bodyPr>
          <a:lstStyle/>
          <a:p>
            <a:pPr marL="0" indent="0">
              <a:buNone/>
            </a:pPr>
            <a:endParaRPr lang="en-US" sz="2400" dirty="0"/>
          </a:p>
          <a:p>
            <a:pPr marL="0" indent="0">
              <a:buNone/>
            </a:pPr>
            <a:r>
              <a:rPr lang="en-US" sz="2400" dirty="0"/>
              <a:t>Values are what we, as a profession, judge to be right." Individually or organizationally, </a:t>
            </a:r>
            <a:r>
              <a:rPr lang="en-US" sz="2400" b="1" dirty="0">
                <a:solidFill>
                  <a:srgbClr val="C00000"/>
                </a:solidFill>
              </a:rPr>
              <a:t>values determine what is right and what is wrong</a:t>
            </a:r>
            <a:r>
              <a:rPr lang="en-US" sz="2400" b="1" dirty="0"/>
              <a:t>, and </a:t>
            </a:r>
            <a:r>
              <a:rPr lang="en-US" sz="2400" b="1" dirty="0">
                <a:solidFill>
                  <a:srgbClr val="C00000"/>
                </a:solidFill>
              </a:rPr>
              <a:t>doing what is right or wrong </a:t>
            </a:r>
            <a:r>
              <a:rPr lang="en-US" sz="2400" b="1" dirty="0"/>
              <a:t>is what we mean by </a:t>
            </a:r>
            <a:r>
              <a:rPr lang="en-US" sz="2400" b="1" dirty="0">
                <a:solidFill>
                  <a:srgbClr val="C00000"/>
                </a:solidFill>
              </a:rPr>
              <a:t>ethics. </a:t>
            </a:r>
          </a:p>
          <a:p>
            <a:pPr marL="0" indent="0">
              <a:buNone/>
            </a:pPr>
            <a:endParaRPr lang="en-US" sz="2400" b="1" dirty="0"/>
          </a:p>
          <a:p>
            <a:pPr marL="0" indent="0">
              <a:buNone/>
            </a:pPr>
            <a:r>
              <a:rPr lang="en-US" sz="2400" b="1" dirty="0"/>
              <a:t>To behave ethically is to behave in a manner consistent with what is right or moral</a:t>
            </a:r>
            <a:r>
              <a:rPr lang="en-US" sz="2400" dirty="0"/>
              <a:t>.</a:t>
            </a:r>
          </a:p>
          <a:p>
            <a:pPr marL="0" indent="0">
              <a:buNone/>
            </a:pPr>
            <a:endParaRPr lang="en-US" sz="2400" dirty="0"/>
          </a:p>
          <a:p>
            <a:pPr marL="0" indent="0">
              <a:buNone/>
            </a:pPr>
            <a:r>
              <a:rPr lang="en-US" sz="2400" b="1" dirty="0"/>
              <a:t>Who decides what is Right, what is wrong?</a:t>
            </a:r>
          </a:p>
          <a:p>
            <a:pPr marL="0" indent="0">
              <a:buNone/>
            </a:pPr>
            <a:r>
              <a:rPr lang="en-US" sz="2400" b="1" dirty="0">
                <a:solidFill>
                  <a:srgbClr val="FF0000"/>
                </a:solidFill>
              </a:rPr>
              <a:t>Society</a:t>
            </a:r>
          </a:p>
          <a:p>
            <a:pPr marL="0" indent="0">
              <a:buNone/>
            </a:pPr>
            <a:endParaRPr lang="en-US" sz="2400" dirty="0"/>
          </a:p>
          <a:p>
            <a:pPr marL="0" indent="0">
              <a:buNone/>
            </a:pP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2770" name="Picture 2" descr="&lt;ul&gt;&lt;li&gt;Laws and moral standards overlap to a certain extent &lt;/li&gt;&lt;/ul&gt;&lt;ul&gt;&lt;li&gt;Law represents a minimum set of standards f..."/>
          <p:cNvPicPr>
            <a:picLocks noChangeAspect="1" noChangeArrowheads="1"/>
          </p:cNvPicPr>
          <p:nvPr/>
        </p:nvPicPr>
        <p:blipFill>
          <a:blip r:embed="rId2" cstate="print"/>
          <a:srcRect/>
          <a:stretch>
            <a:fillRect/>
          </a:stretch>
        </p:blipFill>
        <p:spPr bwMode="auto">
          <a:xfrm>
            <a:off x="0" y="1"/>
            <a:ext cx="9144000" cy="68580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229600" cy="6354763"/>
          </a:xfrm>
        </p:spPr>
        <p:txBody>
          <a:bodyPr/>
          <a:lstStyle/>
          <a:p>
            <a:endParaRPr lang="en-US" dirty="0"/>
          </a:p>
          <a:p>
            <a:pPr algn="ctr">
              <a:buNone/>
            </a:pPr>
            <a:r>
              <a:rPr lang="en-US" sz="4400" dirty="0"/>
              <a:t>Ethics and law</a:t>
            </a:r>
          </a:p>
          <a:p>
            <a:r>
              <a:rPr lang="en-US" sz="2800" dirty="0"/>
              <a:t>Law is Reactive.</a:t>
            </a:r>
          </a:p>
          <a:p>
            <a:pPr>
              <a:buNone/>
            </a:pPr>
            <a:endParaRPr lang="en-US" sz="2800" dirty="0"/>
          </a:p>
          <a:p>
            <a:r>
              <a:rPr lang="en-US" sz="2800" dirty="0"/>
              <a:t>Law is often slow to develop  in new areas of concern.</a:t>
            </a:r>
          </a:p>
          <a:p>
            <a:pPr marL="0" indent="0">
              <a:buNone/>
            </a:pPr>
            <a:endParaRPr lang="en-US" sz="2800" dirty="0"/>
          </a:p>
          <a:p>
            <a:pPr marL="341313" indent="-341313"/>
            <a:r>
              <a:rPr lang="en-US" sz="2800" dirty="0"/>
              <a:t>Legislative and judicial process takes a long time and  meanwhile much damage can be done.</a:t>
            </a:r>
          </a:p>
          <a:p>
            <a:pPr marL="341313" indent="-341313"/>
            <a:r>
              <a:rPr lang="en-US" sz="2800" dirty="0"/>
              <a:t>Law may deviates from what is ethical</a:t>
            </a:r>
          </a:p>
          <a:p>
            <a:pPr marL="341313" indent="-341313"/>
            <a:r>
              <a:rPr lang="en-US" sz="2000" dirty="0">
                <a:solidFill>
                  <a:srgbClr val="FF0000"/>
                </a:solidFill>
              </a:rPr>
              <a:t>Soldier </a:t>
            </a:r>
            <a:r>
              <a:rPr lang="en-US" sz="2000" dirty="0" err="1">
                <a:solidFill>
                  <a:srgbClr val="FF0000"/>
                </a:solidFill>
              </a:rPr>
              <a:t>burried</a:t>
            </a:r>
            <a:endParaRPr lang="en-US" sz="2000" dirty="0">
              <a:solidFill>
                <a:srgbClr val="FF0000"/>
              </a:solidFill>
            </a:endParaRPr>
          </a:p>
          <a:p>
            <a:pPr marL="341313" indent="-341313"/>
            <a:r>
              <a:rPr lang="en-US" sz="2800" dirty="0" err="1">
                <a:solidFill>
                  <a:srgbClr val="FF0000"/>
                </a:solidFill>
              </a:rPr>
              <a:t>Eg</a:t>
            </a:r>
            <a:r>
              <a:rPr lang="en-US" sz="2800" dirty="0">
                <a:solidFill>
                  <a:srgbClr val="FF0000"/>
                </a:solidFill>
              </a:rPr>
              <a:t>. Child world versus Toys “R” Us</a:t>
            </a:r>
          </a:p>
          <a:p>
            <a:pPr algn="ctr">
              <a:buNone/>
            </a:pPr>
            <a:endParaRPr lang="en-US" sz="4400" dirty="0"/>
          </a:p>
        </p:txBody>
      </p:sp>
      <p:sp>
        <p:nvSpPr>
          <p:cNvPr id="4" name="Rectangle 3"/>
          <p:cNvSpPr/>
          <p:nvPr/>
        </p:nvSpPr>
        <p:spPr>
          <a:xfrm>
            <a:off x="381000" y="5562600"/>
            <a:ext cx="5257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fontScale="90000"/>
          </a:bodyPr>
          <a:lstStyle/>
          <a:p>
            <a:br>
              <a:rPr lang="en-US" sz="2800" b="1" dirty="0"/>
            </a:br>
            <a:r>
              <a:rPr lang="en-US" sz="2800" b="1" dirty="0"/>
              <a:t>Indian woman dies after being refused abortion</a:t>
            </a:r>
            <a:br>
              <a:rPr lang="en-US" sz="2800" b="1" dirty="0"/>
            </a:br>
            <a:endParaRPr lang="en-US" sz="2800" dirty="0"/>
          </a:p>
        </p:txBody>
      </p:sp>
      <p:pic>
        <p:nvPicPr>
          <p:cNvPr id="2050" name="Picture 2" descr="Savita Halappanavar. Photo: The Irish Times"/>
          <p:cNvPicPr>
            <a:picLocks noChangeAspect="1" noChangeArrowheads="1"/>
          </p:cNvPicPr>
          <p:nvPr/>
        </p:nvPicPr>
        <p:blipFill>
          <a:blip r:embed="rId2" cstate="print"/>
          <a:srcRect/>
          <a:stretch>
            <a:fillRect/>
          </a:stretch>
        </p:blipFill>
        <p:spPr bwMode="auto">
          <a:xfrm>
            <a:off x="0" y="1447800"/>
            <a:ext cx="3810000" cy="4572000"/>
          </a:xfrm>
          <a:prstGeom prst="rect">
            <a:avLst/>
          </a:prstGeom>
          <a:noFill/>
        </p:spPr>
      </p:pic>
      <p:sp>
        <p:nvSpPr>
          <p:cNvPr id="5" name="Rectangle 4"/>
          <p:cNvSpPr/>
          <p:nvPr/>
        </p:nvSpPr>
        <p:spPr>
          <a:xfrm>
            <a:off x="4191000" y="1295400"/>
            <a:ext cx="4572000" cy="4893647"/>
          </a:xfrm>
          <a:prstGeom prst="rect">
            <a:avLst/>
          </a:prstGeom>
        </p:spPr>
        <p:txBody>
          <a:bodyPr wrap="square">
            <a:spAutoFit/>
          </a:bodyPr>
          <a:lstStyle/>
          <a:p>
            <a:r>
              <a:rPr lang="en-US" sz="2400" b="1" dirty="0"/>
              <a:t>Savita Halappanavar’s death has renewed calls for Irish law to be modified to allow termination if mother’s life is at risk</a:t>
            </a:r>
          </a:p>
          <a:p>
            <a:r>
              <a:rPr lang="en-US" sz="2400" dirty="0"/>
              <a:t>A woman of Indian origin has died after doctors in Ireland refused to perform an abortion, telling her that “this is a Catholic country”, sparking widespread outrage and renewed calls for immediate reforms to the Irish law to allow termination if the life of the mother is at risk.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3794" name="Picture 2" descr="Why ethical behavior is important??? &lt;ul&gt;&lt;li&gt;Business is a subsystem of society &lt;/li&gt;&lt;/ul&gt;&lt;ul&gt;&lt;li&gt;Empowers all stakeholder..."/>
          <p:cNvPicPr>
            <a:picLocks noChangeAspect="1" noChangeArrowheads="1"/>
          </p:cNvPicPr>
          <p:nvPr/>
        </p:nvPicPr>
        <p:blipFill>
          <a:blip r:embed="rId2" cstate="print"/>
          <a:srcRect/>
          <a:stretch>
            <a:fillRect/>
          </a:stretch>
        </p:blipFill>
        <p:spPr bwMode="auto">
          <a:xfrm>
            <a:off x="0" y="1"/>
            <a:ext cx="9144000" cy="68580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Wells Fargo Banking Scandal</a:t>
            </a:r>
            <a:br>
              <a:rPr lang="en-US" dirty="0"/>
            </a:br>
            <a:endParaRPr lang="en-US" dirty="0"/>
          </a:p>
        </p:txBody>
      </p:sp>
      <p:sp>
        <p:nvSpPr>
          <p:cNvPr id="4" name="Rectangle 3"/>
          <p:cNvSpPr/>
          <p:nvPr/>
        </p:nvSpPr>
        <p:spPr>
          <a:xfrm>
            <a:off x="152400" y="1143000"/>
            <a:ext cx="9067800" cy="6063198"/>
          </a:xfrm>
          <a:prstGeom prst="rect">
            <a:avLst/>
          </a:prstGeom>
        </p:spPr>
        <p:txBody>
          <a:bodyPr wrap="square">
            <a:spAutoFit/>
          </a:bodyPr>
          <a:lstStyle/>
          <a:p>
            <a:r>
              <a:rPr lang="en-US" sz="2400" dirty="0">
                <a:solidFill>
                  <a:srgbClr val="212529"/>
                </a:solidFill>
                <a:latin typeface="Trade Gothic Next W01"/>
              </a:rPr>
              <a:t>Wells Fargo was the darling of the banking industry, with some of the highest returns on equity in the sector and a soaring stock price. Top management touted the company’s lead in “cross-selling”: the sale of additional products to existing customers. “Eight is great,” as in eight Wells Fargo products for every customer, was CEO John </a:t>
            </a:r>
            <a:r>
              <a:rPr lang="en-US" sz="2400" dirty="0" err="1">
                <a:solidFill>
                  <a:srgbClr val="212529"/>
                </a:solidFill>
                <a:latin typeface="Trade Gothic Next W01"/>
              </a:rPr>
              <a:t>Stumpf’s</a:t>
            </a:r>
            <a:r>
              <a:rPr lang="en-US" sz="2400" dirty="0">
                <a:solidFill>
                  <a:srgbClr val="212529"/>
                </a:solidFill>
                <a:latin typeface="Trade Gothic Next W01"/>
              </a:rPr>
              <a:t> mantra.</a:t>
            </a:r>
          </a:p>
          <a:p>
            <a:endParaRPr lang="en-US" sz="2400" dirty="0">
              <a:solidFill>
                <a:srgbClr val="212529"/>
              </a:solidFill>
              <a:latin typeface="Trade Gothic Next W01"/>
            </a:endParaRPr>
          </a:p>
          <a:p>
            <a:r>
              <a:rPr lang="en-US" sz="2800" dirty="0"/>
              <a:t>In September 2016, Wells Fargo announced that it was paying $185 million in fines for the creation of over 2 million unauthorized customer accounts.  It soon came to light that the pressure on employees to hit sales quotas was immense: hourly tracking, pressure from supervisors to engage in unethical behavior, and a compensation system based heavily on bonuses.</a:t>
            </a:r>
          </a:p>
          <a:p>
            <a:endParaRPr lang="en-US" sz="2400" dirty="0">
              <a:solidFill>
                <a:srgbClr val="212529"/>
              </a:solidFill>
              <a:latin typeface="Trade Gothic Next W01"/>
            </a:endParaRPr>
          </a:p>
        </p:txBody>
      </p:sp>
    </p:spTree>
    <p:extLst>
      <p:ext uri="{BB962C8B-B14F-4D97-AF65-F5344CB8AC3E}">
        <p14:creationId xmlns:p14="http://schemas.microsoft.com/office/powerpoint/2010/main" val="1380426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3276599"/>
          </a:xfrm>
        </p:spPr>
        <p:txBody>
          <a:bodyPr>
            <a:normAutofit fontScale="85000" lnSpcReduction="20000"/>
          </a:bodyPr>
          <a:lstStyle/>
          <a:p>
            <a:pPr marL="0" indent="0">
              <a:buNone/>
            </a:pPr>
            <a:r>
              <a:rPr lang="en-US" sz="3300" dirty="0"/>
              <a:t>Wells Fargo also confirmed that it had fired over 5,300 employees over the past few years related to shady sales practices. CEO John </a:t>
            </a:r>
            <a:r>
              <a:rPr lang="en-US" sz="3300" dirty="0" err="1"/>
              <a:t>Stumpf</a:t>
            </a:r>
            <a:r>
              <a:rPr lang="en-US" sz="3300" dirty="0"/>
              <a:t> claimed that the scandal was the result of a few bad apples who did not honor the company’s values and that there were no incentives to commit unethical behavior. The board initially stood behind the CEO but soon after received his resignation and “clawed back” millions of dollars in his compensation.</a:t>
            </a:r>
          </a:p>
          <a:p>
            <a:pPr marL="0" indent="0">
              <a:buNone/>
            </a:pPr>
            <a:endParaRPr lang="en-US" dirty="0"/>
          </a:p>
        </p:txBody>
      </p:sp>
      <p:sp>
        <p:nvSpPr>
          <p:cNvPr id="4" name="Rectangle 3"/>
          <p:cNvSpPr/>
          <p:nvPr/>
        </p:nvSpPr>
        <p:spPr>
          <a:xfrm>
            <a:off x="381000" y="3680790"/>
            <a:ext cx="8229600" cy="2677656"/>
          </a:xfrm>
          <a:prstGeom prst="rect">
            <a:avLst/>
          </a:prstGeom>
        </p:spPr>
        <p:txBody>
          <a:bodyPr wrap="square">
            <a:spAutoFit/>
          </a:bodyPr>
          <a:lstStyle/>
          <a:p>
            <a:r>
              <a:rPr lang="en-US" sz="2400" dirty="0">
                <a:solidFill>
                  <a:srgbClr val="212529"/>
                </a:solidFill>
                <a:latin typeface="Trade Gothic Next W01"/>
              </a:rPr>
              <a:t>Further reporting found more troubling information. Many employees had quit under the immense pressure to engage in unethical sales practices, and some were even fired for reporting misconduct through the company’s ethics hotline. Senior leadership was aware of these aggressive sales practices as far back as 2004, with incidents as far back as 2002 identified.</a:t>
            </a:r>
            <a:endParaRPr lang="en-US" sz="2400" dirty="0"/>
          </a:p>
        </p:txBody>
      </p:sp>
    </p:spTree>
    <p:extLst>
      <p:ext uri="{BB962C8B-B14F-4D97-AF65-F5344CB8AC3E}">
        <p14:creationId xmlns:p14="http://schemas.microsoft.com/office/powerpoint/2010/main" val="2023149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4525963"/>
          </a:xfrm>
        </p:spPr>
        <p:txBody>
          <a:bodyPr>
            <a:normAutofit fontScale="92500" lnSpcReduction="10000"/>
          </a:bodyPr>
          <a:lstStyle/>
          <a:p>
            <a:pPr marL="0" indent="0">
              <a:buNone/>
            </a:pPr>
            <a:r>
              <a:rPr lang="en-US" dirty="0"/>
              <a:t>The Board of Directors commissioned an independent investigation that identified cultural, structural, and leadership issues as root causes of the improper sales practices. The report cites: the wayward sales culture and performance management system; the decentralized corporate structure that gave too much autonomy to the division’s leaders; and the unwillingness of leadership to evaluate the sales model, given its longtime success for the company.</a:t>
            </a:r>
          </a:p>
          <a:p>
            <a:pPr marL="0" indent="0">
              <a:buNone/>
            </a:pPr>
            <a:endParaRPr lang="en-US" dirty="0"/>
          </a:p>
          <a:p>
            <a:pPr marL="0" indent="0">
              <a:buNone/>
            </a:pPr>
            <a:endParaRPr lang="en-US" dirty="0"/>
          </a:p>
        </p:txBody>
      </p:sp>
      <p:sp>
        <p:nvSpPr>
          <p:cNvPr id="4" name="Rectangle 3"/>
          <p:cNvSpPr/>
          <p:nvPr/>
        </p:nvSpPr>
        <p:spPr>
          <a:xfrm>
            <a:off x="609600" y="4754563"/>
            <a:ext cx="7848600" cy="1938992"/>
          </a:xfrm>
          <a:prstGeom prst="rect">
            <a:avLst/>
          </a:prstGeom>
        </p:spPr>
        <p:txBody>
          <a:bodyPr wrap="square">
            <a:spAutoFit/>
          </a:bodyPr>
          <a:lstStyle/>
          <a:p>
            <a:r>
              <a:rPr lang="en-US" sz="2400" dirty="0">
                <a:solidFill>
                  <a:srgbClr val="212529"/>
                </a:solidFill>
                <a:latin typeface="Trade Gothic W01 Bold_2"/>
              </a:rPr>
              <a:t>Questions</a:t>
            </a:r>
          </a:p>
          <a:p>
            <a:pPr>
              <a:buFont typeface="+mj-lt"/>
              <a:buAutoNum type="arabicPeriod"/>
            </a:pPr>
            <a:r>
              <a:rPr lang="en-US" sz="2400" dirty="0">
                <a:solidFill>
                  <a:srgbClr val="212529"/>
                </a:solidFill>
                <a:latin typeface="Trade Gothic Next W01"/>
              </a:rPr>
              <a:t>What should business leaders take away from this scandal?</a:t>
            </a:r>
          </a:p>
          <a:p>
            <a:pPr>
              <a:buFont typeface="+mj-lt"/>
              <a:buAutoNum type="arabicPeriod"/>
            </a:pPr>
            <a:r>
              <a:rPr lang="en-US" sz="2400" dirty="0">
                <a:solidFill>
                  <a:srgbClr val="212529"/>
                </a:solidFill>
                <a:latin typeface="Trade Gothic Next W01"/>
              </a:rPr>
              <a:t>What could Wells Fargo have done differently to avert this cultural meltdown?</a:t>
            </a:r>
            <a:endParaRPr lang="en-US" sz="2400" b="0" i="0" dirty="0">
              <a:solidFill>
                <a:srgbClr val="212529"/>
              </a:solidFill>
              <a:effectLst/>
              <a:latin typeface="Trade Gothic Next W01"/>
            </a:endParaRPr>
          </a:p>
        </p:txBody>
      </p:sp>
    </p:spTree>
    <p:extLst>
      <p:ext uri="{BB962C8B-B14F-4D97-AF65-F5344CB8AC3E}">
        <p14:creationId xmlns:p14="http://schemas.microsoft.com/office/powerpoint/2010/main" val="2429351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5842" name="Picture 2" descr="Encouraging Ethical Conduct &lt;ul&gt;&lt;li&gt;Ethics Training &lt;/li&gt;&lt;/ul&gt;&lt;ul&gt;&lt;ul&gt;&lt;li&gt;Key features of effective ethics training progra..."/>
          <p:cNvPicPr>
            <a:picLocks noChangeAspect="1" noChangeArrowheads="1"/>
          </p:cNvPicPr>
          <p:nvPr/>
        </p:nvPicPr>
        <p:blipFill>
          <a:blip r:embed="rId2" cstate="print"/>
          <a:srcRect/>
          <a:stretch>
            <a:fillRect/>
          </a:stretch>
        </p:blipFill>
        <p:spPr bwMode="auto">
          <a:xfrm>
            <a:off x="0" y="1"/>
            <a:ext cx="9144000" cy="68580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6866" name="Picture 2" descr="Encouraging Ethical Conduct  (cont’d &lt;ul&gt;&lt;li&gt;Whistle-Blowing &lt;/li&gt;&lt;/ul&gt;&lt;ul&gt;&lt;ul&gt;&lt;li&gt;The reporting of perceived unethical ma..."/>
          <p:cNvPicPr>
            <a:picLocks noChangeAspect="1" noChangeArrowheads="1"/>
          </p:cNvPicPr>
          <p:nvPr/>
        </p:nvPicPr>
        <p:blipFill>
          <a:blip r:embed="rId2" cstate="print"/>
          <a:srcRect/>
          <a:stretch>
            <a:fillRect/>
          </a:stretch>
        </p:blipFill>
        <p:spPr bwMode="auto">
          <a:xfrm>
            <a:off x="0" y="1"/>
            <a:ext cx="9144000" cy="68580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7890" name="Picture 2" descr="Encouraging Ethical Conduct  (cont’d) &lt;ul&gt;&lt;li&gt;Code of Ethics &lt;/li&gt;&lt;/ul&gt;&lt;ul&gt;&lt;ul&gt;&lt;li&gt;Published statement of moral expectatio..."/>
          <p:cNvPicPr>
            <a:picLocks noChangeAspect="1" noChangeArrowheads="1"/>
          </p:cNvPicPr>
          <p:nvPr/>
        </p:nvPicPr>
        <p:blipFill>
          <a:blip r:embed="rId2" cstate="print"/>
          <a:srcRect/>
          <a:stretch>
            <a:fillRect/>
          </a:stretch>
        </p:blipFill>
        <p:spPr bwMode="auto">
          <a:xfrm>
            <a:off x="0" y="1"/>
            <a:ext cx="9144000" cy="68580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2887" y="1295400"/>
            <a:ext cx="9067800" cy="5324535"/>
          </a:xfrm>
          <a:prstGeom prst="rect">
            <a:avLst/>
          </a:prstGeom>
        </p:spPr>
        <p:txBody>
          <a:bodyPr wrap="square">
            <a:spAutoFit/>
          </a:bodyPr>
          <a:lstStyle/>
          <a:p>
            <a:r>
              <a:rPr lang="en-US" sz="2000" dirty="0">
                <a:solidFill>
                  <a:srgbClr val="212529"/>
                </a:solidFill>
                <a:latin typeface="Trade Gothic Next W01"/>
              </a:rPr>
              <a:t>Jack O'Reilly, appointed president of the newly-acquired Philippine subsidiary of a large American company, was reviewing the organization with the company's head of human resources. </a:t>
            </a:r>
          </a:p>
          <a:p>
            <a:r>
              <a:rPr lang="en-US" sz="2000" dirty="0">
                <a:solidFill>
                  <a:srgbClr val="212529"/>
                </a:solidFill>
                <a:latin typeface="Trade Gothic Next W01"/>
              </a:rPr>
              <a:t>One thing Jack noted was that the same names reoccurred frequently in several departments. </a:t>
            </a:r>
          </a:p>
          <a:p>
            <a:endParaRPr lang="en-US" sz="2000" dirty="0">
              <a:solidFill>
                <a:srgbClr val="212529"/>
              </a:solidFill>
              <a:latin typeface="Trade Gothic Next W01"/>
            </a:endParaRPr>
          </a:p>
          <a:p>
            <a:r>
              <a:rPr lang="en-US" sz="2000" dirty="0">
                <a:solidFill>
                  <a:srgbClr val="212529"/>
                </a:solidFill>
                <a:latin typeface="Trade Gothic Next W01"/>
              </a:rPr>
              <a:t>"It is our tradition," commented the HR head. "Families take care of their own. If one family member gets a good job in a Philippine company, other members of the family apply to join that company and the first member there can help the whole family become successful by helping them get hired and by coaching them to be successful. The company benefits: Our costs of recruiting are lower, we know more about the people we hire, and the commitment to family success results in fewer performance and discipline problems because family members want to please their older relatives.“</a:t>
            </a:r>
          </a:p>
          <a:p>
            <a:endParaRPr lang="en-US" sz="2000" dirty="0">
              <a:solidFill>
                <a:srgbClr val="212529"/>
              </a:solidFill>
              <a:latin typeface="Trade Gothic Next W01"/>
            </a:endParaRPr>
          </a:p>
          <a:p>
            <a:r>
              <a:rPr lang="en-US" sz="2000" dirty="0">
                <a:solidFill>
                  <a:srgbClr val="212529"/>
                </a:solidFill>
                <a:latin typeface="Trade Gothic Next W01"/>
              </a:rPr>
              <a:t>Jack O'Reilly wondered how these practices would be regarded in a large American firm, and whether or not he should take action to change them.</a:t>
            </a:r>
            <a:endParaRPr lang="en-US" sz="2000" b="0" i="0" dirty="0">
              <a:solidFill>
                <a:srgbClr val="212529"/>
              </a:solidFill>
              <a:effectLst/>
              <a:latin typeface="Trade Gothic Next W01"/>
            </a:endParaRPr>
          </a:p>
        </p:txBody>
      </p:sp>
      <p:sp>
        <p:nvSpPr>
          <p:cNvPr id="5" name="Rectangle 4"/>
          <p:cNvSpPr/>
          <p:nvPr/>
        </p:nvSpPr>
        <p:spPr>
          <a:xfrm>
            <a:off x="1295400" y="304800"/>
            <a:ext cx="7162800" cy="6096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rgbClr val="FF0000"/>
                </a:solidFill>
              </a:rPr>
              <a:t>Family Loyalty vs. Meritocracy</a:t>
            </a:r>
          </a:p>
        </p:txBody>
      </p:sp>
    </p:spTree>
    <p:extLst>
      <p:ext uri="{BB962C8B-B14F-4D97-AF65-F5344CB8AC3E}">
        <p14:creationId xmlns:p14="http://schemas.microsoft.com/office/powerpoint/2010/main" val="15518352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Group Activity</a:t>
            </a:r>
          </a:p>
        </p:txBody>
      </p:sp>
      <p:sp>
        <p:nvSpPr>
          <p:cNvPr id="3" name="Content Placeholder 2"/>
          <p:cNvSpPr>
            <a:spLocks noGrp="1"/>
          </p:cNvSpPr>
          <p:nvPr>
            <p:ph idx="1"/>
          </p:nvPr>
        </p:nvSpPr>
        <p:spPr>
          <a:xfrm>
            <a:off x="457200" y="1143000"/>
            <a:ext cx="8229600" cy="5486400"/>
          </a:xfrm>
        </p:spPr>
        <p:txBody>
          <a:bodyPr>
            <a:normAutofit fontScale="77500" lnSpcReduction="20000"/>
          </a:bodyPr>
          <a:lstStyle/>
          <a:p>
            <a:pPr marL="0" indent="0">
              <a:buNone/>
            </a:pPr>
            <a:endParaRPr lang="en-US" dirty="0"/>
          </a:p>
          <a:p>
            <a:pPr marL="0" indent="0">
              <a:buNone/>
            </a:pPr>
            <a:r>
              <a:rPr lang="en-US" dirty="0"/>
              <a:t>Assuming yourself as an entrepreneur, after 2 years of establishment you find lot of unethical practices in your organization like:</a:t>
            </a:r>
          </a:p>
          <a:p>
            <a:pPr marL="0" indent="0">
              <a:buNone/>
            </a:pPr>
            <a:endParaRPr lang="en-US" dirty="0"/>
          </a:p>
          <a:p>
            <a:r>
              <a:rPr lang="en-US" dirty="0"/>
              <a:t>Employees taking away stationeries</a:t>
            </a:r>
          </a:p>
          <a:p>
            <a:r>
              <a:rPr lang="en-US" dirty="0"/>
              <a:t>Problem in accounts</a:t>
            </a:r>
          </a:p>
          <a:p>
            <a:r>
              <a:rPr lang="en-US" dirty="0"/>
              <a:t>Using office phone for long hour talks</a:t>
            </a:r>
          </a:p>
          <a:p>
            <a:r>
              <a:rPr lang="en-US" dirty="0"/>
              <a:t>Extended tea and lunch breaks</a:t>
            </a:r>
          </a:p>
          <a:p>
            <a:endParaRPr lang="en-US" dirty="0"/>
          </a:p>
          <a:p>
            <a:pPr marL="0" indent="0">
              <a:buNone/>
            </a:pPr>
            <a:r>
              <a:rPr lang="en-US" dirty="0"/>
              <a:t>When you object people find it more intervening and some place their resignations as well.</a:t>
            </a:r>
          </a:p>
          <a:p>
            <a:pPr marL="0" indent="0">
              <a:buNone/>
            </a:pPr>
            <a:endParaRPr lang="en-US" dirty="0"/>
          </a:p>
          <a:p>
            <a:pPr>
              <a:buNone/>
            </a:pPr>
            <a:r>
              <a:rPr lang="en-US" dirty="0"/>
              <a:t>How would you tackle this issue.</a:t>
            </a:r>
          </a:p>
          <a:p>
            <a:pPr>
              <a:buNone/>
            </a:pPr>
            <a:endParaRPr lang="en-US" dirty="0"/>
          </a:p>
          <a:p>
            <a:pPr>
              <a:buNone/>
            </a:pPr>
            <a:endParaRPr lang="en-US"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dirty="0"/>
              <a:t>Indian Concept of Ethics</a:t>
            </a:r>
          </a:p>
        </p:txBody>
      </p:sp>
      <p:sp>
        <p:nvSpPr>
          <p:cNvPr id="3" name="Content Placeholder 2"/>
          <p:cNvSpPr>
            <a:spLocks noGrp="1"/>
          </p:cNvSpPr>
          <p:nvPr>
            <p:ph idx="1"/>
          </p:nvPr>
        </p:nvSpPr>
        <p:spPr>
          <a:xfrm>
            <a:off x="228600" y="914400"/>
            <a:ext cx="8686800" cy="5638800"/>
          </a:xfrm>
        </p:spPr>
        <p:txBody>
          <a:bodyPr>
            <a:normAutofit lnSpcReduction="10000"/>
          </a:bodyPr>
          <a:lstStyle/>
          <a:p>
            <a:r>
              <a:rPr lang="en-US" dirty="0"/>
              <a:t>Holistic view of life: Balanced approach to the material and spiritual development of individuals and society.</a:t>
            </a:r>
          </a:p>
          <a:p>
            <a:r>
              <a:rPr lang="en-US" dirty="0"/>
              <a:t>Spirit of capital or </a:t>
            </a:r>
            <a:r>
              <a:rPr lang="en-US" dirty="0" err="1"/>
              <a:t>artha</a:t>
            </a:r>
            <a:r>
              <a:rPr lang="en-US" dirty="0"/>
              <a:t> is not neglected but driven by Dharma/ethics.</a:t>
            </a:r>
          </a:p>
          <a:p>
            <a:r>
              <a:rPr lang="en-US" dirty="0"/>
              <a:t>Theory of Purushartha:holistic perspective of balancing the  four objects of life: .</a:t>
            </a:r>
          </a:p>
          <a:p>
            <a:r>
              <a:rPr lang="en-US" dirty="0"/>
              <a:t>Dharma </a:t>
            </a:r>
          </a:p>
          <a:p>
            <a:r>
              <a:rPr lang="en-US" dirty="0" err="1"/>
              <a:t>Artha</a:t>
            </a:r>
            <a:r>
              <a:rPr lang="en-US" dirty="0"/>
              <a:t> </a:t>
            </a:r>
          </a:p>
          <a:p>
            <a:r>
              <a:rPr lang="en-US" dirty="0" err="1"/>
              <a:t>kama</a:t>
            </a:r>
            <a:r>
              <a:rPr lang="en-US" dirty="0"/>
              <a:t>,</a:t>
            </a:r>
          </a:p>
          <a:p>
            <a:r>
              <a:rPr lang="en-US" dirty="0" err="1"/>
              <a:t>Moksha</a:t>
            </a:r>
            <a:endParaRPr lang="en-US" dirty="0"/>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10600" cy="6324600"/>
          </a:xfrm>
        </p:spPr>
        <p:txBody>
          <a:bodyPr>
            <a:normAutofit fontScale="92500" lnSpcReduction="20000"/>
          </a:bodyPr>
          <a:lstStyle/>
          <a:p>
            <a:endParaRPr lang="en-US" dirty="0"/>
          </a:p>
          <a:p>
            <a:pPr>
              <a:buNone/>
            </a:pPr>
            <a:r>
              <a:rPr lang="en-US" dirty="0"/>
              <a:t>Theory of </a:t>
            </a:r>
            <a:r>
              <a:rPr lang="en-US" dirty="0" err="1"/>
              <a:t>Gunas</a:t>
            </a:r>
            <a:endParaRPr lang="en-US" dirty="0"/>
          </a:p>
          <a:p>
            <a:pPr>
              <a:buNone/>
            </a:pPr>
            <a:endParaRPr lang="en-US" dirty="0"/>
          </a:p>
          <a:p>
            <a:r>
              <a:rPr lang="en-US" dirty="0"/>
              <a:t>Tamasik: selfish</a:t>
            </a:r>
          </a:p>
          <a:p>
            <a:r>
              <a:rPr lang="en-US" dirty="0"/>
              <a:t>Rajasik: Enlightened Self Interest</a:t>
            </a:r>
          </a:p>
          <a:p>
            <a:r>
              <a:rPr lang="en-US" dirty="0" err="1"/>
              <a:t>Saatvik</a:t>
            </a:r>
            <a:r>
              <a:rPr lang="en-US" dirty="0"/>
              <a:t>: Enlightened Collective interest</a:t>
            </a:r>
          </a:p>
          <a:p>
            <a:endParaRPr lang="en-US" dirty="0"/>
          </a:p>
          <a:p>
            <a:endParaRPr lang="en-US" sz="1800" dirty="0">
              <a:hlinkClick r:id="rId2"/>
            </a:endParaRPr>
          </a:p>
          <a:p>
            <a:endParaRPr lang="en-US" sz="1800" dirty="0">
              <a:hlinkClick r:id="rId2"/>
            </a:endParaRPr>
          </a:p>
          <a:p>
            <a:endParaRPr lang="en-US" sz="1800" dirty="0">
              <a:hlinkClick r:id="rId2"/>
            </a:endParaRPr>
          </a:p>
          <a:p>
            <a:endParaRPr lang="en-US" sz="1800" dirty="0">
              <a:hlinkClick r:id="rId2"/>
            </a:endParaRPr>
          </a:p>
          <a:p>
            <a:endParaRPr lang="en-US" sz="1800" dirty="0">
              <a:hlinkClick r:id="rId2"/>
            </a:endParaRPr>
          </a:p>
          <a:p>
            <a:endParaRPr lang="en-US" sz="1800" dirty="0">
              <a:hlinkClick r:id="rId2"/>
            </a:endParaRPr>
          </a:p>
          <a:p>
            <a:endParaRPr lang="en-US" sz="1800" dirty="0">
              <a:hlinkClick r:id="rId2"/>
            </a:endParaRPr>
          </a:p>
          <a:p>
            <a:endParaRPr lang="en-US" sz="1800" dirty="0">
              <a:hlinkClick r:id="rId2"/>
            </a:endParaRPr>
          </a:p>
          <a:p>
            <a:endParaRPr lang="en-US" sz="1800" dirty="0">
              <a:hlinkClick r:id="rId2"/>
            </a:endParaRPr>
          </a:p>
          <a:p>
            <a:endParaRPr lang="en-US" sz="1800" dirty="0">
              <a:hlinkClick r:id="rId2"/>
            </a:endParaRPr>
          </a:p>
          <a:p>
            <a:endParaRPr lang="en-US" sz="1800" dirty="0">
              <a:hlinkClick r:id="rId2"/>
            </a:endParaRPr>
          </a:p>
          <a:p>
            <a:r>
              <a:rPr lang="en-US" sz="1800" dirty="0">
                <a:hlinkClick r:id="rId2"/>
              </a:rPr>
              <a:t>http://www.au.af.mil/au/awc/awcgate/ndu/strat-ldr-dm/pt4ch15.html</a:t>
            </a:r>
            <a:endParaRPr lang="en-US" sz="1800" dirty="0"/>
          </a:p>
          <a:p>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372600" cy="838200"/>
          </a:xfrm>
        </p:spPr>
        <p:txBody>
          <a:bodyPr>
            <a:normAutofit/>
          </a:bodyPr>
          <a:lstStyle/>
          <a:p>
            <a:r>
              <a:rPr lang="en-US" sz="3600" b="1" dirty="0"/>
              <a:t> Child world v/s Toys “R” Us</a:t>
            </a:r>
          </a:p>
        </p:txBody>
      </p:sp>
      <p:sp>
        <p:nvSpPr>
          <p:cNvPr id="3" name="Content Placeholder 2"/>
          <p:cNvSpPr>
            <a:spLocks noGrp="1"/>
          </p:cNvSpPr>
          <p:nvPr>
            <p:ph idx="1"/>
          </p:nvPr>
        </p:nvSpPr>
        <p:spPr>
          <a:xfrm>
            <a:off x="3886200" y="990600"/>
            <a:ext cx="5257800" cy="2743200"/>
          </a:xfrm>
        </p:spPr>
        <p:txBody>
          <a:bodyPr>
            <a:normAutofit fontScale="70000" lnSpcReduction="20000"/>
          </a:bodyPr>
          <a:lstStyle/>
          <a:p>
            <a:r>
              <a:rPr lang="en-US" sz="2800" dirty="0"/>
              <a:t>Toys “R” Us employees allegedly bought Child world Inventory off the shelves during a promotion in which customers receives $25 gift certificates for buying merchandise worth $ 100.</a:t>
            </a:r>
          </a:p>
          <a:p>
            <a:endParaRPr lang="en-US" sz="2800" dirty="0"/>
          </a:p>
          <a:p>
            <a:r>
              <a:rPr lang="en-US" sz="2800" dirty="0"/>
              <a:t>The employees of Toys “R” Us accused of selecting products that Child World sells close to cost.: diapers, baby food, infant formula up to $ 1.5  mn. </a:t>
            </a:r>
          </a:p>
          <a:p>
            <a:endParaRPr lang="en-US" sz="2800" dirty="0"/>
          </a:p>
          <a:p>
            <a:endParaRPr lang="en-US" sz="2800" dirty="0"/>
          </a:p>
          <a:p>
            <a:endParaRPr lang="en-US" dirty="0"/>
          </a:p>
        </p:txBody>
      </p:sp>
      <p:sp>
        <p:nvSpPr>
          <p:cNvPr id="5122" name="AutoShape 2" descr="https://s-media-cache-ak0.pinimg.com/736x/7f/9d/f5/7f9df52263a1e54f91fcd376e04a73d8.jpg"/>
          <p:cNvSpPr>
            <a:spLocks noChangeAspect="1" noChangeArrowheads="1"/>
          </p:cNvSpPr>
          <p:nvPr/>
        </p:nvSpPr>
        <p:spPr bwMode="auto">
          <a:xfrm>
            <a:off x="155575" y="-1790700"/>
            <a:ext cx="3619500" cy="3743325"/>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4" name="AutoShape 4" descr="https://s-media-cache-ak0.pinimg.com/736x/7f/9d/f5/7f9df52263a1e54f91fcd376e04a73d8.jpg"/>
          <p:cNvSpPr>
            <a:spLocks noChangeAspect="1" noChangeArrowheads="1"/>
          </p:cNvSpPr>
          <p:nvPr/>
        </p:nvSpPr>
        <p:spPr bwMode="auto">
          <a:xfrm>
            <a:off x="155575" y="-1790700"/>
            <a:ext cx="3619500" cy="3743325"/>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6" name="AutoShape 6" descr="Image result for Toys are us versus Child Worl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8" name="AutoShape 8" descr="Image result for Toys are us versus Child Worl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8" descr="Related image"/>
          <p:cNvPicPr>
            <a:picLocks noChangeAspect="1" noChangeArrowheads="1"/>
          </p:cNvPicPr>
          <p:nvPr/>
        </p:nvPicPr>
        <p:blipFill>
          <a:blip r:embed="rId2" cstate="print"/>
          <a:srcRect/>
          <a:stretch>
            <a:fillRect/>
          </a:stretch>
        </p:blipFill>
        <p:spPr bwMode="auto">
          <a:xfrm>
            <a:off x="304800" y="990600"/>
            <a:ext cx="3429000" cy="3200400"/>
          </a:xfrm>
          <a:prstGeom prst="rect">
            <a:avLst/>
          </a:prstGeom>
          <a:noFill/>
        </p:spPr>
      </p:pic>
      <p:pic>
        <p:nvPicPr>
          <p:cNvPr id="11" name="Picture 4" descr="Related image"/>
          <p:cNvPicPr>
            <a:picLocks noChangeAspect="1" noChangeArrowheads="1"/>
          </p:cNvPicPr>
          <p:nvPr/>
        </p:nvPicPr>
        <p:blipFill>
          <a:blip r:embed="rId3" cstate="print"/>
          <a:srcRect/>
          <a:stretch>
            <a:fillRect/>
          </a:stretch>
        </p:blipFill>
        <p:spPr bwMode="auto">
          <a:xfrm>
            <a:off x="4876800" y="3733800"/>
            <a:ext cx="3886201" cy="2895601"/>
          </a:xfrm>
          <a:prstGeom prst="rect">
            <a:avLst/>
          </a:prstGeom>
          <a:noFill/>
        </p:spPr>
      </p:pic>
      <p:sp>
        <p:nvSpPr>
          <p:cNvPr id="12" name="Rectangle 11"/>
          <p:cNvSpPr/>
          <p:nvPr/>
        </p:nvSpPr>
        <p:spPr>
          <a:xfrm>
            <a:off x="0" y="4572000"/>
            <a:ext cx="4572000" cy="2031325"/>
          </a:xfrm>
          <a:prstGeom prst="rect">
            <a:avLst/>
          </a:prstGeom>
        </p:spPr>
        <p:txBody>
          <a:bodyPr>
            <a:spAutoFit/>
          </a:bodyPr>
          <a:lstStyle/>
          <a:p>
            <a:r>
              <a:rPr lang="en-US" dirty="0"/>
              <a:t>Toys “R” Us resold items &amp; gifts at huge profit, because their prices were little more than wholesaler price.</a:t>
            </a:r>
          </a:p>
          <a:p>
            <a:endParaRPr lang="en-US" dirty="0"/>
          </a:p>
          <a:p>
            <a:r>
              <a:rPr lang="en-US" dirty="0"/>
              <a:t>The practice is apparently legal, although Child world stated, it excludes dealers, wholesalers and retailers.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533400"/>
          </a:xfrm>
        </p:spPr>
        <p:txBody>
          <a:bodyPr>
            <a:normAutofit fontScale="90000"/>
          </a:bodyPr>
          <a:lstStyle/>
          <a:p>
            <a:r>
              <a:rPr lang="en-US" sz="3200" b="1" dirty="0"/>
              <a:t>Home Depot: Good ethics or Shrewd Business</a:t>
            </a:r>
          </a:p>
        </p:txBody>
      </p:sp>
      <p:sp>
        <p:nvSpPr>
          <p:cNvPr id="3" name="Content Placeholder 2"/>
          <p:cNvSpPr>
            <a:spLocks noGrp="1"/>
          </p:cNvSpPr>
          <p:nvPr>
            <p:ph idx="1"/>
          </p:nvPr>
        </p:nvSpPr>
        <p:spPr>
          <a:xfrm>
            <a:off x="0" y="1447800"/>
            <a:ext cx="4876800" cy="3810000"/>
          </a:xfrm>
        </p:spPr>
        <p:txBody>
          <a:bodyPr>
            <a:noAutofit/>
          </a:bodyPr>
          <a:lstStyle/>
          <a:p>
            <a:pPr marL="0" indent="0" algn="just"/>
            <a:r>
              <a:rPr lang="en-US" sz="2000" b="1" dirty="0"/>
              <a:t>Weather forecasters predicted that Hurricane Andrew would strike Miami with full force, customers rushed to stock up on plywood &amp; other building materials.</a:t>
            </a:r>
          </a:p>
          <a:p>
            <a:pPr marL="0" indent="0" algn="just">
              <a:buNone/>
            </a:pPr>
            <a:endParaRPr lang="en-US" sz="2000" b="1" dirty="0"/>
          </a:p>
          <a:p>
            <a:pPr marL="0" indent="0" algn="just"/>
            <a:r>
              <a:rPr lang="en-US" sz="2000" b="1" dirty="0"/>
              <a:t>That weekend  19 Home Depot stores in Southern Florida sold more 4 ft by 8 ft sheets of exterior plywood than they usually sell in 2 weeks.</a:t>
            </a:r>
          </a:p>
          <a:p>
            <a:pPr marL="0" indent="0" algn="just">
              <a:buNone/>
            </a:pPr>
            <a:endParaRPr lang="en-US" sz="2000" b="1" dirty="0"/>
          </a:p>
          <a:p>
            <a:pPr marL="61913" indent="-61913" algn="just"/>
            <a:r>
              <a:rPr lang="en-US" sz="2000" b="1" dirty="0"/>
              <a:t>Aug. 24,1992 hurricane struck, had major devastation.</a:t>
            </a:r>
          </a:p>
          <a:p>
            <a:pPr algn="just">
              <a:buNone/>
            </a:pPr>
            <a:endParaRPr lang="en-US" sz="2000" b="1" dirty="0"/>
          </a:p>
          <a:p>
            <a:pPr marL="0" indent="0" algn="just"/>
            <a:r>
              <a:rPr lang="en-US" sz="2000" b="1" dirty="0"/>
              <a:t>Prices-for necessities water, food,, building material inflated like anything.</a:t>
            </a:r>
          </a:p>
          <a:p>
            <a:pPr marL="0" indent="0" algn="just">
              <a:buNone/>
            </a:pPr>
            <a:endParaRPr lang="en-US" sz="2000" b="1" dirty="0"/>
          </a:p>
        </p:txBody>
      </p:sp>
      <p:pic>
        <p:nvPicPr>
          <p:cNvPr id="4098" name="Picture 2" descr="Image result for Hurricane Andrew and Homedepot strategies"/>
          <p:cNvPicPr>
            <a:picLocks noChangeAspect="1" noChangeArrowheads="1"/>
          </p:cNvPicPr>
          <p:nvPr/>
        </p:nvPicPr>
        <p:blipFill>
          <a:blip r:embed="rId2" cstate="print"/>
          <a:srcRect/>
          <a:stretch>
            <a:fillRect/>
          </a:stretch>
        </p:blipFill>
        <p:spPr bwMode="auto">
          <a:xfrm>
            <a:off x="5257799" y="838200"/>
            <a:ext cx="3886201" cy="54864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886200" y="228601"/>
            <a:ext cx="5257800" cy="6555641"/>
          </a:xfrm>
          <a:prstGeom prst="rect">
            <a:avLst/>
          </a:prstGeom>
        </p:spPr>
        <p:txBody>
          <a:bodyPr wrap="square">
            <a:spAutoFit/>
          </a:bodyPr>
          <a:lstStyle/>
          <a:p>
            <a:r>
              <a:rPr lang="en-US" sz="2000" b="1" dirty="0"/>
              <a:t>Home Depot initially kept prices at prehurricane level, then because of whole sale price increase (28%). It decided to sell it on cost &amp;take no profit on sales.</a:t>
            </a:r>
          </a:p>
          <a:p>
            <a:endParaRPr lang="en-US" sz="2000" b="1" dirty="0"/>
          </a:p>
          <a:p>
            <a:r>
              <a:rPr lang="en-US" sz="2000" b="1" dirty="0"/>
              <a:t>It limit quantities so local retailers couldn’t resell it at higher prices.</a:t>
            </a:r>
          </a:p>
          <a:p>
            <a:endParaRPr lang="en-US" sz="2000" b="1" dirty="0"/>
          </a:p>
          <a:p>
            <a:r>
              <a:rPr lang="en-US" sz="2000" b="1" dirty="0"/>
              <a:t>Home Depot negotiated with suppliers of Ply wood- Georgia Pacific, country’s largest plywood producer to roll back prices to prehurricane level.</a:t>
            </a:r>
          </a:p>
          <a:p>
            <a:endParaRPr lang="en-US" sz="2000" b="1" dirty="0"/>
          </a:p>
          <a:p>
            <a:r>
              <a:rPr lang="en-US" sz="2000" b="1" dirty="0"/>
              <a:t>Home Depot executives defined it as an act of ethics, not profiting from human misery.</a:t>
            </a:r>
          </a:p>
          <a:p>
            <a:endParaRPr lang="en-US" sz="2000" b="1" dirty="0"/>
          </a:p>
          <a:p>
            <a:r>
              <a:rPr lang="en-US" sz="2000" b="1" dirty="0">
                <a:solidFill>
                  <a:srgbClr val="FF0000"/>
                </a:solidFill>
              </a:rPr>
              <a:t>Others say: Shrewd Business Decision.</a:t>
            </a:r>
          </a:p>
          <a:p>
            <a:endParaRPr lang="en-US" sz="2000" b="1" dirty="0"/>
          </a:p>
          <a:p>
            <a:pPr>
              <a:buNone/>
            </a:pPr>
            <a:endParaRPr lang="en-US" sz="2000" b="1" dirty="0"/>
          </a:p>
        </p:txBody>
      </p:sp>
      <p:pic>
        <p:nvPicPr>
          <p:cNvPr id="5" name="Picture 4" descr="Image result for Hurricane Andrew and Homedepot strategies"/>
          <p:cNvPicPr>
            <a:picLocks noChangeAspect="1" noChangeArrowheads="1"/>
          </p:cNvPicPr>
          <p:nvPr/>
        </p:nvPicPr>
        <p:blipFill>
          <a:blip r:embed="rId2" cstate="print"/>
          <a:srcRect/>
          <a:stretch>
            <a:fillRect/>
          </a:stretch>
        </p:blipFill>
        <p:spPr bwMode="auto">
          <a:xfrm>
            <a:off x="0" y="0"/>
            <a:ext cx="3886200" cy="59436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Presentations</a:t>
            </a:r>
          </a:p>
        </p:txBody>
      </p:sp>
      <p:sp>
        <p:nvSpPr>
          <p:cNvPr id="3" name="Content Placeholder 2"/>
          <p:cNvSpPr>
            <a:spLocks noGrp="1"/>
          </p:cNvSpPr>
          <p:nvPr>
            <p:ph idx="1"/>
          </p:nvPr>
        </p:nvSpPr>
        <p:spPr/>
        <p:txBody>
          <a:bodyPr/>
          <a:lstStyle/>
          <a:p>
            <a:endParaRPr lang="en-US" sz="2800" dirty="0"/>
          </a:p>
          <a:p>
            <a:r>
              <a:rPr lang="en-US" sz="2800" dirty="0"/>
              <a:t>Issues in Corporate Governance :16</a:t>
            </a:r>
            <a:r>
              <a:rPr lang="en-US" sz="2800" baseline="30000" dirty="0"/>
              <a:t>th</a:t>
            </a:r>
            <a:r>
              <a:rPr lang="en-US" sz="2800" dirty="0"/>
              <a:t> Aug.</a:t>
            </a:r>
          </a:p>
          <a:p>
            <a:r>
              <a:rPr lang="en-US" sz="2800" dirty="0"/>
              <a:t> Meaning of good corporate Governance :16Aug.</a:t>
            </a:r>
          </a:p>
          <a:p>
            <a:r>
              <a:rPr lang="en-US" sz="2800" dirty="0"/>
              <a:t> Ethical Practices in operations :23</a:t>
            </a:r>
            <a:r>
              <a:rPr lang="en-US" sz="2800" baseline="30000" dirty="0"/>
              <a:t>rd</a:t>
            </a:r>
            <a:r>
              <a:rPr lang="en-US" sz="2800" dirty="0"/>
              <a:t> Aug.</a:t>
            </a:r>
          </a:p>
          <a:p>
            <a:r>
              <a:rPr lang="en-US" sz="2800" dirty="0"/>
              <a:t> Ethical Practices in Marketing :30</a:t>
            </a:r>
            <a:r>
              <a:rPr lang="en-US" sz="2800" baseline="30000" dirty="0"/>
              <a:t>th</a:t>
            </a:r>
            <a:r>
              <a:rPr lang="en-US" sz="2800" dirty="0"/>
              <a:t> Aug.</a:t>
            </a:r>
          </a:p>
          <a:p>
            <a:r>
              <a:rPr lang="en-US" sz="2800" dirty="0"/>
              <a:t> Ethical Practices in HR:30</a:t>
            </a:r>
            <a:r>
              <a:rPr lang="en-US" sz="2800" baseline="30000" dirty="0"/>
              <a:t>th</a:t>
            </a:r>
            <a:r>
              <a:rPr lang="en-US" sz="2800" dirty="0"/>
              <a:t> Aug.</a:t>
            </a:r>
          </a:p>
          <a:p>
            <a:r>
              <a:rPr lang="en-US" sz="2800" dirty="0"/>
              <a:t>Ethical practices in </a:t>
            </a:r>
            <a:r>
              <a:rPr lang="en-US" sz="2800"/>
              <a:t>finance +last </a:t>
            </a:r>
            <a:r>
              <a:rPr lang="en-US" sz="2800" dirty="0"/>
              <a:t>group:6</a:t>
            </a:r>
            <a:r>
              <a:rPr lang="en-US" sz="2800" baseline="30000" dirty="0"/>
              <a:t>th</a:t>
            </a:r>
            <a:r>
              <a:rPr lang="en-US" sz="2800" dirty="0"/>
              <a:t> </a:t>
            </a:r>
            <a:r>
              <a:rPr lang="en-US" dirty="0"/>
              <a:t>Sep.</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3423</TotalTime>
  <Words>2019</Words>
  <Application>Microsoft Office PowerPoint</Application>
  <PresentationFormat>On-screen Show (4:3)</PresentationFormat>
  <Paragraphs>206</Paragraphs>
  <Slides>37</Slides>
  <Notes>1</Notes>
  <HiddenSlides>3</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PowerPoint Presentation</vt:lpstr>
      <vt:lpstr>Ethics</vt:lpstr>
      <vt:lpstr>PowerPoint Presentation</vt:lpstr>
      <vt:lpstr>PowerPoint Presentation</vt:lpstr>
      <vt:lpstr>Evolution of Ethics</vt:lpstr>
      <vt:lpstr>PowerPoint Presentation</vt:lpstr>
      <vt:lpstr> Every society makes some determination of morally correct behavior. </vt:lpstr>
      <vt:lpstr>Society define Values and Ethics</vt:lpstr>
      <vt:lpstr>PowerPoint Presentation</vt:lpstr>
      <vt:lpstr>PowerPoint Presentation</vt:lpstr>
      <vt:lpstr>PowerPoint Presentation</vt:lpstr>
      <vt:lpstr>PowerPoint Presentation</vt:lpstr>
      <vt:lpstr>PowerPoint Presentation</vt:lpstr>
      <vt:lpstr>PowerPoint Presentation</vt:lpstr>
      <vt:lpstr>Tata Ethics:  What links that forge the Tata Companies together</vt:lpstr>
      <vt:lpstr>What is not Business Ethics</vt:lpstr>
      <vt:lpstr>PowerPoint Presentation</vt:lpstr>
      <vt:lpstr>Values</vt:lpstr>
      <vt:lpstr>Values v/s Ethics</vt:lpstr>
      <vt:lpstr>PowerPoint Presentation</vt:lpstr>
      <vt:lpstr>PowerPoint Presentation</vt:lpstr>
      <vt:lpstr> Indian woman dies after being refused abortion </vt:lpstr>
      <vt:lpstr>PowerPoint Presentation</vt:lpstr>
      <vt:lpstr>Wells Fargo Banking Scandal </vt:lpstr>
      <vt:lpstr>PowerPoint Presentation</vt:lpstr>
      <vt:lpstr>PowerPoint Presentation</vt:lpstr>
      <vt:lpstr>PowerPoint Presentation</vt:lpstr>
      <vt:lpstr>PowerPoint Presentation</vt:lpstr>
      <vt:lpstr>PowerPoint Presentation</vt:lpstr>
      <vt:lpstr>PowerPoint Presentation</vt:lpstr>
      <vt:lpstr>Group Activity</vt:lpstr>
      <vt:lpstr>Indian Concept of Ethics</vt:lpstr>
      <vt:lpstr>PowerPoint Presentation</vt:lpstr>
      <vt:lpstr> Child world v/s Toys “R” Us</vt:lpstr>
      <vt:lpstr>Home Depot: Good ethics or Shrewd Business</vt:lpstr>
      <vt:lpstr>PowerPoint Presentation</vt:lpstr>
      <vt:lpstr>Presentations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amit</dc:creator>
  <cp:lastModifiedBy>Sanskriti Bahadur</cp:lastModifiedBy>
  <cp:revision>78</cp:revision>
  <dcterms:created xsi:type="dcterms:W3CDTF">2015-05-22T11:05:53Z</dcterms:created>
  <dcterms:modified xsi:type="dcterms:W3CDTF">2023-03-17T15:55:01Z</dcterms:modified>
</cp:coreProperties>
</file>