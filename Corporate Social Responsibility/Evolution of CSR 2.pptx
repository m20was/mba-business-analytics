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93" r:id="rId2"/>
    <p:sldId id="256"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08" r:id="rId18"/>
    <p:sldId id="300" r:id="rId19"/>
    <p:sldId id="301" r:id="rId20"/>
    <p:sldId id="292" r:id="rId21"/>
    <p:sldId id="291" r:id="rId22"/>
    <p:sldId id="303" r:id="rId23"/>
    <p:sldId id="325" r:id="rId24"/>
    <p:sldId id="305" r:id="rId25"/>
    <p:sldId id="306" r:id="rId26"/>
    <p:sldId id="307" r:id="rId27"/>
    <p:sldId id="257" r:id="rId28"/>
    <p:sldId id="295" r:id="rId29"/>
    <p:sldId id="258" r:id="rId30"/>
    <p:sldId id="272" r:id="rId31"/>
    <p:sldId id="299" r:id="rId32"/>
    <p:sldId id="273" r:id="rId33"/>
    <p:sldId id="274" r:id="rId34"/>
    <p:sldId id="275" r:id="rId35"/>
    <p:sldId id="276" r:id="rId36"/>
    <p:sldId id="297" r:id="rId37"/>
    <p:sldId id="298" r:id="rId38"/>
    <p:sldId id="277" r:id="rId39"/>
    <p:sldId id="278" r:id="rId40"/>
    <p:sldId id="326" r:id="rId41"/>
    <p:sldId id="327" r:id="rId42"/>
    <p:sldId id="328" r:id="rId43"/>
    <p:sldId id="329" r:id="rId44"/>
    <p:sldId id="330" r:id="rId45"/>
    <p:sldId id="331" r:id="rId46"/>
    <p:sldId id="294" r:id="rId47"/>
    <p:sldId id="309" r:id="rId48"/>
    <p:sldId id="287" r:id="rId49"/>
    <p:sldId id="289"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5441" autoAdjust="0"/>
    <p:restoredTop sz="94624" autoAdjust="0"/>
  </p:normalViewPr>
  <p:slideViewPr>
    <p:cSldViewPr>
      <p:cViewPr varScale="1">
        <p:scale>
          <a:sx n="65" d="100"/>
          <a:sy n="65" d="100"/>
        </p:scale>
        <p:origin x="-1164" y="-108"/>
      </p:cViewPr>
      <p:guideLst>
        <p:guide orient="horz" pos="2160"/>
        <p:guide pos="2880"/>
      </p:guideLst>
    </p:cSldViewPr>
  </p:slideViewPr>
  <p:outlineViewPr>
    <p:cViewPr>
      <p:scale>
        <a:sx n="33" d="100"/>
        <a:sy n="33" d="100"/>
      </p:scale>
      <p:origin x="0" y="39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319D72-F60B-47AD-92DF-AE522655758F}" type="datetimeFigureOut">
              <a:rPr lang="en-US" smtClean="0"/>
              <a:pPr/>
              <a:t>7/18/2022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8A63A4-DECE-45E6-9DB9-C056B9C3DAA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D8A63A4-DECE-45E6-9DB9-C056B9C3DAA4}" type="slidenum">
              <a:rPr lang="en-US" smtClean="0"/>
              <a:pPr/>
              <a:t>16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23DCAA8-E34F-4466-8A47-9509FDD6F420}"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05D2001-3561-4524-B411-E1D004C5841C}" type="datetimeFigureOut">
              <a:rPr lang="en-US" smtClean="0"/>
              <a:pPr/>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5D2001-3561-4524-B411-E1D004C5841C}" type="datetimeFigureOut">
              <a:rPr lang="en-US" smtClean="0"/>
              <a:pPr/>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5D2001-3561-4524-B411-E1D004C5841C}" type="datetimeFigureOut">
              <a:rPr lang="en-US" smtClean="0"/>
              <a:pPr/>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05D2001-3561-4524-B411-E1D004C5841C}" type="datetimeFigureOut">
              <a:rPr lang="en-US" smtClean="0"/>
              <a:pPr/>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05D2001-3561-4524-B411-E1D004C5841C}" type="datetimeFigureOut">
              <a:rPr lang="en-US" smtClean="0"/>
              <a:pPr/>
              <a:t>7/18/2022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05D2001-3561-4524-B411-E1D004C5841C}" type="datetimeFigureOut">
              <a:rPr lang="en-US" smtClean="0"/>
              <a:pPr/>
              <a:t>7/18/2022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D2001-3561-4524-B411-E1D004C5841C}" type="datetimeFigureOut">
              <a:rPr lang="en-US" smtClean="0"/>
              <a:pPr/>
              <a:t>7/18/2022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5D2001-3561-4524-B411-E1D004C5841C}" type="datetimeFigureOut">
              <a:rPr lang="en-US" smtClean="0"/>
              <a:pPr/>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5D2001-3561-4524-B411-E1D004C5841C}" type="datetimeFigureOut">
              <a:rPr lang="en-US" smtClean="0"/>
              <a:pPr/>
              <a:t>7/18/2022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5D2001-3561-4524-B411-E1D004C5841C}" type="datetimeFigureOut">
              <a:rPr lang="en-US" smtClean="0"/>
              <a:pPr/>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05D2001-3561-4524-B411-E1D004C5841C}" type="datetimeFigureOut">
              <a:rPr lang="en-US" smtClean="0"/>
              <a:pPr/>
              <a:t>7/18/2022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8DA793-50E8-4DFF-9A37-8E93B99D29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D2001-3561-4524-B411-E1D004C5841C}" type="datetimeFigureOut">
              <a:rPr lang="en-US" smtClean="0"/>
              <a:pPr/>
              <a:t>7/18/2022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8DA793-50E8-4DFF-9A37-8E93B99D29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jcsr.springeropen.com/articles/10.1186/s40991-018-0039-y" TargetMode="External"/><Relationship Id="rId2" Type="http://schemas.openxmlformats.org/officeDocument/2006/relationships/hyperlink" Target="https://www.thomasnet.com/insights/history-of-corporate-social-responsibility/"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hersheyhistory.org/library-archives/hershey/96-the-tow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mprnews.org/story/2010/06/15/minn-companies-helped-fight-wwii-in-surprising-way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iedm.org/66732-how-should-corporate-social-responsibility-and-sustainability-be-defined/"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ineteconomics.org/perspectives/blog/how-black-businesses-helped-save-the-civil-rights-movem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fastcompany.com/1585988/a-history-of-green-brands-1980s-green-shoots-appear" TargetMode="External"/><Relationship Id="rId2" Type="http://schemas.openxmlformats.org/officeDocument/2006/relationships/hyperlink" Target="https://everfi.com/blog/community-engagement/what-is-esg/"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opportunity.businessroundtable.org/ourcommitmen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hbr.org/2020/06/were-entering-the-age-of-corporate-social-justic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terrapass.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home.kpmg.com/xx/en/home/insights/2015/11/kpmg-international-survey-of-corporate-responsibility-reporting-2015.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economicpolicygroup.com/publications/business-backs-education-report-launch/"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youtube.com/watch?v=5plXdnZJxZw"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youtu.be/CseIzpf9llw" TargetMode="External"/><Relationship Id="rId3" Type="http://schemas.openxmlformats.org/officeDocument/2006/relationships/hyperlink" Target="https://www.lego.com/en-us/aboutus/wwf-partnership/" TargetMode="External"/><Relationship Id="rId7" Type="http://schemas.openxmlformats.org/officeDocument/2006/relationships/hyperlink" Target="https://www.lego.com/en-us/aboutus/sustainable-packaging" TargetMode="Externa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hyperlink" Target="https://www.businessinsider.com/lego-go-eco-friendly-with-blocks-made-from-sugarcane-2018-8" TargetMode="External"/><Relationship Id="rId5" Type="http://schemas.openxmlformats.org/officeDocument/2006/relationships/hyperlink" Target="https://www.lego.com/fr-fr/aboutus/sustainability" TargetMode="External"/><Relationship Id="rId4" Type="http://schemas.openxmlformats.org/officeDocument/2006/relationships/hyperlink" Target="https://www.lego.com/en-us/aboutus/sustainability/"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s://www.information-age.com/salesforces-mission-revolutionise-corporate-philanthropy-123464222/"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benandjerrysfoundation.org/about/what-we-do/" TargetMode="External"/><Relationship Id="rId2" Type="http://schemas.openxmlformats.org/officeDocument/2006/relationships/hyperlink" Target="https://www.fastcompany.com/2680771/ben-and-jerry-s-becomes-a-b-corporatio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levistrauss.com/2016/10/13/lsco-opens-up-its-worker-well-being-initiative/" TargetMode="External"/><Relationship Id="rId2" Type="http://schemas.openxmlformats.org/officeDocument/2006/relationships/hyperlink" Target="https://www.levistrauss.com/wp-content/uploads/2019/03/Levi-Strauss-Co.-Announces-New-Terms-of-Engagement-for-Its-Global-Supply-Chain-undated.pdf" TargetMode="External"/><Relationship Id="rId1" Type="http://schemas.openxmlformats.org/officeDocument/2006/relationships/slideLayout" Target="../slideLayouts/slideLayout2.xml"/><Relationship Id="rId4" Type="http://schemas.openxmlformats.org/officeDocument/2006/relationships/hyperlink" Target="https://www.engageforgood.com/halo-awards"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worldsmostethicalcompanies.com/honorees/" TargetMode="External"/><Relationship Id="rId2" Type="http://schemas.openxmlformats.org/officeDocument/2006/relationships/hyperlink" Target="https://stories.starbucks.com/stories/2015/starbucks-ethical-sourcing-program/"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ijrte.org/wp-content/uploads/papers/v7i6s5/F10650476S519.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PDF] EVOLUTION OF CORPORATE SOCIAL RESPONSIBILITY APPLIED TO THE CONCEPT OF  SUSTAINABLE DEVELOPMENT | Semantic Scholar"/>
          <p:cNvPicPr>
            <a:picLocks noChangeAspect="1" noChangeArrowheads="1"/>
          </p:cNvPicPr>
          <p:nvPr/>
        </p:nvPicPr>
        <p:blipFill>
          <a:blip r:embed="rId2"/>
          <a:srcRect/>
          <a:stretch>
            <a:fillRect/>
          </a:stretch>
        </p:blipFill>
        <p:spPr bwMode="auto">
          <a:xfrm>
            <a:off x="0" y="152400"/>
            <a:ext cx="8933829" cy="6705600"/>
          </a:xfrm>
          <a:prstGeom prst="rect">
            <a:avLst/>
          </a:prstGeom>
          <a:noFill/>
        </p:spPr>
      </p:pic>
      <p:sp>
        <p:nvSpPr>
          <p:cNvPr id="5" name="Rectangle 4"/>
          <p:cNvSpPr/>
          <p:nvPr/>
        </p:nvSpPr>
        <p:spPr>
          <a:xfrm>
            <a:off x="457200" y="3886200"/>
            <a:ext cx="3962400" cy="144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tx1"/>
                </a:solidFill>
              </a:rPr>
              <a:t>Evolution of CSR</a:t>
            </a:r>
            <a:endParaRPr lang="en-US" sz="4400"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7772400" cy="1470025"/>
          </a:xfrm>
        </p:spPr>
        <p:txBody>
          <a:bodyPr/>
          <a:lstStyle/>
          <a:p>
            <a:r>
              <a:rPr lang="en-US" dirty="0" smtClean="0"/>
              <a:t>Evolution of CSR</a:t>
            </a:r>
            <a:endParaRPr lang="en-US" dirty="0"/>
          </a:p>
        </p:txBody>
      </p:sp>
      <p:sp>
        <p:nvSpPr>
          <p:cNvPr id="4" name="Rectangle 3"/>
          <p:cNvSpPr/>
          <p:nvPr/>
        </p:nvSpPr>
        <p:spPr>
          <a:xfrm>
            <a:off x="838200" y="1676400"/>
            <a:ext cx="7543800" cy="1015663"/>
          </a:xfrm>
          <a:prstGeom prst="rect">
            <a:avLst/>
          </a:prstGeom>
        </p:spPr>
        <p:txBody>
          <a:bodyPr wrap="square">
            <a:spAutoFit/>
          </a:bodyPr>
          <a:lstStyle/>
          <a:p>
            <a:r>
              <a:rPr lang="en-US" sz="2000" dirty="0"/>
              <a:t>Corporate Social Responsibility (CSR) has come a long way, morphing from a nice thing to do to what it is today:</a:t>
            </a:r>
          </a:p>
          <a:p>
            <a:r>
              <a:rPr lang="en-US" sz="2000" dirty="0"/>
              <a:t>a necessity for a successful business.</a:t>
            </a:r>
          </a:p>
        </p:txBody>
      </p:sp>
      <p:sp>
        <p:nvSpPr>
          <p:cNvPr id="5" name="Rectangle 4"/>
          <p:cNvSpPr/>
          <p:nvPr/>
        </p:nvSpPr>
        <p:spPr>
          <a:xfrm>
            <a:off x="762000" y="2971800"/>
            <a:ext cx="7315200" cy="3662541"/>
          </a:xfrm>
          <a:prstGeom prst="rect">
            <a:avLst/>
          </a:prstGeom>
        </p:spPr>
        <p:txBody>
          <a:bodyPr wrap="square">
            <a:spAutoFit/>
          </a:bodyPr>
          <a:lstStyle/>
          <a:p>
            <a:pPr algn="just"/>
            <a:r>
              <a:rPr lang="en-US" sz="2400" dirty="0" smtClean="0"/>
              <a:t>The term “Corporate Social Responsibility,” however,</a:t>
            </a:r>
            <a:r>
              <a:rPr lang="en-US" sz="2400" b="1" dirty="0" smtClean="0"/>
              <a:t> </a:t>
            </a:r>
            <a:r>
              <a:rPr lang="en-US" sz="2400" b="1" u="none" strike="noStrike" dirty="0" smtClean="0">
                <a:hlinkClick r:id="rId2"/>
              </a:rPr>
              <a:t>was not coined until 1953</a:t>
            </a:r>
            <a:r>
              <a:rPr lang="en-US" sz="2400" b="1" dirty="0" smtClean="0"/>
              <a:t>, </a:t>
            </a:r>
            <a:r>
              <a:rPr lang="en-US" sz="2400" dirty="0" smtClean="0"/>
              <a:t>when American economist Howard Bowen published </a:t>
            </a:r>
            <a:r>
              <a:rPr lang="en-US" sz="2400" i="1" dirty="0" smtClean="0"/>
              <a:t>Social Responsibilities of the Businessman.</a:t>
            </a:r>
            <a:r>
              <a:rPr lang="en-US" sz="2400" dirty="0" smtClean="0"/>
              <a:t> In this book, Bowen identified the </a:t>
            </a:r>
            <a:r>
              <a:rPr lang="en-US" sz="2400" b="1" i="1" u="sng" strike="noStrike" dirty="0" smtClean="0">
                <a:solidFill>
                  <a:srgbClr val="FF0000"/>
                </a:solidFill>
                <a:hlinkClick r:id="rId3"/>
              </a:rPr>
              <a:t>great power of corporations </a:t>
            </a:r>
            <a:r>
              <a:rPr lang="en-US" sz="2400" b="1" u="sng" strike="noStrike" dirty="0" smtClean="0">
                <a:hlinkClick r:id="rId3"/>
              </a:rPr>
              <a:t>and recognized that their actions had a tangible impact on society</a:t>
            </a:r>
            <a:r>
              <a:rPr lang="en-US" sz="2400" u="none" strike="noStrike" dirty="0" smtClean="0">
                <a:hlinkClick r:id="rId3"/>
              </a:rPr>
              <a:t>.</a:t>
            </a:r>
            <a:r>
              <a:rPr lang="en-US" sz="2400" dirty="0" smtClean="0"/>
              <a:t> Therefore, he argued, businessmen </a:t>
            </a:r>
            <a:r>
              <a:rPr lang="en-US" sz="2400" b="1" dirty="0" smtClean="0"/>
              <a:t>have an obligation to pursue policies that are beneficial for the common good. </a:t>
            </a:r>
            <a:r>
              <a:rPr lang="en-US" sz="2400" dirty="0" smtClean="0"/>
              <a:t> </a:t>
            </a:r>
          </a:p>
          <a:p>
            <a:r>
              <a:rPr lang="en-US" sz="2000" dirty="0" smtClean="0"/>
              <a:t/>
            </a:r>
            <a:br>
              <a:rPr lang="en-US" sz="2000" dirty="0" smtClean="0"/>
            </a:br>
            <a:endParaRPr lang="en-US" sz="2000" dirty="0"/>
          </a:p>
        </p:txBody>
      </p:sp>
      <p:sp>
        <p:nvSpPr>
          <p:cNvPr id="6" name="Rectangle 5"/>
          <p:cNvSpPr/>
          <p:nvPr/>
        </p:nvSpPr>
        <p:spPr>
          <a:xfrm>
            <a:off x="762000" y="6019800"/>
            <a:ext cx="7315200" cy="369332"/>
          </a:xfrm>
          <a:prstGeom prst="rect">
            <a:avLst/>
          </a:prstGeom>
        </p:spPr>
        <p:txBody>
          <a:bodyPr wrap="square">
            <a:spAutoFit/>
          </a:bodyPr>
          <a:lstStyle/>
          <a:p>
            <a:r>
              <a:rPr lang="en-US" dirty="0" smtClean="0"/>
              <a:t>https://www.smartsimple.com/blog/2019/3/29/a-brief-history-of-csr</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pPr>
              <a:buNone/>
            </a:pPr>
            <a:r>
              <a:rPr lang="en-US" sz="3800" b="1" dirty="0" smtClean="0"/>
              <a:t>Companies are starting to care more about corporate social responsibility</a:t>
            </a:r>
          </a:p>
          <a:p>
            <a:pPr>
              <a:buNone/>
            </a:pPr>
            <a:r>
              <a:rPr lang="en-US" b="1" dirty="0" smtClean="0"/>
              <a:t>Consumers</a:t>
            </a:r>
          </a:p>
          <a:p>
            <a:r>
              <a:rPr lang="en-US" dirty="0" smtClean="0"/>
              <a:t>84% of global consumers consider sustainability important when choosing a brand. [</a:t>
            </a:r>
            <a:r>
              <a:rPr lang="en-US" i="1" dirty="0" smtClean="0"/>
              <a:t>Sustainability at a Turning Point,</a:t>
            </a:r>
            <a:r>
              <a:rPr lang="en-US" dirty="0" smtClean="0"/>
              <a:t> IBM, 2021]</a:t>
            </a:r>
          </a:p>
          <a:p>
            <a:endParaRPr lang="en-US" b="1" cap="all" dirty="0" smtClean="0"/>
          </a:p>
          <a:p>
            <a:pPr>
              <a:buNone/>
            </a:pPr>
            <a:r>
              <a:rPr lang="en-US" b="1" cap="all" dirty="0" smtClean="0"/>
              <a:t>EMPLOYEES</a:t>
            </a:r>
          </a:p>
          <a:p>
            <a:r>
              <a:rPr lang="en-US" dirty="0" smtClean="0"/>
              <a:t>66% of employees report a greater sense of loyalty to their employers as a consequence of participating in CSR programs. [“Closing the Racial Inequality Gaps” </a:t>
            </a:r>
            <a:r>
              <a:rPr lang="en-US" i="1" dirty="0" err="1" smtClean="0"/>
              <a:t>Citi</a:t>
            </a:r>
            <a:r>
              <a:rPr lang="en-US" dirty="0" smtClean="0"/>
              <a:t>, 2020]</a:t>
            </a:r>
          </a:p>
          <a:p>
            <a:endParaRPr lang="en-US" dirty="0" smtClean="0"/>
          </a:p>
          <a:p>
            <a:pPr>
              <a:buNone/>
            </a:pPr>
            <a:r>
              <a:rPr lang="en-US" b="1" cap="all" dirty="0" smtClean="0"/>
              <a:t>C-SUITE/BOARD MEMBERS</a:t>
            </a:r>
          </a:p>
          <a:p>
            <a:r>
              <a:rPr lang="en-US" dirty="0" smtClean="0"/>
              <a:t>87% of CEOs said purpose is central to building their brand reputation. [</a:t>
            </a:r>
            <a:r>
              <a:rPr lang="en-US" i="1" dirty="0" smtClean="0"/>
              <a:t>KPMG CEO Outlook</a:t>
            </a:r>
            <a:r>
              <a:rPr lang="en-US" dirty="0" smtClean="0"/>
              <a:t>, 2021]</a:t>
            </a:r>
          </a:p>
          <a:p>
            <a:endParaRPr lang="en-US" dirty="0" smtClean="0"/>
          </a:p>
          <a:p>
            <a:pPr>
              <a:buNone/>
            </a:pPr>
            <a:r>
              <a:rPr lang="en-US" b="1" cap="all" dirty="0" smtClean="0"/>
              <a:t>INVESTORS</a:t>
            </a:r>
          </a:p>
          <a:p>
            <a:r>
              <a:rPr lang="en-US" dirty="0" smtClean="0"/>
              <a:t>93% of U.S. investors expect the companies they invest in to increase their prioritization of ESG initiatives. [</a:t>
            </a:r>
            <a:r>
              <a:rPr lang="en-US" i="1" dirty="0" smtClean="0"/>
              <a:t>2021 Edelman Trust Barometer</a:t>
            </a:r>
            <a:r>
              <a:rPr lang="en-US" dirty="0" smtClean="0"/>
              <a:t>]</a:t>
            </a:r>
          </a:p>
          <a:p>
            <a:endParaRPr lang="en-US" dirty="0" smtClean="0"/>
          </a:p>
          <a:p>
            <a:endParaRPr lang="en-US" dirty="0"/>
          </a:p>
        </p:txBody>
      </p:sp>
      <p:sp>
        <p:nvSpPr>
          <p:cNvPr id="4" name="Rectangle 3"/>
          <p:cNvSpPr/>
          <p:nvPr/>
        </p:nvSpPr>
        <p:spPr>
          <a:xfrm>
            <a:off x="5562600" y="3962400"/>
            <a:ext cx="4572000" cy="646331"/>
          </a:xfrm>
          <a:prstGeom prst="rect">
            <a:avLst/>
          </a:prstGeom>
        </p:spPr>
        <p:txBody>
          <a:bodyPr>
            <a:spAutoFit/>
          </a:bodyPr>
          <a:lstStyle/>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Congressional Legislation – Indian Removal Act of ppt video online download"/>
          <p:cNvPicPr>
            <a:picLocks noChangeAspect="1" noChangeArrowheads="1"/>
          </p:cNvPicPr>
          <p:nvPr/>
        </p:nvPicPr>
        <p:blipFill>
          <a:blip r:embed="rId2"/>
          <a:srcRect/>
          <a:stretch>
            <a:fillRect/>
          </a:stretch>
        </p:blipFill>
        <p:spPr bwMode="auto">
          <a:xfrm>
            <a:off x="0" y="762000"/>
            <a:ext cx="5791200" cy="4267200"/>
          </a:xfrm>
          <a:prstGeom prst="rect">
            <a:avLst/>
          </a:prstGeom>
          <a:noFill/>
        </p:spPr>
      </p:pic>
      <p:sp>
        <p:nvSpPr>
          <p:cNvPr id="5" name="Rectangle 4"/>
          <p:cNvSpPr/>
          <p:nvPr/>
        </p:nvSpPr>
        <p:spPr>
          <a:xfrm>
            <a:off x="6019800" y="685800"/>
            <a:ext cx="2895600" cy="4647426"/>
          </a:xfrm>
          <a:prstGeom prst="rect">
            <a:avLst/>
          </a:prstGeom>
        </p:spPr>
        <p:txBody>
          <a:bodyPr wrap="square">
            <a:spAutoFit/>
          </a:bodyPr>
          <a:lstStyle/>
          <a:p>
            <a:r>
              <a:rPr lang="en-US" b="1" dirty="0" smtClean="0"/>
              <a:t>Industrial Revolution and World War</a:t>
            </a:r>
            <a:endParaRPr lang="en-US" dirty="0" smtClean="0"/>
          </a:p>
          <a:p>
            <a:r>
              <a:rPr lang="en-US" sz="2000" b="1" dirty="0" smtClean="0"/>
              <a:t>Corporate social responsibility has its roots in the Industrial Revolution</a:t>
            </a:r>
            <a:r>
              <a:rPr lang="en-US" sz="2000" dirty="0" smtClean="0"/>
              <a:t>.</a:t>
            </a:r>
          </a:p>
          <a:p>
            <a:r>
              <a:rPr lang="en-US" sz="2000" dirty="0" smtClean="0"/>
              <a:t> The Industrial Revolution led to a reorganization of society around corporations.</a:t>
            </a:r>
          </a:p>
          <a:p>
            <a:r>
              <a:rPr lang="en-US" sz="2000" dirty="0" smtClean="0"/>
              <a:t> </a:t>
            </a:r>
            <a:r>
              <a:rPr lang="en-US" sz="2000" b="1" dirty="0" smtClean="0"/>
              <a:t>Farmers moved to cities and company towns to take higher-paying jobs in factories.</a:t>
            </a:r>
          </a:p>
          <a:p>
            <a:r>
              <a:rPr lang="en-US" sz="2000" dirty="0" smtClean="0"/>
              <a:t> </a:t>
            </a:r>
            <a:endParaRPr lang="en-US" sz="2000" dirty="0"/>
          </a:p>
        </p:txBody>
      </p:sp>
      <p:sp>
        <p:nvSpPr>
          <p:cNvPr id="6" name="Rectangle 5"/>
          <p:cNvSpPr/>
          <p:nvPr/>
        </p:nvSpPr>
        <p:spPr>
          <a:xfrm>
            <a:off x="0" y="5105400"/>
            <a:ext cx="9144000" cy="1631216"/>
          </a:xfrm>
          <a:prstGeom prst="rect">
            <a:avLst/>
          </a:prstGeom>
        </p:spPr>
        <p:txBody>
          <a:bodyPr wrap="square">
            <a:spAutoFit/>
          </a:bodyPr>
          <a:lstStyle/>
          <a:p>
            <a:r>
              <a:rPr lang="en-US" sz="2000" b="1" dirty="0" smtClean="0"/>
              <a:t>The late 19th and early 20th century are often viewed as a period of corporate irresponsibility</a:t>
            </a:r>
            <a:r>
              <a:rPr lang="en-US" sz="2000" dirty="0" smtClean="0"/>
              <a:t>.</a:t>
            </a:r>
          </a:p>
          <a:p>
            <a:r>
              <a:rPr lang="en-US" sz="2000" dirty="0" smtClean="0"/>
              <a:t> Indeed, </a:t>
            </a:r>
            <a:r>
              <a:rPr lang="en-US" sz="2000" b="1" dirty="0" smtClean="0">
                <a:solidFill>
                  <a:srgbClr val="FF0000"/>
                </a:solidFill>
              </a:rPr>
              <a:t>this era did produce mass worker exploitation, unsafe working conditions, and excessive pollution</a:t>
            </a:r>
            <a:r>
              <a:rPr lang="en-US" sz="2000" dirty="0" smtClean="0"/>
              <a:t>. Upton Sinclair captured this strife</a:t>
            </a:r>
          </a:p>
          <a:p>
            <a:r>
              <a:rPr lang="en-US" sz="2000" dirty="0" smtClean="0"/>
              <a:t> in his 1905 novel </a:t>
            </a:r>
            <a:r>
              <a:rPr lang="en-US" sz="2000" b="1" i="1" dirty="0" smtClean="0"/>
              <a:t>The Jungle</a:t>
            </a:r>
            <a:r>
              <a:rPr lang="en-US" sz="2000" b="1" dirty="0" smtClean="0"/>
              <a:t>, which focused on the Chicago meatpacking industry.   </a:t>
            </a:r>
            <a:endParaRPr lang="en-US" sz="2000" b="1" dirty="0"/>
          </a:p>
        </p:txBody>
      </p:sp>
      <p:sp>
        <p:nvSpPr>
          <p:cNvPr id="7" name="Rectangle 6"/>
          <p:cNvSpPr/>
          <p:nvPr/>
        </p:nvSpPr>
        <p:spPr>
          <a:xfrm>
            <a:off x="0" y="0"/>
            <a:ext cx="8610600" cy="830997"/>
          </a:xfrm>
          <a:prstGeom prst="rect">
            <a:avLst/>
          </a:prstGeom>
        </p:spPr>
        <p:txBody>
          <a:bodyPr wrap="square">
            <a:spAutoFit/>
          </a:bodyPr>
          <a:lstStyle/>
          <a:p>
            <a:r>
              <a:rPr lang="en-US" sz="2400" b="1" dirty="0" smtClean="0"/>
              <a:t>Corporate social responsibility has its roots in the Industrial Revolution</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81000"/>
            <a:ext cx="8610600" cy="6370975"/>
          </a:xfrm>
          <a:prstGeom prst="rect">
            <a:avLst/>
          </a:prstGeom>
        </p:spPr>
        <p:txBody>
          <a:bodyPr wrap="square">
            <a:spAutoFit/>
          </a:bodyPr>
          <a:lstStyle/>
          <a:p>
            <a:r>
              <a:rPr lang="en-US" sz="2400" dirty="0" smtClean="0"/>
              <a:t>Yet successful early industrialists recognized the necessity of corporate social responsibility. </a:t>
            </a:r>
          </a:p>
          <a:p>
            <a:endParaRPr lang="en-US" sz="2400" dirty="0" smtClean="0"/>
          </a:p>
          <a:p>
            <a:r>
              <a:rPr lang="en-US" sz="2400" b="1" dirty="0" smtClean="0"/>
              <a:t>Leading corporations realized that healthy employees improved productivity and profits</a:t>
            </a:r>
            <a:r>
              <a:rPr lang="en-US" sz="2400" dirty="0" smtClean="0"/>
              <a:t>. </a:t>
            </a:r>
          </a:p>
          <a:p>
            <a:r>
              <a:rPr lang="en-US" sz="2400" dirty="0" smtClean="0"/>
              <a:t>Others took a </a:t>
            </a:r>
            <a:r>
              <a:rPr lang="en-US" sz="2400" b="1" dirty="0" smtClean="0"/>
              <a:t>spiritual interest in </a:t>
            </a:r>
            <a:r>
              <a:rPr lang="en-US" sz="2400" dirty="0" smtClean="0"/>
              <a:t>helping the less fortunate and giving back. </a:t>
            </a:r>
          </a:p>
          <a:p>
            <a:r>
              <a:rPr lang="en-US" sz="2400" b="1" dirty="0" smtClean="0">
                <a:solidFill>
                  <a:srgbClr val="FF0000"/>
                </a:solidFill>
              </a:rPr>
              <a:t>Milton Hershey </a:t>
            </a:r>
            <a:r>
              <a:rPr lang="en-US" sz="2400" dirty="0" smtClean="0"/>
              <a:t>exhibited both of these motivations when he founded his </a:t>
            </a:r>
            <a:r>
              <a:rPr lang="en-US" sz="2400" b="1" u="sng" dirty="0" smtClean="0"/>
              <a:t>chocolate company in 1894. </a:t>
            </a:r>
          </a:p>
          <a:p>
            <a:r>
              <a:rPr lang="en-US" sz="2400" b="1" dirty="0" smtClean="0">
                <a:hlinkClick r:id="rId2"/>
              </a:rPr>
              <a:t>He designed a park for his company town and made sure that factory families had access to leisure activities</a:t>
            </a:r>
            <a:r>
              <a:rPr lang="en-US" sz="2400" b="1" dirty="0" smtClean="0"/>
              <a:t>.</a:t>
            </a:r>
          </a:p>
          <a:p>
            <a:r>
              <a:rPr lang="en-US" sz="2400" dirty="0" smtClean="0"/>
              <a:t> </a:t>
            </a:r>
            <a:r>
              <a:rPr lang="en-US" sz="2400" b="1" i="1" dirty="0" smtClean="0">
                <a:solidFill>
                  <a:srgbClr val="002060"/>
                </a:solidFill>
              </a:rPr>
              <a:t>The town also included a community greenhouse and plant nursery, and Hershey employees received cheap credit that allowed most to become homeowners. </a:t>
            </a:r>
          </a:p>
          <a:p>
            <a:r>
              <a:rPr lang="en-US" sz="2400" b="1" i="1" dirty="0" smtClean="0">
                <a:solidFill>
                  <a:srgbClr val="002060"/>
                </a:solidFill>
              </a:rPr>
              <a:t>In 1909, Hershey and his wife Catherine established the Milton Hershey School for orphans. The boarding school still serves over 2,000 in-need students across 14 grades tuition-free.</a:t>
            </a:r>
            <a:endParaRPr lang="en-US" sz="2400" b="1" i="1" dirty="0">
              <a:solidFill>
                <a:srgbClr val="00206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smtClean="0"/>
              <a:t>Wartime patriotism accelerated the development of corporate social responsibility</a:t>
            </a:r>
            <a:endParaRPr lang="en-US" sz="2800"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Wartime patriotism accelerated the development of corporate social responsibility. </a:t>
            </a:r>
          </a:p>
          <a:p>
            <a:pPr>
              <a:buNone/>
            </a:pPr>
            <a:endParaRPr lang="en-US" dirty="0" smtClean="0"/>
          </a:p>
          <a:p>
            <a:pPr>
              <a:buNone/>
            </a:pPr>
            <a:r>
              <a:rPr lang="en-US" dirty="0" smtClean="0"/>
              <a:t>    American companies donated food and supplies to Allied nations under the Lend-Lease Act during World War II. </a:t>
            </a:r>
          </a:p>
          <a:p>
            <a:pPr>
              <a:buNone/>
            </a:pPr>
            <a:endParaRPr lang="en-US" dirty="0" smtClean="0"/>
          </a:p>
          <a:p>
            <a:pPr>
              <a:buNone/>
            </a:pPr>
            <a:r>
              <a:rPr lang="en-US" dirty="0" smtClean="0"/>
              <a:t>   Corporations repurposed factories to meet critical supply shortages.</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pPr algn="l"/>
            <a:r>
              <a:rPr lang="en-US" sz="2700" dirty="0" smtClean="0"/>
              <a:t>Business’s contribution to the war effort reinforced the idea that private enterprise includes civic duties</a:t>
            </a:r>
            <a:r>
              <a:rPr lang="en-US" dirty="0" smtClean="0"/>
              <a:t>.</a:t>
            </a:r>
            <a:br>
              <a:rPr lang="en-US" dirty="0" smtClean="0"/>
            </a:br>
            <a:endParaRPr lang="en-US" dirty="0"/>
          </a:p>
        </p:txBody>
      </p:sp>
      <p:sp>
        <p:nvSpPr>
          <p:cNvPr id="3" name="Content Placeholder 2"/>
          <p:cNvSpPr>
            <a:spLocks noGrp="1"/>
          </p:cNvSpPr>
          <p:nvPr>
            <p:ph idx="1"/>
          </p:nvPr>
        </p:nvSpPr>
        <p:spPr>
          <a:xfrm>
            <a:off x="457200" y="1371600"/>
            <a:ext cx="8229600" cy="4754563"/>
          </a:xfrm>
        </p:spPr>
        <p:txBody>
          <a:bodyPr>
            <a:noAutofit/>
          </a:bodyPr>
          <a:lstStyle/>
          <a:p>
            <a:r>
              <a:rPr lang="en-US" sz="2000" dirty="0" smtClean="0"/>
              <a:t>A cross-sectional study of </a:t>
            </a:r>
            <a:r>
              <a:rPr lang="en-US" sz="2000" dirty="0" smtClean="0">
                <a:hlinkClick r:id="rId2"/>
              </a:rPr>
              <a:t>Minnesota companies</a:t>
            </a:r>
            <a:r>
              <a:rPr lang="en-US" sz="2000" dirty="0" smtClean="0"/>
              <a:t> shows how corporations adopted CSR efforts to wartime. </a:t>
            </a:r>
          </a:p>
          <a:p>
            <a:endParaRPr lang="en-US" sz="2000" dirty="0" smtClean="0"/>
          </a:p>
          <a:p>
            <a:r>
              <a:rPr lang="en-US" sz="2000" b="1" dirty="0" smtClean="0"/>
              <a:t>Spam-manufacturer Hormel contributed heavily to the Lend-Lease program. </a:t>
            </a:r>
          </a:p>
          <a:p>
            <a:endParaRPr lang="en-US" sz="2000" dirty="0" smtClean="0"/>
          </a:p>
          <a:p>
            <a:r>
              <a:rPr lang="en-US" sz="2000" b="1" dirty="0" smtClean="0"/>
              <a:t>3M developed new adhesives to help pilots and healthcare workers</a:t>
            </a:r>
            <a:r>
              <a:rPr lang="en-US" sz="2000" dirty="0" smtClean="0"/>
              <a:t>. </a:t>
            </a:r>
          </a:p>
          <a:p>
            <a:endParaRPr lang="en-US" sz="2000" dirty="0" smtClean="0"/>
          </a:p>
          <a:p>
            <a:r>
              <a:rPr lang="en-US" sz="2000" dirty="0" smtClean="0">
                <a:solidFill>
                  <a:srgbClr val="C00000"/>
                </a:solidFill>
              </a:rPr>
              <a:t>General Mills and Pillsbury developed education programs to help households survive on rations.</a:t>
            </a:r>
          </a:p>
          <a:p>
            <a:endParaRPr lang="en-US" sz="2000" dirty="0" smtClean="0"/>
          </a:p>
          <a:p>
            <a:r>
              <a:rPr lang="en-US" sz="2000" dirty="0" smtClean="0"/>
              <a:t> </a:t>
            </a:r>
            <a:r>
              <a:rPr lang="en-US" sz="2000" b="1" dirty="0" smtClean="0"/>
              <a:t>Food company Cargill temporarily became a shipbuilder.</a:t>
            </a:r>
          </a:p>
          <a:p>
            <a:endParaRPr lang="en-US" sz="2000" dirty="0" smtClean="0"/>
          </a:p>
          <a:p>
            <a:r>
              <a:rPr lang="en-US" sz="2000" b="1" i="1" u="sng" dirty="0" smtClean="0"/>
              <a:t>These alliances between business and government had long-lasting effects on companies’ approaches to corporate social responsibility</a:t>
            </a:r>
            <a:r>
              <a:rPr lang="en-US" sz="2000" dirty="0" smtClean="0"/>
              <a:t>. </a:t>
            </a:r>
            <a:br>
              <a:rPr lang="en-US" sz="2000" dirty="0" smtClean="0"/>
            </a:br>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600" b="1" dirty="0" smtClean="0"/>
              <a:t>Post-War: Civil Rights and Sustainability </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r>
              <a:rPr lang="en-US" dirty="0" smtClean="0"/>
              <a:t>Corporations took an active role in defining their place in society after World War II. </a:t>
            </a:r>
          </a:p>
          <a:p>
            <a:endParaRPr lang="en-US" dirty="0" smtClean="0"/>
          </a:p>
          <a:p>
            <a:r>
              <a:rPr lang="en-US" dirty="0" smtClean="0"/>
              <a:t>Executives experienced new pressures to serve as a social force for good.</a:t>
            </a:r>
          </a:p>
          <a:p>
            <a:endParaRPr lang="en-US" dirty="0" smtClean="0"/>
          </a:p>
          <a:p>
            <a:r>
              <a:rPr lang="en-US" dirty="0" smtClean="0"/>
              <a:t> These pressures included </a:t>
            </a:r>
            <a:r>
              <a:rPr lang="en-US" b="1" dirty="0" smtClean="0"/>
              <a:t>the increasing influence of unions and globalization, the threat of communism, and growing public unease about ballooning mega-corporations. </a:t>
            </a:r>
          </a:p>
          <a:p>
            <a:endParaRPr lang="en-US" dirty="0" smtClean="0"/>
          </a:p>
          <a:p>
            <a:r>
              <a:rPr lang="en-US" dirty="0" smtClean="0"/>
              <a:t>More corporate leaders began to understand that their businesses carried responsibilities beyond their four walls.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229600" cy="1143000"/>
          </a:xfrm>
        </p:spPr>
        <p:txBody>
          <a:bodyPr/>
          <a:lstStyle/>
          <a:p>
            <a:r>
              <a:rPr lang="en-US" dirty="0" smtClean="0"/>
              <a:t>Howard Bowen</a:t>
            </a: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 In 1953, academic Howard Bowen described corporate social responsibility as </a:t>
            </a:r>
            <a:r>
              <a:rPr lang="en-US" dirty="0" smtClean="0">
                <a:hlinkClick r:id="rId2"/>
              </a:rPr>
              <a:t>“the obligations of businessmen to pursue those policies, to make those decisions, or to follow those lines of action which are desirable in terms of the objectives and values of our society.”</a:t>
            </a:r>
            <a:endParaRPr lang="en-US" dirty="0" smtClean="0"/>
          </a:p>
          <a:p>
            <a:pPr>
              <a:buNone/>
            </a:pPr>
            <a:r>
              <a:rPr lang="en-US" dirty="0" smtClean="0"/>
              <a:t>  Bowen’s systematization of corporate social responsibility has earned him the title of “Father of Corporate Social Responsibility.”</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Civil Rights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Civil Rights Era challenged organizations to take a stand on social justice issues. </a:t>
            </a:r>
            <a:r>
              <a:rPr lang="en-US" u="sng" dirty="0" smtClean="0">
                <a:hlinkClick r:id="rId2"/>
              </a:rPr>
              <a:t>Small black-owned businesses</a:t>
            </a:r>
            <a:r>
              <a:rPr lang="en-US" dirty="0" smtClean="0"/>
              <a:t> provided vital material support to activists through the 1960s.</a:t>
            </a:r>
          </a:p>
          <a:p>
            <a:endParaRPr lang="en-US" dirty="0" smtClean="0"/>
          </a:p>
          <a:p>
            <a:r>
              <a:rPr lang="en-US" b="1" dirty="0" smtClean="0"/>
              <a:t>Behind towering figures like Rosa Parks and Martin Luther King, Jr. were the taxi dispatchers, pharmacists, grocers, and other small business owners who were instrumental in making civil rights a reality</a:t>
            </a:r>
            <a:endParaRPr lang="en-US" dirty="0"/>
          </a:p>
        </p:txBody>
      </p:sp>
      <p:sp>
        <p:nvSpPr>
          <p:cNvPr id="4" name="Rectangle 3"/>
          <p:cNvSpPr/>
          <p:nvPr/>
        </p:nvSpPr>
        <p:spPr>
          <a:xfrm>
            <a:off x="2286000" y="4267200"/>
            <a:ext cx="4572000" cy="369332"/>
          </a:xfrm>
          <a:prstGeom prst="rect">
            <a:avLst/>
          </a:prstGeom>
        </p:spPr>
        <p:txBody>
          <a:bodyPr>
            <a:spAutoFit/>
          </a:bodyPr>
          <a:lstStyle/>
          <a:p>
            <a:r>
              <a:rPr lang="en-US" b="1" dirty="0" smtClean="0"/>
              <a: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0"/>
            <a:ext cx="5029200" cy="838200"/>
          </a:xfrm>
        </p:spPr>
        <p:txBody>
          <a:bodyPr>
            <a:normAutofit/>
          </a:bodyPr>
          <a:lstStyle/>
          <a:p>
            <a:r>
              <a:rPr lang="en-US" sz="3200" b="1" dirty="0" smtClean="0"/>
              <a:t>Environmental movement</a:t>
            </a:r>
            <a:endParaRPr lang="en-US" sz="3200" b="1" dirty="0"/>
          </a:p>
        </p:txBody>
      </p:sp>
      <p:sp>
        <p:nvSpPr>
          <p:cNvPr id="3" name="Content Placeholder 2"/>
          <p:cNvSpPr>
            <a:spLocks noGrp="1"/>
          </p:cNvSpPr>
          <p:nvPr>
            <p:ph idx="1"/>
          </p:nvPr>
        </p:nvSpPr>
        <p:spPr>
          <a:xfrm>
            <a:off x="0" y="2332037"/>
            <a:ext cx="9144000" cy="4525963"/>
          </a:xfrm>
        </p:spPr>
        <p:txBody>
          <a:bodyPr>
            <a:normAutofit/>
          </a:bodyPr>
          <a:lstStyle/>
          <a:p>
            <a:pPr>
              <a:buNone/>
            </a:pPr>
            <a:endParaRPr lang="en-US" dirty="0" smtClean="0"/>
          </a:p>
          <a:p>
            <a:pPr>
              <a:buNone/>
            </a:pPr>
            <a:endParaRPr lang="en-US" dirty="0" smtClean="0"/>
          </a:p>
          <a:p>
            <a:pPr marL="0" indent="0">
              <a:buNone/>
            </a:pPr>
            <a:r>
              <a:rPr lang="en-US" sz="2400" dirty="0" smtClean="0"/>
              <a:t/>
            </a:r>
            <a:br>
              <a:rPr lang="en-US" sz="2400" dirty="0" smtClean="0"/>
            </a:br>
            <a:r>
              <a:rPr lang="en-US" sz="2400" dirty="0" smtClean="0"/>
              <a:t>Throughout the 1970s and 1980s, brands not only responded to </a:t>
            </a:r>
            <a:r>
              <a:rPr lang="en-US" sz="2400" dirty="0" smtClean="0">
                <a:hlinkClick r:id="rId2"/>
              </a:rPr>
              <a:t>environmental regulations</a:t>
            </a:r>
            <a:r>
              <a:rPr lang="en-US" sz="2400" dirty="0" smtClean="0"/>
              <a:t> but also made voluntary “green” changes. </a:t>
            </a:r>
          </a:p>
          <a:p>
            <a:pPr>
              <a:buNone/>
            </a:pPr>
            <a:endParaRPr lang="en-US" sz="2400" dirty="0" smtClean="0"/>
          </a:p>
          <a:p>
            <a:pPr marL="0" indent="0">
              <a:buNone/>
            </a:pPr>
            <a:r>
              <a:rPr lang="en-US" sz="2400" dirty="0" smtClean="0">
                <a:hlinkClick r:id="rId3"/>
              </a:rPr>
              <a:t>This period produced brands recognized today for their environmental consciousness, such as Whole Foods and Burt’s Bees</a:t>
            </a:r>
            <a:r>
              <a:rPr lang="en-US" sz="2400" dirty="0" smtClean="0"/>
              <a:t>.</a:t>
            </a:r>
          </a:p>
          <a:p>
            <a:endParaRPr lang="en-US" dirty="0"/>
          </a:p>
        </p:txBody>
      </p:sp>
      <p:pic>
        <p:nvPicPr>
          <p:cNvPr id="48130" name="Picture 2" descr="https://res.cloudinary.com/everfi/image/upload/c_scale,w_500,h_357/f_auto,q_auto/v1628518993/rsz_carson_235489b3786.jpg?_i=AA"/>
          <p:cNvPicPr>
            <a:picLocks noChangeAspect="1" noChangeArrowheads="1"/>
          </p:cNvPicPr>
          <p:nvPr/>
        </p:nvPicPr>
        <p:blipFill>
          <a:blip r:embed="rId4"/>
          <a:srcRect/>
          <a:stretch>
            <a:fillRect/>
          </a:stretch>
        </p:blipFill>
        <p:spPr bwMode="auto">
          <a:xfrm>
            <a:off x="0" y="381000"/>
            <a:ext cx="4038600" cy="3352800"/>
          </a:xfrm>
          <a:prstGeom prst="rect">
            <a:avLst/>
          </a:prstGeom>
          <a:noFill/>
        </p:spPr>
      </p:pic>
      <p:sp>
        <p:nvSpPr>
          <p:cNvPr id="6" name="Rectangle 5"/>
          <p:cNvSpPr/>
          <p:nvPr/>
        </p:nvSpPr>
        <p:spPr>
          <a:xfrm>
            <a:off x="4191000" y="914400"/>
            <a:ext cx="4572000" cy="2554545"/>
          </a:xfrm>
          <a:prstGeom prst="rect">
            <a:avLst/>
          </a:prstGeom>
        </p:spPr>
        <p:txBody>
          <a:bodyPr>
            <a:spAutoFit/>
          </a:bodyPr>
          <a:lstStyle/>
          <a:p>
            <a:pPr>
              <a:buNone/>
            </a:pPr>
            <a:r>
              <a:rPr lang="en-US" sz="2000" dirty="0" smtClean="0"/>
              <a:t>Mid-20th century corporations also responded to the nascent environmental movement. </a:t>
            </a:r>
          </a:p>
          <a:p>
            <a:pPr>
              <a:buNone/>
            </a:pPr>
            <a:r>
              <a:rPr lang="en-US" sz="2000" dirty="0" smtClean="0"/>
              <a:t>Books </a:t>
            </a:r>
            <a:r>
              <a:rPr lang="en-US" sz="2000" b="1" dirty="0" smtClean="0"/>
              <a:t>like Rachel Carson’s </a:t>
            </a:r>
            <a:r>
              <a:rPr lang="en-US" sz="2000" b="1" i="1" dirty="0" smtClean="0"/>
              <a:t>Silent Spring </a:t>
            </a:r>
            <a:r>
              <a:rPr lang="en-US" sz="2000" b="1" dirty="0" smtClean="0"/>
              <a:t>(1962) </a:t>
            </a:r>
            <a:r>
              <a:rPr lang="en-US" sz="2000" dirty="0" smtClean="0"/>
              <a:t>and Ralph Nader’s </a:t>
            </a:r>
            <a:r>
              <a:rPr lang="en-US" sz="2000" i="1" dirty="0" smtClean="0"/>
              <a:t>Unsafe at Any Speed </a:t>
            </a:r>
            <a:r>
              <a:rPr lang="en-US" sz="2000" dirty="0" smtClean="0"/>
              <a:t>(1965) highlighted the drawbacks of businesses’ postwar acceleration.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
            </a:r>
            <a:br>
              <a:rPr lang="en-US" dirty="0" smtClean="0"/>
            </a:br>
            <a:r>
              <a:rPr lang="en-US" dirty="0" smtClean="0"/>
              <a:t>Today’s State of CSR</a:t>
            </a:r>
            <a:br>
              <a:rPr lang="en-US" dirty="0" smtClean="0"/>
            </a:br>
            <a:endParaRPr lang="en-US" dirty="0"/>
          </a:p>
        </p:txBody>
      </p:sp>
      <p:sp>
        <p:nvSpPr>
          <p:cNvPr id="3" name="Content Placeholder 2"/>
          <p:cNvSpPr>
            <a:spLocks noGrp="1"/>
          </p:cNvSpPr>
          <p:nvPr>
            <p:ph idx="1"/>
          </p:nvPr>
        </p:nvSpPr>
        <p:spPr>
          <a:xfrm>
            <a:off x="457200" y="1066800"/>
            <a:ext cx="8229600" cy="5059363"/>
          </a:xfrm>
        </p:spPr>
        <p:txBody>
          <a:bodyPr>
            <a:normAutofit fontScale="62500" lnSpcReduction="20000"/>
          </a:bodyPr>
          <a:lstStyle/>
          <a:p>
            <a:pPr marL="0" indent="0">
              <a:buNone/>
            </a:pPr>
            <a:r>
              <a:rPr lang="en-US" dirty="0" smtClean="0"/>
              <a:t>Today’s prevailing corporate social responsibility strategies took shape in the final decades of the 20th century.</a:t>
            </a:r>
            <a:br>
              <a:rPr lang="en-US" dirty="0" smtClean="0"/>
            </a:br>
            <a:r>
              <a:rPr lang="en-US" dirty="0" smtClean="0"/>
              <a:t/>
            </a:r>
            <a:br>
              <a:rPr lang="en-US" dirty="0" smtClean="0"/>
            </a:br>
            <a:r>
              <a:rPr lang="en-US" dirty="0" smtClean="0"/>
              <a:t>CSR took on.</a:t>
            </a:r>
            <a:r>
              <a:rPr lang="en-US" b="1" dirty="0" smtClean="0"/>
              <a:t> a more formal role within corporations of the 1980s</a:t>
            </a:r>
          </a:p>
          <a:p>
            <a:pPr>
              <a:buNone/>
            </a:pPr>
            <a:endParaRPr lang="en-US" b="1" dirty="0" smtClean="0"/>
          </a:p>
          <a:p>
            <a:pPr marL="0" indent="0">
              <a:buNone/>
            </a:pPr>
            <a:r>
              <a:rPr lang="en-US" dirty="0" smtClean="0"/>
              <a:t> Businesses began to earmark resources </a:t>
            </a:r>
            <a:r>
              <a:rPr lang="en-US" b="1" dirty="0" smtClean="0"/>
              <a:t>for dedicated CSR departments and leaders.</a:t>
            </a:r>
          </a:p>
          <a:p>
            <a:pPr>
              <a:buNone/>
            </a:pPr>
            <a:endParaRPr lang="en-US" b="1" dirty="0" smtClean="0"/>
          </a:p>
          <a:p>
            <a:pPr marL="0" indent="0">
              <a:buNone/>
            </a:pPr>
            <a:r>
              <a:rPr lang="en-US" dirty="0" smtClean="0"/>
              <a:t> Over time, executives began to understand that their </a:t>
            </a:r>
            <a:r>
              <a:rPr lang="en-US" u="sng" dirty="0" smtClean="0">
                <a:solidFill>
                  <a:srgbClr val="FF0000"/>
                </a:solidFill>
              </a:rPr>
              <a:t>companies should avoid isolating these departments.</a:t>
            </a:r>
            <a:r>
              <a:rPr lang="en-US" dirty="0" smtClean="0"/>
              <a:t/>
            </a:r>
            <a:br>
              <a:rPr lang="en-US" dirty="0" smtClean="0"/>
            </a:br>
            <a:r>
              <a:rPr lang="en-US" dirty="0" smtClean="0"/>
              <a:t>Leading companies have drawn on CSR principles to inform all manner of organizational decisions. </a:t>
            </a:r>
          </a:p>
          <a:p>
            <a:pPr>
              <a:buNone/>
            </a:pPr>
            <a:endParaRPr lang="en-US" dirty="0" smtClean="0"/>
          </a:p>
          <a:p>
            <a:pPr marL="0" indent="0">
              <a:buNone/>
            </a:pPr>
            <a:r>
              <a:rPr lang="en-US" dirty="0" smtClean="0"/>
              <a:t>Organizations have closely </a:t>
            </a:r>
            <a:r>
              <a:rPr lang="en-US" u="sng" dirty="0" smtClean="0">
                <a:solidFill>
                  <a:srgbClr val="FF0000"/>
                </a:solidFill>
              </a:rPr>
              <a:t>allied CSR with marketing, Public Relations, diversity and inclusion, and human resources. CSR plays a leading role in telling brands’ stories and attracting top talent. More importantly, brands have leveraged CSR to orient their company’s purpose and vision.  </a:t>
            </a:r>
            <a:endParaRPr lang="en-US" u="sng"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a:t>
            </a:r>
            <a:endParaRPr lang="en-US" dirty="0"/>
          </a:p>
        </p:txBody>
      </p:sp>
      <p:sp>
        <p:nvSpPr>
          <p:cNvPr id="3" name="Content Placeholder 2"/>
          <p:cNvSpPr>
            <a:spLocks noGrp="1"/>
          </p:cNvSpPr>
          <p:nvPr>
            <p:ph idx="1"/>
          </p:nvPr>
        </p:nvSpPr>
        <p:spPr/>
        <p:txBody>
          <a:bodyPr/>
          <a:lstStyle/>
          <a:p>
            <a:pPr>
              <a:buNone/>
            </a:pPr>
            <a:r>
              <a:rPr lang="en-US" dirty="0" smtClean="0"/>
              <a:t>  Consensus has emerged that businesses exist to provide value for all stakeholders — customers, employees, suppliers, and the global community, not just shareholders.</a:t>
            </a:r>
          </a:p>
          <a:p>
            <a:pPr>
              <a:buNone/>
            </a:pPr>
            <a:r>
              <a:rPr lang="en-US" dirty="0" smtClean="0"/>
              <a:t>     </a:t>
            </a:r>
            <a:r>
              <a:rPr lang="en-US" dirty="0" smtClean="0">
                <a:hlinkClick r:id="rId2"/>
              </a:rPr>
              <a:t>The Business Roundtable reflected this consensus in its 2019 statement on the purpose of the corporation, which was signed by 181 Fortune 500 CEOs</a:t>
            </a:r>
            <a:r>
              <a:rPr lang="en-US" dirty="0" smtClean="0"/>
              <a:t>.</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hlinkClick r:id="rId2"/>
              </a:rPr>
              <a:t>“Corporate Social Justice.”</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  Harvard Business Review speculates that we are entering an era of </a:t>
            </a:r>
            <a:r>
              <a:rPr lang="en-US" dirty="0" smtClean="0">
                <a:hlinkClick r:id="rId2"/>
              </a:rPr>
              <a:t>“Corporate Social Justice.”</a:t>
            </a:r>
            <a:r>
              <a:rPr lang="en-US" dirty="0" smtClean="0"/>
              <a:t> </a:t>
            </a:r>
          </a:p>
          <a:p>
            <a:pPr>
              <a:buNone/>
            </a:pPr>
            <a:endParaRPr lang="en-US" dirty="0" smtClean="0"/>
          </a:p>
          <a:p>
            <a:pPr>
              <a:buNone/>
            </a:pPr>
            <a:r>
              <a:rPr lang="en-US" dirty="0" smtClean="0"/>
              <a:t>    HBR describes corporate social justice </a:t>
            </a:r>
            <a:r>
              <a:rPr lang="en-US" b="1" dirty="0" smtClean="0"/>
              <a:t>as “a reframing of CSR that centers the focus of any initiative or program on the measurable, lived experiences of groups harmed and disadvantaged by society</a:t>
            </a:r>
            <a:r>
              <a:rPr lang="en-US" dirty="0" smtClean="0"/>
              <a:t>.” </a:t>
            </a:r>
          </a:p>
          <a:p>
            <a:pPr>
              <a:buNone/>
            </a:pPr>
            <a:endParaRPr lang="en-US" dirty="0" smtClean="0"/>
          </a:p>
          <a:p>
            <a:pPr>
              <a:buNone/>
            </a:pPr>
            <a:r>
              <a:rPr lang="en-US" dirty="0" smtClean="0"/>
              <a:t>     Corporate social justice requires “</a:t>
            </a:r>
            <a:r>
              <a:rPr lang="en-US" u="sng" dirty="0" smtClean="0">
                <a:solidFill>
                  <a:srgbClr val="C00000"/>
                </a:solidFill>
              </a:rPr>
              <a:t>deep integration” with all of a business’s core functions</a:t>
            </a:r>
            <a:r>
              <a:rPr lang="en-US" dirty="0" smtClean="0"/>
              <a: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Global Change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Customers and employees have similarly raised the bar with respect to sustainability.</a:t>
            </a:r>
          </a:p>
          <a:p>
            <a:endParaRPr lang="en-US" dirty="0" smtClean="0"/>
          </a:p>
          <a:p>
            <a:r>
              <a:rPr lang="en-US" dirty="0" smtClean="0"/>
              <a:t> </a:t>
            </a:r>
            <a:r>
              <a:rPr lang="en-US" b="1" dirty="0" smtClean="0"/>
              <a:t>Leading sustainability practices have already shifted focus from minimizing local harm to reversing global climate change. </a:t>
            </a:r>
          </a:p>
          <a:p>
            <a:endParaRPr lang="en-US" b="1" dirty="0" smtClean="0"/>
          </a:p>
          <a:p>
            <a:r>
              <a:rPr lang="en-US" dirty="0" smtClean="0"/>
              <a:t>Enterprising organizations like </a:t>
            </a:r>
            <a:r>
              <a:rPr lang="en-US" dirty="0" err="1" smtClean="0">
                <a:hlinkClick r:id="rId2"/>
              </a:rPr>
              <a:t>Terrapass</a:t>
            </a:r>
            <a:r>
              <a:rPr lang="en-US" dirty="0" smtClean="0"/>
              <a:t> will help companies go from carbon-neutral to carbon-negative. An accredited and independent </a:t>
            </a:r>
            <a:r>
              <a:rPr lang="en-US" dirty="0" smtClean="0">
                <a:solidFill>
                  <a:srgbClr val="FF0000"/>
                </a:solidFill>
              </a:rPr>
              <a:t>(accounting </a:t>
            </a:r>
            <a:r>
              <a:rPr lang="en-US" b="1" dirty="0" smtClean="0">
                <a:solidFill>
                  <a:srgbClr val="FF0000"/>
                </a:solidFill>
              </a:rPr>
              <a:t>firm</a:t>
            </a:r>
            <a:r>
              <a:rPr lang="en-US" dirty="0" smtClean="0">
                <a:solidFill>
                  <a:srgbClr val="FF0000"/>
                </a:solidFill>
              </a:rPr>
              <a:t> verifies that we are realizing the exact number of emissions reductions)</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6019800"/>
          </a:xfrm>
        </p:spPr>
        <p:txBody>
          <a:bodyPr>
            <a:normAutofit/>
          </a:bodyPr>
          <a:lstStyle/>
          <a:p>
            <a:r>
              <a:rPr lang="en-US" dirty="0" smtClean="0"/>
              <a:t>Companies are starting to care more about corporate social responsibility (CSR). </a:t>
            </a:r>
          </a:p>
          <a:p>
            <a:endParaRPr lang="en-US" dirty="0" smtClean="0"/>
          </a:p>
          <a:p>
            <a:r>
              <a:rPr lang="en-US" dirty="0" smtClean="0"/>
              <a:t>Among the largest 250 companies in the world, </a:t>
            </a:r>
            <a:r>
              <a:rPr lang="en-US" dirty="0" smtClean="0">
                <a:solidFill>
                  <a:srgbClr val="FF0000"/>
                </a:solidFill>
                <a:hlinkClick r:id="rId3"/>
              </a:rPr>
              <a:t>92% produced a CSR report</a:t>
            </a:r>
            <a:r>
              <a:rPr lang="en-US" dirty="0" smtClean="0"/>
              <a:t> in 2015, informing shareholders and the public about the firm’s activities. </a:t>
            </a:r>
          </a:p>
          <a:p>
            <a:endParaRPr lang="en-US" dirty="0" smtClean="0"/>
          </a:p>
          <a:p>
            <a:r>
              <a:rPr lang="en-US" dirty="0" smtClean="0"/>
              <a:t>That’s up from 64% having such a report in 2005. Today, Fortune Global 500 firms spend around </a:t>
            </a:r>
            <a:r>
              <a:rPr lang="en-US" dirty="0" smtClean="0">
                <a:hlinkClick r:id="rId4"/>
              </a:rPr>
              <a:t>$20 billion a year on CSR activities</a:t>
            </a:r>
            <a:r>
              <a:rPr lang="en-US" dirty="0" smtClean="0"/>
              <a:t>.</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s://www.responsenet.org/wp-content/uploads/2019/07/ResponsenetSustianbleDevelopmentGoalsIndiaCorporateSocialResponsibilty-CSRSDGIndia-1-1024x791.png"/>
          <p:cNvPicPr>
            <a:picLocks noChangeAspect="1" noChangeArrowheads="1"/>
          </p:cNvPicPr>
          <p:nvPr/>
        </p:nvPicPr>
        <p:blipFill>
          <a:blip r:embed="rId2"/>
          <a:srcRect/>
          <a:stretch>
            <a:fillRect/>
          </a:stretch>
        </p:blipFill>
        <p:spPr bwMode="auto">
          <a:xfrm>
            <a:off x="0" y="0"/>
            <a:ext cx="9144000" cy="7534276"/>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381000"/>
            <a:ext cx="8839199" cy="6172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228600"/>
            <a:ext cx="9143999"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srcRect/>
          <a:stretch>
            <a:fillRect/>
          </a:stretch>
        </p:blipFill>
        <p:spPr bwMode="auto">
          <a:xfrm>
            <a:off x="304800" y="0"/>
            <a:ext cx="8153400" cy="647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volution of corporate social responsibility practices  "/>
          <p:cNvPicPr>
            <a:picLocks noChangeAspect="1" noChangeArrowheads="1"/>
          </p:cNvPicPr>
          <p:nvPr/>
        </p:nvPicPr>
        <p:blipFill>
          <a:blip r:embed="rId2"/>
          <a:srcRect/>
          <a:stretch>
            <a:fillRect/>
          </a:stretch>
        </p:blipFill>
        <p:spPr bwMode="auto">
          <a:xfrm>
            <a:off x="1676400" y="228600"/>
            <a:ext cx="6248400" cy="6324600"/>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sz="2400" dirty="0" smtClean="0"/>
              <a:t>The origins of the social component in corporate behavior can be traced back to the </a:t>
            </a:r>
            <a:r>
              <a:rPr lang="en-US" sz="2400" b="1" u="sng" dirty="0" smtClean="0"/>
              <a:t>ancient Roman Laws and can be seen in entities such as asylums, homes for the poor and old, hospitals and orphanages.</a:t>
            </a:r>
          </a:p>
          <a:p>
            <a:endParaRPr lang="en-US" sz="2400" b="1" u="sng" dirty="0" smtClean="0"/>
          </a:p>
          <a:p>
            <a:r>
              <a:rPr lang="en-US" sz="2400" dirty="0" smtClean="0"/>
              <a:t>This notion of corporations as social enterprises was carried on with the English Law during the Middle Ages in academic, municipal and religious institutions. </a:t>
            </a:r>
          </a:p>
          <a:p>
            <a:endParaRPr lang="en-US" sz="2400" dirty="0" smtClean="0"/>
          </a:p>
          <a:p>
            <a:r>
              <a:rPr lang="en-US" sz="2400" dirty="0" smtClean="0"/>
              <a:t>Later, it expanded into the sixteenth and seventeenth centuries with the influence of the </a:t>
            </a:r>
            <a:r>
              <a:rPr lang="en-US" sz="2400" b="1" dirty="0" smtClean="0"/>
              <a:t>English Crown, which saw corporations as an instrument for social development.</a:t>
            </a:r>
          </a:p>
          <a:p>
            <a:endParaRPr lang="en-US" sz="2400" b="1" dirty="0" smtClean="0"/>
          </a:p>
          <a:p>
            <a:r>
              <a:rPr lang="en-US" sz="2400" dirty="0" smtClean="0"/>
              <a:t>In the following centuries, </a:t>
            </a:r>
            <a:r>
              <a:rPr lang="en-US" sz="2400" b="1" dirty="0" smtClean="0"/>
              <a:t>with the expansion of the English Empire and the conquering of new lands, the English Crown exported its corporate law to its American colonies where corporations played a social function to a certain extent</a:t>
            </a:r>
            <a:endParaRPr lang="en-US" sz="2400" b="1" dirty="0"/>
          </a:p>
        </p:txBody>
      </p:sp>
      <p:sp>
        <p:nvSpPr>
          <p:cNvPr id="4" name="Rectangle 3"/>
          <p:cNvSpPr/>
          <p:nvPr/>
        </p:nvSpPr>
        <p:spPr>
          <a:xfrm>
            <a:off x="1828800" y="0"/>
            <a:ext cx="5839612" cy="523220"/>
          </a:xfrm>
          <a:prstGeom prst="rect">
            <a:avLst/>
          </a:prstGeom>
        </p:spPr>
        <p:txBody>
          <a:bodyPr wrap="none">
            <a:spAutoFit/>
          </a:bodyPr>
          <a:lstStyle/>
          <a:p>
            <a:r>
              <a:rPr lang="en-US" sz="2800" b="1" dirty="0" smtClean="0"/>
              <a:t>Historical roots of social responsibility</a:t>
            </a:r>
            <a:endParaRPr lang="en-US" sz="2800"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Looking at History: Philanthrop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srcRect/>
          <a:stretch>
            <a:fillRect/>
          </a:stretch>
        </p:blipFill>
        <p:spPr bwMode="auto">
          <a:xfrm>
            <a:off x="914400" y="533400"/>
            <a:ext cx="6477000"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411162"/>
          </a:xfrm>
        </p:spPr>
        <p:txBody>
          <a:bodyPr>
            <a:normAutofit fontScale="90000"/>
          </a:bodyPr>
          <a:lstStyle/>
          <a:p>
            <a:r>
              <a:rPr lang="en-US" sz="3100" b="1" dirty="0" smtClean="0"/>
              <a:t/>
            </a:r>
            <a:br>
              <a:rPr lang="en-US" sz="3100" b="1" dirty="0" smtClean="0"/>
            </a:br>
            <a:r>
              <a:rPr lang="en-US" sz="3100" b="1" dirty="0" smtClean="0"/>
              <a:t>Historical roots of social responsibility </a:t>
            </a:r>
            <a:r>
              <a:rPr lang="en-US" sz="3100" b="1" dirty="0" err="1" smtClean="0"/>
              <a:t>contd</a:t>
            </a:r>
            <a:r>
              <a:rPr lang="en-US" b="1" dirty="0" smtClean="0"/>
              <a:t>…</a:t>
            </a:r>
            <a:br>
              <a:rPr lang="en-US" b="1" dirty="0" smtClean="0"/>
            </a:br>
            <a:endParaRPr lang="en-US" dirty="0"/>
          </a:p>
        </p:txBody>
      </p:sp>
      <p:sp>
        <p:nvSpPr>
          <p:cNvPr id="3" name="Content Placeholder 2"/>
          <p:cNvSpPr>
            <a:spLocks noGrp="1"/>
          </p:cNvSpPr>
          <p:nvPr>
            <p:ph idx="1"/>
          </p:nvPr>
        </p:nvSpPr>
        <p:spPr>
          <a:xfrm>
            <a:off x="228600" y="990600"/>
            <a:ext cx="8534400" cy="5592763"/>
          </a:xfrm>
        </p:spPr>
        <p:txBody>
          <a:bodyPr>
            <a:normAutofit fontScale="85000" lnSpcReduction="20000"/>
          </a:bodyPr>
          <a:lstStyle/>
          <a:p>
            <a:pPr marL="0" indent="0">
              <a:buNone/>
            </a:pPr>
            <a:r>
              <a:rPr lang="en-US" sz="2800" dirty="0" smtClean="0"/>
              <a:t>During the eighteenth and nineteenth centuries, the </a:t>
            </a:r>
            <a:r>
              <a:rPr lang="en-US" sz="2800" u="sng" dirty="0" smtClean="0"/>
              <a:t>Christian religious philosophy and approach to the abiding social context were seen as a response to the moral failure of society, which was visible in terms of poverty of the overall population in the English Empire and some parts of Europe</a:t>
            </a:r>
            <a:r>
              <a:rPr lang="en-US" sz="2800" dirty="0" smtClean="0"/>
              <a:t>.</a:t>
            </a:r>
          </a:p>
          <a:p>
            <a:pPr>
              <a:buNone/>
            </a:pPr>
            <a:endParaRPr lang="en-US" sz="2800" dirty="0" smtClean="0"/>
          </a:p>
          <a:p>
            <a:pPr marL="0" indent="0">
              <a:buNone/>
            </a:pPr>
            <a:r>
              <a:rPr lang="en-US" sz="2800" dirty="0" smtClean="0"/>
              <a:t>This religious approach gave way to </a:t>
            </a:r>
            <a:r>
              <a:rPr lang="en-US" sz="2800" b="1" u="sng" dirty="0" smtClean="0"/>
              <a:t>social reforms and to the Victorian philanthropy which perceived a series of social problems revolving around poverty and ignorance as well as child and female labor.</a:t>
            </a:r>
          </a:p>
          <a:p>
            <a:pPr>
              <a:buNone/>
            </a:pPr>
            <a:endParaRPr lang="en-US" sz="2800" dirty="0" smtClean="0"/>
          </a:p>
          <a:p>
            <a:pPr marL="0" indent="0">
              <a:buNone/>
            </a:pPr>
            <a:r>
              <a:rPr lang="en-US" sz="2800" dirty="0" smtClean="0"/>
              <a:t> The religious roots of the Victorian social conscience gave Victorian Philanthropists a high level of idealism and humanism, and by the late 1800’s</a:t>
            </a:r>
            <a:r>
              <a:rPr lang="en-US" sz="2800" b="1" dirty="0" smtClean="0"/>
              <a:t>, the philanthropic efforts focused on the working class and the creation of welfare schemes with examples that could be seen in practice both in Europe as in the United States of America.</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b="1" dirty="0" smtClean="0"/>
              <a:t>Quality of life-Employees</a:t>
            </a:r>
            <a:endParaRPr lang="en-US" dirty="0"/>
          </a:p>
        </p:txBody>
      </p:sp>
      <p:sp>
        <p:nvSpPr>
          <p:cNvPr id="5" name="Rectangle 4"/>
          <p:cNvSpPr/>
          <p:nvPr/>
        </p:nvSpPr>
        <p:spPr>
          <a:xfrm>
            <a:off x="381000" y="1371600"/>
            <a:ext cx="8534400" cy="4893647"/>
          </a:xfrm>
          <a:prstGeom prst="rect">
            <a:avLst/>
          </a:prstGeom>
        </p:spPr>
        <p:txBody>
          <a:bodyPr wrap="square">
            <a:spAutoFit/>
          </a:bodyPr>
          <a:lstStyle/>
          <a:p>
            <a:r>
              <a:rPr lang="en-US" sz="2400" dirty="0" smtClean="0"/>
              <a:t>During the late 1800’s and early 1900’s, the creation of welfare schemes took a </a:t>
            </a:r>
            <a:r>
              <a:rPr lang="en-US" sz="2400" b="1" dirty="0" smtClean="0"/>
              <a:t>paternalistic approach aimed at protecting and retaining employees and some companies even looked into improving their quality of life.</a:t>
            </a:r>
          </a:p>
          <a:p>
            <a:endParaRPr lang="en-US" sz="2400" dirty="0" smtClean="0"/>
          </a:p>
          <a:p>
            <a:r>
              <a:rPr lang="en-US" sz="2400" dirty="0" smtClean="0"/>
              <a:t>There were clear examples that reflected the </a:t>
            </a:r>
            <a:r>
              <a:rPr lang="en-US" sz="2400" u="sng" dirty="0" smtClean="0">
                <a:solidFill>
                  <a:srgbClr val="FF0000"/>
                </a:solidFill>
              </a:rPr>
              <a:t>social sensitivity of businessmen,</a:t>
            </a:r>
            <a:r>
              <a:rPr lang="en-US" sz="2400" dirty="0" smtClean="0"/>
              <a:t> such as the case of Macy’s in the USA, which in 1875 </a:t>
            </a:r>
            <a:r>
              <a:rPr lang="en-US" sz="2400" b="1" dirty="0" smtClean="0"/>
              <a:t>contributed funds to an orphan asylum and by 1887 labeled their charity donations as Miscellaneous Expenses </a:t>
            </a:r>
            <a:r>
              <a:rPr lang="en-US" sz="2400" dirty="0" smtClean="0"/>
              <a:t>within their accounting books, and the case of </a:t>
            </a:r>
            <a:r>
              <a:rPr lang="en-US" sz="2400" b="1" u="sng" dirty="0" smtClean="0"/>
              <a:t>Pullman Palace Car Company which created a model industrial community in 1893 with the aim of improving the quality of life of its employees.</a:t>
            </a:r>
          </a:p>
          <a:p>
            <a:endParaRPr lang="en-US" sz="2400" b="1" u="sng"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pPr algn="l"/>
            <a:r>
              <a:rPr lang="en-US" sz="3200" b="1" u="sng" dirty="0" smtClean="0"/>
              <a:t>Growing level of urbanization and industrialization</a:t>
            </a:r>
            <a:endParaRPr lang="en-US" sz="3200" dirty="0"/>
          </a:p>
        </p:txBody>
      </p:sp>
      <p:sp>
        <p:nvSpPr>
          <p:cNvPr id="3" name="Content Placeholder 2"/>
          <p:cNvSpPr>
            <a:spLocks noGrp="1"/>
          </p:cNvSpPr>
          <p:nvPr>
            <p:ph idx="1"/>
          </p:nvPr>
        </p:nvSpPr>
        <p:spPr/>
        <p:txBody>
          <a:bodyPr>
            <a:normAutofit fontScale="70000" lnSpcReduction="20000"/>
          </a:bodyPr>
          <a:lstStyle/>
          <a:p>
            <a:r>
              <a:rPr lang="en-US" sz="3100" dirty="0" smtClean="0"/>
              <a:t>During this period, there was a </a:t>
            </a:r>
            <a:r>
              <a:rPr lang="en-US" sz="3100" b="1" u="sng" dirty="0" smtClean="0"/>
              <a:t>growing level of urbanization and industrialization</a:t>
            </a:r>
            <a:r>
              <a:rPr lang="en-US" sz="3100" dirty="0" smtClean="0"/>
              <a:t> marked by </a:t>
            </a:r>
            <a:r>
              <a:rPr lang="en-US" sz="3100" b="1" dirty="0" smtClean="0"/>
              <a:t>large-scale production</a:t>
            </a:r>
            <a:r>
              <a:rPr lang="en-US" sz="3100" dirty="0" smtClean="0"/>
              <a:t>. </a:t>
            </a:r>
          </a:p>
          <a:p>
            <a:endParaRPr lang="en-US" sz="3100" dirty="0" smtClean="0"/>
          </a:p>
          <a:p>
            <a:r>
              <a:rPr lang="en-US" sz="3100" dirty="0" smtClean="0"/>
              <a:t>This brought </a:t>
            </a:r>
            <a:r>
              <a:rPr lang="en-US" sz="3100" b="1" dirty="0" smtClean="0"/>
              <a:t>new concerns </a:t>
            </a:r>
            <a:r>
              <a:rPr lang="en-US" sz="3100" dirty="0" smtClean="0"/>
              <a:t>to the labor market such as: new challenges for farmers and smalls corporations to keep up with the new interdependent economy, the </a:t>
            </a:r>
            <a:r>
              <a:rPr lang="en-US" sz="3100" b="1" dirty="0" smtClean="0"/>
              <a:t>creation of unions of workers </a:t>
            </a:r>
            <a:r>
              <a:rPr lang="en-US" sz="3100" dirty="0" smtClean="0"/>
              <a:t>looking for </a:t>
            </a:r>
            <a:r>
              <a:rPr lang="en-US" sz="3100" b="1" dirty="0" smtClean="0"/>
              <a:t>better working conditions, and a middle class worried for the loss of religious and family values in the new industrial society .</a:t>
            </a:r>
          </a:p>
          <a:p>
            <a:pPr>
              <a:buNone/>
            </a:pPr>
            <a:endParaRPr lang="en-US" sz="3100" b="1" dirty="0" smtClean="0"/>
          </a:p>
          <a:p>
            <a:r>
              <a:rPr lang="en-US" sz="3100" dirty="0" smtClean="0"/>
              <a:t>As a response to these new challenges, and with the aim of finding harmony between the industry and the working force, </a:t>
            </a:r>
            <a:r>
              <a:rPr lang="en-US" sz="3100" b="1" dirty="0" smtClean="0"/>
              <a:t>some business leaders created organizations for the promotion of values and improvement of the working conditions</a:t>
            </a:r>
            <a:r>
              <a:rPr lang="en-US" sz="3100" dirty="0" smtClean="0"/>
              <a:t>. </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r>
              <a:rPr lang="en-US" sz="3200" b="1" dirty="0" smtClean="0"/>
              <a:t>CSR-</a:t>
            </a:r>
            <a:r>
              <a:rPr lang="en-US" sz="3200" dirty="0" smtClean="0"/>
              <a:t> </a:t>
            </a:r>
            <a:r>
              <a:rPr lang="en-US" sz="3200" b="1" dirty="0" smtClean="0"/>
              <a:t>the early Charitable Impulse</a:t>
            </a:r>
            <a:endParaRPr lang="en-US" sz="3200" b="1" dirty="0"/>
          </a:p>
        </p:txBody>
      </p:sp>
      <p:sp>
        <p:nvSpPr>
          <p:cNvPr id="3" name="Content Placeholder 2"/>
          <p:cNvSpPr>
            <a:spLocks noGrp="1"/>
          </p:cNvSpPr>
          <p:nvPr>
            <p:ph idx="1"/>
          </p:nvPr>
        </p:nvSpPr>
        <p:spPr>
          <a:xfrm>
            <a:off x="0" y="685800"/>
            <a:ext cx="8686800" cy="6172200"/>
          </a:xfrm>
        </p:spPr>
        <p:txBody>
          <a:bodyPr/>
          <a:lstStyle/>
          <a:p>
            <a:pPr>
              <a:buNone/>
            </a:pPr>
            <a:r>
              <a:rPr lang="en-US" sz="2400" b="1" dirty="0" smtClean="0"/>
              <a:t>Checkbook Philanthropy</a:t>
            </a:r>
          </a:p>
          <a:p>
            <a:pPr marL="0" indent="0">
              <a:buNone/>
            </a:pPr>
            <a:r>
              <a:rPr lang="en-US" sz="2400" dirty="0" smtClean="0"/>
              <a:t>A traditional passive form of Corporate Philanthropy characterized  by donations to multiple worthy causes  without any relationship to business strategy.</a:t>
            </a:r>
          </a:p>
          <a:p>
            <a:pPr marL="0" indent="0">
              <a:buNone/>
            </a:pPr>
            <a:endParaRPr lang="en-US" sz="2400" dirty="0" smtClean="0"/>
          </a:p>
          <a:p>
            <a:pPr marL="0" indent="0">
              <a:buNone/>
            </a:pPr>
            <a:r>
              <a:rPr lang="en-US" sz="2400" dirty="0" smtClean="0"/>
              <a:t>Charity by owners  continued in the early 19</a:t>
            </a:r>
            <a:r>
              <a:rPr lang="en-US" sz="2400" baseline="30000" dirty="0" smtClean="0"/>
              <a:t>th</a:t>
            </a:r>
            <a:r>
              <a:rPr lang="en-US" sz="2400" dirty="0" smtClean="0"/>
              <a:t> century. Mostly, new millionaires endowed social causes as individuals, not through companies.</a:t>
            </a:r>
          </a:p>
          <a:p>
            <a:pPr marL="0" indent="0">
              <a:buNone/>
            </a:pPr>
            <a:endParaRPr lang="en-US" sz="2400" dirty="0" smtClean="0"/>
          </a:p>
          <a:p>
            <a:pPr marL="0" indent="0">
              <a:buNone/>
            </a:pPr>
            <a:r>
              <a:rPr lang="en-US" sz="2400" dirty="0" smtClean="0"/>
              <a:t>  Andrew Carnegie gave $350 mn. During his life to social causes, built 2,811 public libraries.</a:t>
            </a:r>
          </a:p>
          <a:p>
            <a:pPr marL="0" indent="0">
              <a:buNone/>
            </a:pPr>
            <a:endParaRPr lang="en-US" sz="2400" dirty="0" smtClean="0"/>
          </a:p>
          <a:p>
            <a:pPr marL="0" indent="0">
              <a:buNone/>
            </a:pPr>
            <a:r>
              <a:rPr lang="en-US" sz="2400" u="sng" dirty="0" smtClean="0"/>
              <a:t>He wrote a famous article” </a:t>
            </a:r>
            <a:r>
              <a:rPr lang="en-US" sz="2400" b="1" u="sng" dirty="0" smtClean="0"/>
              <a:t>The Disgrace of Dying rich</a:t>
            </a:r>
            <a:r>
              <a:rPr lang="en-US" sz="2400" u="sng" dirty="0" smtClean="0"/>
              <a:t>” argued that this was the duty of wealthy man to consider all surplus revenues as trust funds </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AutoShape 2" descr="Andrew Carnegie Quote: The man who dies rich, dies disgrace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0" name="AutoShape 4" descr="Andrew Carnegie Quote: The man who dies rich, dies disgrace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2" name="AutoShape 6" descr="Andrew Carnegie quote: The man who dies rich, dies disgrace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4" name="AutoShape 8" descr="Andrew Carnegie quote: The man who dies rich, dies disgrace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5305" name="Picture 9"/>
          <p:cNvPicPr>
            <a:picLocks noChangeAspect="1" noChangeArrowheads="1"/>
          </p:cNvPicPr>
          <p:nvPr/>
        </p:nvPicPr>
        <p:blipFill>
          <a:blip r:embed="rId2"/>
          <a:srcRect/>
          <a:stretch>
            <a:fillRect/>
          </a:stretch>
        </p:blipFill>
        <p:spPr bwMode="auto">
          <a:xfrm>
            <a:off x="0" y="381000"/>
            <a:ext cx="3505200" cy="3733800"/>
          </a:xfrm>
          <a:prstGeom prst="rect">
            <a:avLst/>
          </a:prstGeom>
          <a:noFill/>
          <a:ln w="9525">
            <a:noFill/>
            <a:miter lim="800000"/>
            <a:headEnd/>
            <a:tailEnd/>
          </a:ln>
          <a:effectLst/>
        </p:spPr>
      </p:pic>
      <p:sp>
        <p:nvSpPr>
          <p:cNvPr id="9" name="Rectangle 8"/>
          <p:cNvSpPr/>
          <p:nvPr/>
        </p:nvSpPr>
        <p:spPr>
          <a:xfrm>
            <a:off x="3505200" y="304800"/>
            <a:ext cx="5638800" cy="6001643"/>
          </a:xfrm>
          <a:prstGeom prst="rect">
            <a:avLst/>
          </a:prstGeom>
        </p:spPr>
        <p:txBody>
          <a:bodyPr wrap="square">
            <a:spAutoFit/>
          </a:bodyPr>
          <a:lstStyle/>
          <a:p>
            <a:r>
              <a:rPr lang="en-US" sz="2400" dirty="0"/>
              <a:t>In an 1889 essay, steel magnate Carnegie told his fellow business leaders, </a:t>
            </a:r>
            <a:r>
              <a:rPr lang="en-US" sz="2400" b="1" dirty="0"/>
              <a:t>"The man who dies thus rich dies disgraced</a:t>
            </a:r>
            <a:r>
              <a:rPr lang="en-US" sz="2400" dirty="0"/>
              <a:t>." Carnegie believed that the wealthy should repay their debt to society. </a:t>
            </a:r>
            <a:endParaRPr lang="en-US" sz="2400" dirty="0" smtClean="0"/>
          </a:p>
          <a:p>
            <a:r>
              <a:rPr lang="en-US" sz="2400" dirty="0" smtClean="0"/>
              <a:t>True </a:t>
            </a:r>
            <a:r>
              <a:rPr lang="en-US" sz="2400" dirty="0"/>
              <a:t>to his beliefs, </a:t>
            </a:r>
            <a:r>
              <a:rPr lang="en-US" sz="2400" b="1" dirty="0"/>
              <a:t>by his death in 1919 he had divested himself of more than 95 percent of his fortune</a:t>
            </a:r>
            <a:r>
              <a:rPr lang="en-US" sz="2400" b="1" dirty="0" smtClean="0"/>
              <a:t>.</a:t>
            </a:r>
            <a:r>
              <a:rPr lang="en-US" sz="2400" u="sng" dirty="0" smtClean="0"/>
              <a:t>.</a:t>
            </a:r>
          </a:p>
          <a:p>
            <a:pPr>
              <a:buFont typeface="Arial" pitchFamily="34" charset="0"/>
              <a:buChar char="•"/>
            </a:pPr>
            <a:r>
              <a:rPr lang="en-US" sz="2400" dirty="0" smtClean="0"/>
              <a:t> </a:t>
            </a:r>
            <a:r>
              <a:rPr lang="en-US" sz="2400" dirty="0"/>
              <a:t>He provided pensions for professors at universities that agreed to meet strict academic standards. </a:t>
            </a:r>
            <a:endParaRPr lang="en-US" sz="2400" dirty="0" smtClean="0"/>
          </a:p>
          <a:p>
            <a:endParaRPr lang="en-US" sz="2400" dirty="0" smtClean="0"/>
          </a:p>
          <a:p>
            <a:pPr>
              <a:buFont typeface="Arial" pitchFamily="34" charset="0"/>
              <a:buChar char="•"/>
            </a:pPr>
            <a:r>
              <a:rPr lang="en-US" sz="2400" dirty="0" smtClean="0"/>
              <a:t>In </a:t>
            </a:r>
            <a:r>
              <a:rPr lang="en-US" sz="2400" dirty="0"/>
              <a:t>addition to funding music halls, outdoor swimming pools, and church organs, he also set up endowments to promote teaching and world peace</a:t>
            </a:r>
            <a:r>
              <a:rPr lang="en-US" dirty="0"/>
              <a:t>.</a:t>
            </a:r>
          </a:p>
        </p:txBody>
      </p:sp>
      <p:sp>
        <p:nvSpPr>
          <p:cNvPr id="10" name="Rectangle 9"/>
          <p:cNvSpPr/>
          <p:nvPr/>
        </p:nvSpPr>
        <p:spPr>
          <a:xfrm>
            <a:off x="0" y="4267200"/>
            <a:ext cx="3276600" cy="2677656"/>
          </a:xfrm>
          <a:prstGeom prst="rect">
            <a:avLst/>
          </a:prstGeom>
        </p:spPr>
        <p:txBody>
          <a:bodyPr wrap="square">
            <a:spAutoFit/>
          </a:bodyPr>
          <a:lstStyle/>
          <a:p>
            <a:r>
              <a:rPr lang="en-US" sz="2400" dirty="0" smtClean="0"/>
              <a:t>He built a </a:t>
            </a:r>
            <a:r>
              <a:rPr lang="en-US" sz="2400" u="sng" dirty="0" smtClean="0"/>
              <a:t>library building for any town that would provide a site, stock the building with books, and guarantee maintenance expenses</a:t>
            </a:r>
            <a:endParaRPr lang="en-US" sz="2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Strategic Philanthropy</a:t>
            </a:r>
            <a:endParaRPr lang="en-US" dirty="0"/>
          </a:p>
        </p:txBody>
      </p:sp>
      <p:sp>
        <p:nvSpPr>
          <p:cNvPr id="3" name="Content Placeholder 2"/>
          <p:cNvSpPr>
            <a:spLocks noGrp="1"/>
          </p:cNvSpPr>
          <p:nvPr>
            <p:ph idx="1"/>
          </p:nvPr>
        </p:nvSpPr>
        <p:spPr>
          <a:xfrm>
            <a:off x="152400" y="1600200"/>
            <a:ext cx="8763000" cy="5029200"/>
          </a:xfrm>
        </p:spPr>
        <p:txBody>
          <a:bodyPr>
            <a:normAutofit fontScale="92500" lnSpcReduction="20000"/>
          </a:bodyPr>
          <a:lstStyle/>
          <a:p>
            <a:r>
              <a:rPr lang="en-US" sz="2600" dirty="0" smtClean="0"/>
              <a:t>A form of Corporate philanthropy in which  charitable activities reinforce strategic business goals.</a:t>
            </a:r>
          </a:p>
          <a:p>
            <a:endParaRPr lang="en-US" sz="2600" dirty="0" smtClean="0"/>
          </a:p>
          <a:p>
            <a:r>
              <a:rPr lang="en-US" sz="2600" dirty="0" smtClean="0"/>
              <a:t>E.g. Mattel donated $25 mn. To put it’s name on the children’s hospital  now called Mattel’s Children Hospital.</a:t>
            </a:r>
          </a:p>
          <a:p>
            <a:endParaRPr lang="en-US" sz="2600" dirty="0" smtClean="0"/>
          </a:p>
          <a:p>
            <a:r>
              <a:rPr lang="en-US" sz="2600" dirty="0" smtClean="0"/>
              <a:t>The co. has no role in running the hospital, although it gives toys to patients.</a:t>
            </a:r>
          </a:p>
          <a:p>
            <a:endParaRPr lang="en-US" sz="2600" dirty="0" smtClean="0"/>
          </a:p>
          <a:p>
            <a:r>
              <a:rPr lang="en-US" sz="2600" dirty="0" smtClean="0"/>
              <a:t>Adding the co. name adds to the brand recognition  &amp; contributes to compassionate Corporate image  among toy buyers.</a:t>
            </a:r>
          </a:p>
          <a:p>
            <a:endParaRPr lang="en-US" sz="2600" dirty="0" smtClean="0"/>
          </a:p>
          <a:p>
            <a:r>
              <a:rPr lang="en-US" sz="2600" dirty="0" smtClean="0"/>
              <a:t>These benefits reinforce the commercial goals of a toy co. while also helping sick children. </a:t>
            </a:r>
          </a:p>
          <a:p>
            <a:endParaRPr 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pPr algn="l"/>
            <a:r>
              <a:rPr lang="en-US" sz="3200" b="1" dirty="0" smtClean="0"/>
              <a:t>Porter &amp; Kramer ‘Strategy and society: The link between competitive advantage and corporate social responsibility’. </a:t>
            </a:r>
            <a:endParaRPr lang="en-US" sz="3200" b="1" dirty="0"/>
          </a:p>
        </p:txBody>
      </p:sp>
      <p:sp>
        <p:nvSpPr>
          <p:cNvPr id="4" name="Rectangle 3"/>
          <p:cNvSpPr/>
          <p:nvPr/>
        </p:nvSpPr>
        <p:spPr>
          <a:xfrm>
            <a:off x="2286000" y="2413338"/>
            <a:ext cx="4572000" cy="923330"/>
          </a:xfrm>
          <a:prstGeom prst="rect">
            <a:avLst/>
          </a:prstGeom>
        </p:spPr>
        <p:txBody>
          <a:bodyPr>
            <a:spAutoFit/>
          </a:bodyPr>
          <a:lstStyle/>
          <a:p>
            <a:r>
              <a:rPr lang="en-US" dirty="0" smtClean="0"/>
              <a:t>.</a:t>
            </a:r>
          </a:p>
          <a:p>
            <a:r>
              <a:rPr lang="en-US" dirty="0" smtClean="0"/>
              <a:t/>
            </a:r>
            <a:br>
              <a:rPr lang="en-US" dirty="0" smtClean="0"/>
            </a:br>
            <a:endParaRPr lang="en-US" dirty="0"/>
          </a:p>
        </p:txBody>
      </p:sp>
      <p:sp>
        <p:nvSpPr>
          <p:cNvPr id="5" name="Rectangle 4"/>
          <p:cNvSpPr/>
          <p:nvPr/>
        </p:nvSpPr>
        <p:spPr>
          <a:xfrm>
            <a:off x="457200" y="1828800"/>
            <a:ext cx="8458200" cy="4462760"/>
          </a:xfrm>
          <a:prstGeom prst="rect">
            <a:avLst/>
          </a:prstGeom>
        </p:spPr>
        <p:txBody>
          <a:bodyPr wrap="square">
            <a:spAutoFit/>
          </a:bodyPr>
          <a:lstStyle/>
          <a:p>
            <a:endParaRPr lang="en-US" sz="2000" dirty="0" smtClean="0"/>
          </a:p>
          <a:p>
            <a:endParaRPr lang="en-US" sz="2200" dirty="0" smtClean="0"/>
          </a:p>
          <a:p>
            <a:r>
              <a:rPr lang="en-US" sz="2200" dirty="0" smtClean="0"/>
              <a:t>Although businesses have become increasingly aware of stakeholder pressure to demonstrate a commitment to their corporate social responsibilities (CSR), this does not necessarily mean </a:t>
            </a:r>
            <a:r>
              <a:rPr lang="en-US" sz="2200" b="1" dirty="0" smtClean="0"/>
              <a:t>the adoption of an integrated and strategic approach to CSR</a:t>
            </a:r>
            <a:r>
              <a:rPr lang="en-US" sz="2200" dirty="0" smtClean="0"/>
              <a:t>. </a:t>
            </a:r>
          </a:p>
          <a:p>
            <a:endParaRPr lang="en-US" sz="2200" dirty="0" smtClean="0"/>
          </a:p>
          <a:p>
            <a:r>
              <a:rPr lang="en-US" sz="2200" dirty="0" smtClean="0"/>
              <a:t>Rather, as Michael Porter (Harvard Business School, Boston) and Mark Kramer (John F Kennedy School of Government, Massachusetts) have recently argued in the Harvard Business Review (December 2006), </a:t>
            </a:r>
            <a:r>
              <a:rPr lang="en-US" sz="2200" b="1" dirty="0" smtClean="0"/>
              <a:t>current approaches to CSR are fragmented and disconnected from business goals. </a:t>
            </a:r>
          </a:p>
          <a:p>
            <a:endParaRPr lang="en-US" sz="2200" dirty="0" smtClean="0"/>
          </a:p>
        </p:txBody>
      </p:sp>
      <p:sp>
        <p:nvSpPr>
          <p:cNvPr id="6" name="Rectangle 5"/>
          <p:cNvSpPr/>
          <p:nvPr/>
        </p:nvSpPr>
        <p:spPr>
          <a:xfrm>
            <a:off x="2209800" y="1752600"/>
            <a:ext cx="3810000" cy="381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Strategic CSR</a:t>
            </a:r>
            <a:endParaRPr lang="en-US" sz="3200" b="1" dirty="0">
              <a:solidFill>
                <a:schemeClr val="tx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pPr>
              <a:buNone/>
            </a:pPr>
            <a:r>
              <a:rPr lang="en-US" dirty="0" smtClean="0"/>
              <a:t>   This has resulted in disparate and reactive initiatives designed to mollify vocal stakeholders or deflect attention from questionable business practices, and these have justifiably been </a:t>
            </a:r>
            <a:r>
              <a:rPr lang="en-US" dirty="0" err="1" smtClean="0"/>
              <a:t>criticised</a:t>
            </a:r>
            <a:r>
              <a:rPr lang="en-US" dirty="0" smtClean="0"/>
              <a:t> </a:t>
            </a:r>
            <a:r>
              <a:rPr lang="en-US" b="1" dirty="0" smtClean="0"/>
              <a:t>as ‘feel good’ marketing campaigns which have failed to generate bottom line benefits</a:t>
            </a:r>
            <a:r>
              <a:rPr lang="en-US" sz="2800" b="1" dirty="0" smtClean="0"/>
              <a:t>.</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304801"/>
            <a:ext cx="8153400" cy="6524863"/>
          </a:xfrm>
          <a:prstGeom prst="rect">
            <a:avLst/>
          </a:prstGeom>
        </p:spPr>
        <p:txBody>
          <a:bodyPr wrap="square">
            <a:spAutoFit/>
          </a:bodyPr>
          <a:lstStyle/>
          <a:p>
            <a:r>
              <a:rPr lang="en-US" sz="2200" dirty="0" smtClean="0"/>
              <a:t>Companies which have responded to their CSR have usually done so for one, or a combination, of the following four reasons/principles – </a:t>
            </a:r>
          </a:p>
          <a:p>
            <a:r>
              <a:rPr lang="en-US" sz="2200" b="1" dirty="0" smtClean="0"/>
              <a:t>Moral obligation, </a:t>
            </a:r>
          </a:p>
          <a:p>
            <a:r>
              <a:rPr lang="en-US" sz="2200" b="1" dirty="0" smtClean="0"/>
              <a:t>Sustainability, </a:t>
            </a:r>
          </a:p>
          <a:p>
            <a:r>
              <a:rPr lang="en-US" sz="2200" b="1" dirty="0" smtClean="0"/>
              <a:t>Compliance </a:t>
            </a:r>
          </a:p>
          <a:p>
            <a:r>
              <a:rPr lang="en-US" sz="2200" b="1" dirty="0" smtClean="0"/>
              <a:t>Reputation</a:t>
            </a:r>
          </a:p>
          <a:p>
            <a:endParaRPr lang="en-US" sz="2200" dirty="0" smtClean="0"/>
          </a:p>
          <a:p>
            <a:pPr>
              <a:buFont typeface="Arial" pitchFamily="34" charset="0"/>
              <a:buChar char="•"/>
            </a:pPr>
            <a:r>
              <a:rPr lang="en-US" sz="2200" dirty="0" smtClean="0"/>
              <a:t>‘</a:t>
            </a:r>
            <a:r>
              <a:rPr lang="en-US" sz="2200" dirty="0" smtClean="0">
                <a:solidFill>
                  <a:srgbClr val="FF0000"/>
                </a:solidFill>
              </a:rPr>
              <a:t>Moral obligation’ refers to the compulsion for companies to be ‘good citizens’ and ‘do the right thing’. </a:t>
            </a:r>
          </a:p>
          <a:p>
            <a:pPr>
              <a:buFont typeface="Arial" pitchFamily="34" charset="0"/>
              <a:buChar char="•"/>
            </a:pPr>
            <a:endParaRPr lang="en-US" sz="2200" dirty="0" smtClean="0">
              <a:solidFill>
                <a:srgbClr val="FF0000"/>
              </a:solidFill>
            </a:endParaRPr>
          </a:p>
          <a:p>
            <a:pPr>
              <a:buFont typeface="Arial" pitchFamily="34" charset="0"/>
              <a:buChar char="•"/>
            </a:pPr>
            <a:r>
              <a:rPr lang="en-US" sz="2200" dirty="0" smtClean="0">
                <a:solidFill>
                  <a:srgbClr val="002060"/>
                </a:solidFill>
              </a:rPr>
              <a:t>The sustainability argument </a:t>
            </a:r>
            <a:r>
              <a:rPr lang="en-US" sz="2200" dirty="0" err="1" smtClean="0">
                <a:solidFill>
                  <a:srgbClr val="002060"/>
                </a:solidFill>
              </a:rPr>
              <a:t>emphasises</a:t>
            </a:r>
            <a:r>
              <a:rPr lang="en-US" sz="2200" dirty="0" smtClean="0">
                <a:solidFill>
                  <a:srgbClr val="002060"/>
                </a:solidFill>
              </a:rPr>
              <a:t> the need for companies to have regard to the natural environment from which resources are drawn</a:t>
            </a:r>
            <a:r>
              <a:rPr lang="en-US" sz="2200" dirty="0" smtClean="0"/>
              <a:t>. </a:t>
            </a:r>
          </a:p>
          <a:p>
            <a:pPr>
              <a:buFont typeface="Arial" pitchFamily="34" charset="0"/>
              <a:buChar char="•"/>
            </a:pPr>
            <a:endParaRPr lang="en-US" sz="2200" dirty="0" smtClean="0"/>
          </a:p>
          <a:p>
            <a:pPr>
              <a:buFont typeface="Arial" pitchFamily="34" charset="0"/>
              <a:buChar char="•"/>
            </a:pPr>
            <a:r>
              <a:rPr lang="en-US" sz="2200" dirty="0" smtClean="0"/>
              <a:t>The compliance or ‘</a:t>
            </a:r>
            <a:r>
              <a:rPr lang="en-US" sz="2200" dirty="0" err="1" smtClean="0"/>
              <a:t>licence</a:t>
            </a:r>
            <a:r>
              <a:rPr lang="en-US" sz="2200" dirty="0" smtClean="0"/>
              <a:t> to operate’ argument reflects a pragmatic response to agendas set by Government regulators.</a:t>
            </a:r>
          </a:p>
          <a:p>
            <a:pPr>
              <a:buFont typeface="Arial" pitchFamily="34" charset="0"/>
              <a:buChar char="•"/>
            </a:pPr>
            <a:endParaRPr lang="en-US" sz="2200" dirty="0" smtClean="0"/>
          </a:p>
          <a:p>
            <a:pPr>
              <a:buFont typeface="Arial" pitchFamily="34" charset="0"/>
              <a:buChar char="•"/>
            </a:pPr>
            <a:r>
              <a:rPr lang="en-US" sz="2200" dirty="0" smtClean="0">
                <a:solidFill>
                  <a:srgbClr val="C00000"/>
                </a:solidFill>
              </a:rPr>
              <a:t> Reputation impetus is all about creating a positive impression on consumers, staff and shareholders.</a:t>
            </a:r>
            <a:endParaRPr lang="en-US" sz="2200" dirty="0">
              <a:solidFill>
                <a:srgbClr val="C0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Weakness in all 4 Schools</a:t>
            </a:r>
            <a:endParaRPr lang="en-US"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pPr marL="0" indent="0">
              <a:buNone/>
            </a:pPr>
            <a:endParaRPr lang="en-US" dirty="0" smtClean="0"/>
          </a:p>
          <a:p>
            <a:pPr marL="0" indent="0">
              <a:buNone/>
            </a:pPr>
            <a:r>
              <a:rPr lang="en-US" dirty="0" smtClean="0"/>
              <a:t>Porter and Kramer argue that there is an inherent weakness in all four school of thought, namely they “</a:t>
            </a:r>
            <a:r>
              <a:rPr lang="en-US" b="1" dirty="0" smtClean="0">
                <a:solidFill>
                  <a:srgbClr val="C00000"/>
                </a:solidFill>
              </a:rPr>
              <a:t>focus on the tension between business and society, rather than their interdependence”.</a:t>
            </a:r>
          </a:p>
          <a:p>
            <a:pPr>
              <a:buNone/>
            </a:pPr>
            <a:r>
              <a:rPr lang="en-US" dirty="0" smtClean="0"/>
              <a:t> </a:t>
            </a:r>
          </a:p>
          <a:p>
            <a:pPr marL="0" indent="0">
              <a:buNone/>
            </a:pPr>
            <a:r>
              <a:rPr lang="en-US" dirty="0" smtClean="0"/>
              <a:t>Further “each strategy creates a </a:t>
            </a:r>
            <a:r>
              <a:rPr lang="en-US" b="1" dirty="0" smtClean="0">
                <a:solidFill>
                  <a:srgbClr val="C00000"/>
                </a:solidFill>
              </a:rPr>
              <a:t>generic rationale that is not tied to the strategy and operations of any specific company or the places in which it operates</a:t>
            </a:r>
            <a:r>
              <a:rPr lang="en-US" dirty="0" smtClean="0"/>
              <a:t>”.</a:t>
            </a:r>
          </a:p>
          <a:p>
            <a:pPr marL="0" indent="0">
              <a:buNone/>
            </a:pPr>
            <a:endParaRPr lang="en-US" dirty="0" smtClean="0"/>
          </a:p>
          <a:p>
            <a:pPr marL="60325" indent="-60325">
              <a:buNone/>
            </a:pPr>
            <a:r>
              <a:rPr lang="en-US" dirty="0" smtClean="0"/>
              <a:t> Deficiencies in approach to CSR have resulted in </a:t>
            </a:r>
            <a:r>
              <a:rPr lang="en-US" dirty="0" err="1" smtClean="0"/>
              <a:t>unco-ordinated</a:t>
            </a:r>
            <a:r>
              <a:rPr lang="en-US" dirty="0" smtClean="0"/>
              <a:t> and non-strategic activities that “</a:t>
            </a:r>
            <a:r>
              <a:rPr lang="en-US" b="1" dirty="0" smtClean="0">
                <a:solidFill>
                  <a:srgbClr val="C00000"/>
                </a:solidFill>
              </a:rPr>
              <a:t>neither make any meaningful social impact nor strengthen the firm’s long-term competitiveness”.</a:t>
            </a:r>
          </a:p>
          <a:p>
            <a:pPr>
              <a:buNone/>
            </a:pP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 New Approach</a:t>
            </a:r>
            <a:endParaRPr lang="en-US" dirty="0"/>
          </a:p>
        </p:txBody>
      </p:sp>
      <p:sp>
        <p:nvSpPr>
          <p:cNvPr id="4" name="Rectangle 3"/>
          <p:cNvSpPr/>
          <p:nvPr/>
        </p:nvSpPr>
        <p:spPr>
          <a:xfrm>
            <a:off x="228600" y="990600"/>
            <a:ext cx="8686800" cy="6001643"/>
          </a:xfrm>
          <a:prstGeom prst="rect">
            <a:avLst/>
          </a:prstGeom>
        </p:spPr>
        <p:txBody>
          <a:bodyPr wrap="square">
            <a:spAutoFit/>
          </a:bodyPr>
          <a:lstStyle/>
          <a:p>
            <a:r>
              <a:rPr lang="en-US" sz="2800" b="1" dirty="0" smtClean="0"/>
              <a:t>Porter and Kramer’s new approach has two key elements:</a:t>
            </a:r>
          </a:p>
          <a:p>
            <a:endParaRPr lang="en-US" sz="2000" dirty="0" smtClean="0"/>
          </a:p>
          <a:p>
            <a:r>
              <a:rPr lang="en-US" sz="2400" dirty="0" smtClean="0"/>
              <a:t>First:  A CSR strategy should be predicated on an </a:t>
            </a:r>
            <a:r>
              <a:rPr lang="en-US" sz="2400" b="1" u="sng" dirty="0" smtClean="0">
                <a:solidFill>
                  <a:srgbClr val="C00000"/>
                </a:solidFill>
              </a:rPr>
              <a:t>acceptance of the interdependence of business and society, i.e. ‘successful corporations need a healthy society’ and ‘a healthy society needs successful companies</a:t>
            </a:r>
            <a:r>
              <a:rPr lang="en-US" sz="2400" dirty="0" smtClean="0">
                <a:solidFill>
                  <a:srgbClr val="C00000"/>
                </a:solidFill>
              </a:rPr>
              <a:t>’. </a:t>
            </a:r>
          </a:p>
          <a:p>
            <a:endParaRPr lang="en-US" sz="2400" dirty="0" smtClean="0"/>
          </a:p>
          <a:p>
            <a:r>
              <a:rPr lang="en-US" sz="2400" dirty="0" smtClean="0"/>
              <a:t>Porter and Kramer suggest that the </a:t>
            </a:r>
            <a:r>
              <a:rPr lang="en-US" sz="2400" b="1" dirty="0" smtClean="0"/>
              <a:t>points of intersection between companies and society are both ‘inside-out’ linkages (i.e</a:t>
            </a:r>
            <a:r>
              <a:rPr lang="en-US" sz="2400" b="1" dirty="0" smtClean="0">
                <a:solidFill>
                  <a:srgbClr val="C00000"/>
                </a:solidFill>
              </a:rPr>
              <a:t>. internal activities which affect the external environment such as ‘hiring practices, emissions and waste control’)</a:t>
            </a:r>
            <a:r>
              <a:rPr lang="en-US" sz="2400" b="1" dirty="0" smtClean="0"/>
              <a:t> and ‘outside-in’ linkages (i.e. social conditions which affect a company’s capacity to conduct business, e.g. rules and regulations, local education and health supports</a:t>
            </a:r>
            <a:r>
              <a:rPr lang="en-US" sz="2400" dirty="0" smtClean="0"/>
              <a:t>). </a:t>
            </a:r>
          </a:p>
          <a:p>
            <a:endParaRPr lang="en-US" sz="2000"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0000" lnSpcReduction="20000"/>
          </a:bodyPr>
          <a:lstStyle/>
          <a:p>
            <a:pPr marL="0" indent="0">
              <a:buNone/>
            </a:pPr>
            <a:endParaRPr lang="en-US" sz="2400" dirty="0" smtClean="0"/>
          </a:p>
          <a:p>
            <a:pPr marL="0" indent="0">
              <a:buNone/>
            </a:pPr>
            <a:r>
              <a:rPr lang="en-US" sz="3400" dirty="0" smtClean="0"/>
              <a:t>This platform of understanding implies </a:t>
            </a:r>
            <a:r>
              <a:rPr lang="en-US" sz="3400" b="1" dirty="0" smtClean="0">
                <a:solidFill>
                  <a:srgbClr val="C00000"/>
                </a:solidFill>
              </a:rPr>
              <a:t>that both business decisions and social policy have shared values, and lifts CSR from a ‘nice to do’ (which is reminiscent of the moral obligation argument or philanthropic approach to CSR) to the ‘have to do’ (which, although not acknowledged by Porter and Kramer, is an extension of the sustainability argument).</a:t>
            </a:r>
          </a:p>
          <a:p>
            <a:pPr marL="0" indent="0">
              <a:buNone/>
            </a:pPr>
            <a:endParaRPr lang="en-US" sz="3400" dirty="0"/>
          </a:p>
          <a:p>
            <a:pPr marL="0" indent="0">
              <a:buNone/>
            </a:pPr>
            <a:r>
              <a:rPr lang="en-US" sz="3400" dirty="0" smtClean="0"/>
              <a:t>Second: and this is the real benefit of Porter and Kramer’s thesis, they argue that:</a:t>
            </a:r>
            <a:br>
              <a:rPr lang="en-US" sz="3400" dirty="0" smtClean="0"/>
            </a:br>
            <a:endParaRPr lang="en-US" sz="3400" dirty="0" smtClean="0"/>
          </a:p>
          <a:p>
            <a:pPr marL="60325" indent="-60325">
              <a:buNone/>
            </a:pPr>
            <a:r>
              <a:rPr lang="en-US" sz="3400" b="1" dirty="0" smtClean="0"/>
              <a:t>Each company should create a tailored (rather than a generic) corporate social agenda, and provide a practical tool to chart that agenda </a:t>
            </a:r>
            <a:r>
              <a:rPr lang="en-US" sz="3400" dirty="0" smtClean="0"/>
              <a:t> ‘</a:t>
            </a:r>
            <a:r>
              <a:rPr lang="en-US" sz="3400" dirty="0" smtClean="0">
                <a:solidFill>
                  <a:srgbClr val="C00000"/>
                </a:solidFill>
              </a:rPr>
              <a:t>to identify those areas of social context with the greatest strategic value’.</a:t>
            </a:r>
          </a:p>
          <a:p>
            <a:pPr>
              <a:buNone/>
            </a:pPr>
            <a:r>
              <a:rPr lang="en-US" sz="3400" dirty="0" smtClean="0"/>
              <a:t/>
            </a:r>
            <a:br>
              <a:rPr lang="en-US" sz="3400" dirty="0" smtClean="0"/>
            </a:br>
            <a:endParaRPr lang="en-US" sz="3400" dirty="0" smtClean="0">
              <a:solidFill>
                <a:srgbClr val="C00000"/>
              </a:solidFill>
            </a:endParaRP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705600"/>
          </a:xfrm>
        </p:spPr>
        <p:txBody>
          <a:bodyPr>
            <a:normAutofit fontScale="92500" lnSpcReduction="10000"/>
          </a:bodyPr>
          <a:lstStyle/>
          <a:p>
            <a:pPr marL="0" indent="0">
              <a:buNone/>
            </a:pPr>
            <a:r>
              <a:rPr lang="en-US" sz="2000" b="1" dirty="0" smtClean="0">
                <a:solidFill>
                  <a:srgbClr val="FF0000"/>
                </a:solidFill>
              </a:rPr>
              <a:t>Based on research in Denmark , the study identified 7 main areas of Corporate Responsibility activity, which were then divided into 31 classes of activity.</a:t>
            </a:r>
          </a:p>
          <a:p>
            <a:pPr>
              <a:buNone/>
            </a:pPr>
            <a:r>
              <a:rPr lang="en-US" sz="2400" b="1" dirty="0" smtClean="0"/>
              <a:t>Leadership, Vision and Values</a:t>
            </a:r>
          </a:p>
          <a:p>
            <a:r>
              <a:rPr lang="en-US" sz="2000" dirty="0" smtClean="0"/>
              <a:t>Corporate values, purpose and vision</a:t>
            </a:r>
          </a:p>
          <a:p>
            <a:r>
              <a:rPr lang="en-US" sz="2000" dirty="0" smtClean="0"/>
              <a:t>Translating it into policies and procedures</a:t>
            </a:r>
          </a:p>
          <a:p>
            <a:r>
              <a:rPr lang="en-US" sz="2000" dirty="0" smtClean="0"/>
              <a:t>Putting into practice</a:t>
            </a:r>
          </a:p>
          <a:p>
            <a:r>
              <a:rPr lang="en-US" sz="2000" dirty="0" smtClean="0"/>
              <a:t>Ethical Leadership.</a:t>
            </a:r>
          </a:p>
          <a:p>
            <a:pPr>
              <a:buNone/>
            </a:pPr>
            <a:r>
              <a:rPr lang="en-US" sz="2400" b="1" dirty="0" smtClean="0"/>
              <a:t>Marketplace Activities</a:t>
            </a:r>
          </a:p>
          <a:p>
            <a:r>
              <a:rPr lang="en-US" sz="2000" dirty="0" smtClean="0"/>
              <a:t>Responsible Customer Relations</a:t>
            </a:r>
          </a:p>
          <a:p>
            <a:r>
              <a:rPr lang="en-US" sz="2000" dirty="0" smtClean="0"/>
              <a:t>Product responsibility</a:t>
            </a:r>
          </a:p>
          <a:p>
            <a:r>
              <a:rPr lang="en-US" sz="2000" dirty="0" smtClean="0"/>
              <a:t>Using Corporate Responsibility product labeling</a:t>
            </a:r>
          </a:p>
          <a:p>
            <a:r>
              <a:rPr lang="en-US" sz="2000" dirty="0" smtClean="0"/>
              <a:t>Ethical Competition</a:t>
            </a:r>
          </a:p>
          <a:p>
            <a:pPr>
              <a:buNone/>
            </a:pPr>
            <a:r>
              <a:rPr lang="en-US" sz="2400" b="1" dirty="0" smtClean="0"/>
              <a:t>Workforce Activities</a:t>
            </a:r>
          </a:p>
          <a:p>
            <a:r>
              <a:rPr lang="en-US" sz="2000" dirty="0" smtClean="0"/>
              <a:t>Employee communication</a:t>
            </a:r>
          </a:p>
          <a:p>
            <a:r>
              <a:rPr lang="en-US" sz="2000" dirty="0" smtClean="0"/>
              <a:t>Ensuring employability and skills development</a:t>
            </a:r>
          </a:p>
          <a:p>
            <a:r>
              <a:rPr lang="en-US" sz="2000" dirty="0" smtClean="0"/>
              <a:t>Diversity and Equality</a:t>
            </a:r>
          </a:p>
          <a:p>
            <a:r>
              <a:rPr lang="en-US" sz="2000" dirty="0" smtClean="0"/>
              <a:t>Responsible/fair remuneration</a:t>
            </a:r>
          </a:p>
          <a:p>
            <a:r>
              <a:rPr lang="en-US" sz="2000" dirty="0" smtClean="0"/>
              <a:t>Work- life Balance</a:t>
            </a:r>
          </a:p>
          <a:p>
            <a:pPr>
              <a:buNone/>
            </a:pPr>
            <a:r>
              <a:rPr lang="en-US" sz="2400" b="1" dirty="0" smtClean="0"/>
              <a:t>Supply Chain Activities</a:t>
            </a:r>
          </a:p>
          <a:p>
            <a:r>
              <a:rPr lang="en-US" sz="2000" dirty="0" smtClean="0"/>
              <a:t>Driving social and environmental standards through the Supply Chain</a:t>
            </a:r>
          </a:p>
          <a:p>
            <a:endParaRPr lang="en-US" sz="2000" dirty="0" smtClean="0"/>
          </a:p>
          <a:p>
            <a:pPr>
              <a:buNone/>
            </a:pPr>
            <a:endParaRPr lang="en-US" sz="2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477000"/>
          </a:xfrm>
        </p:spPr>
        <p:txBody>
          <a:bodyPr/>
          <a:lstStyle/>
          <a:p>
            <a:pPr>
              <a:buNone/>
            </a:pPr>
            <a:r>
              <a:rPr lang="en-US" sz="2400" b="1" dirty="0" smtClean="0"/>
              <a:t>Stakeholder Engagement</a:t>
            </a:r>
          </a:p>
          <a:p>
            <a:r>
              <a:rPr lang="en-US" sz="2000" dirty="0" smtClean="0"/>
              <a:t>Mapping key stakeholders and their main concerns</a:t>
            </a:r>
          </a:p>
          <a:p>
            <a:r>
              <a:rPr lang="en-US" sz="2000" dirty="0" smtClean="0"/>
              <a:t>Stakeholder Consultation</a:t>
            </a:r>
          </a:p>
          <a:p>
            <a:pPr>
              <a:buNone/>
            </a:pPr>
            <a:r>
              <a:rPr lang="en-US" sz="2400" b="1" dirty="0" smtClean="0"/>
              <a:t>Community Activities</a:t>
            </a:r>
          </a:p>
          <a:p>
            <a:r>
              <a:rPr lang="en-US" sz="2000" dirty="0" smtClean="0"/>
              <a:t>Financial Donations</a:t>
            </a:r>
          </a:p>
          <a:p>
            <a:r>
              <a:rPr lang="en-US" sz="2000" dirty="0" smtClean="0"/>
              <a:t>Volunteering employee time</a:t>
            </a:r>
          </a:p>
          <a:p>
            <a:r>
              <a:rPr lang="en-US" sz="2000" dirty="0" smtClean="0"/>
              <a:t>Giving gifts in kind</a:t>
            </a:r>
          </a:p>
          <a:p>
            <a:r>
              <a:rPr lang="en-US" sz="2000" dirty="0" smtClean="0"/>
              <a:t>Being a good neighbor</a:t>
            </a:r>
          </a:p>
          <a:p>
            <a:pPr>
              <a:buNone/>
            </a:pPr>
            <a:r>
              <a:rPr lang="en-US" sz="2400" b="1" dirty="0" smtClean="0"/>
              <a:t>Environmental Activities</a:t>
            </a:r>
          </a:p>
          <a:p>
            <a:r>
              <a:rPr lang="en-US" sz="2000" dirty="0" smtClean="0"/>
              <a:t> </a:t>
            </a:r>
            <a:r>
              <a:rPr lang="en-US" sz="1800" dirty="0" smtClean="0"/>
              <a:t>Resource and Energy Use</a:t>
            </a:r>
          </a:p>
          <a:p>
            <a:r>
              <a:rPr lang="en-US" sz="1800" dirty="0" smtClean="0"/>
              <a:t>Pollution and waste management</a:t>
            </a:r>
          </a:p>
          <a:p>
            <a:pPr algn="ctr">
              <a:buNone/>
            </a:pPr>
            <a:r>
              <a:rPr lang="en-US" sz="2800" b="1" u="sng" dirty="0" smtClean="0">
                <a:solidFill>
                  <a:srgbClr val="FF0000"/>
                </a:solidFill>
              </a:rPr>
              <a:t>Questions</a:t>
            </a:r>
          </a:p>
          <a:p>
            <a:pPr marL="457200" indent="-457200">
              <a:buAutoNum type="arabicParenR"/>
            </a:pPr>
            <a:r>
              <a:rPr lang="en-US" sz="2000" dirty="0" smtClean="0"/>
              <a:t>Should companies be allowed to choose which issues to address?</a:t>
            </a:r>
          </a:p>
          <a:p>
            <a:pPr marL="457200" indent="-457200">
              <a:buAutoNum type="arabicParenR"/>
            </a:pPr>
            <a:r>
              <a:rPr lang="en-US" sz="2000" dirty="0" smtClean="0"/>
              <a:t>Which of the above activity areas do you think are most important for companies to tackle?</a:t>
            </a:r>
          </a:p>
          <a:p>
            <a:pPr marL="457200" indent="-457200">
              <a:buAutoNum type="arabicParenR"/>
            </a:pPr>
            <a:r>
              <a:rPr lang="en-US" sz="2000" dirty="0" smtClean="0"/>
              <a:t>How can companies set about prioritizing the areas of activity in which they should get involved?</a:t>
            </a:r>
            <a:endParaRPr lang="en-US" sz="20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sz="3600" b="1" dirty="0" smtClean="0"/>
              <a:t>Choosing which social issues to address</a:t>
            </a:r>
            <a:r>
              <a:rPr lang="en-US" dirty="0" smtClean="0"/>
              <a:t>. </a:t>
            </a:r>
            <a:br>
              <a:rPr lang="en-US" dirty="0" smtClean="0"/>
            </a:br>
            <a:endParaRPr lang="en-US" dirty="0"/>
          </a:p>
        </p:txBody>
      </p:sp>
      <p:sp>
        <p:nvSpPr>
          <p:cNvPr id="3" name="Content Placeholder 2"/>
          <p:cNvSpPr>
            <a:spLocks noGrp="1"/>
          </p:cNvSpPr>
          <p:nvPr>
            <p:ph idx="1"/>
          </p:nvPr>
        </p:nvSpPr>
        <p:spPr>
          <a:xfrm>
            <a:off x="457200" y="914400"/>
            <a:ext cx="8229600" cy="5638800"/>
          </a:xfrm>
        </p:spPr>
        <p:txBody>
          <a:bodyPr>
            <a:normAutofit fontScale="70000" lnSpcReduction="20000"/>
          </a:bodyPr>
          <a:lstStyle/>
          <a:p>
            <a:r>
              <a:rPr lang="en-US" dirty="0" smtClean="0"/>
              <a:t>The essential test that should guide CSR is not whether the cause is worthy, but whether it presents an opportunity to create </a:t>
            </a:r>
            <a:r>
              <a:rPr lang="en-US" b="1" dirty="0" smtClean="0">
                <a:solidFill>
                  <a:srgbClr val="C00000"/>
                </a:solidFill>
              </a:rPr>
              <a:t>shared value – that is, a meaningful benefit for society that is also meaningful to the business</a:t>
            </a:r>
            <a:r>
              <a:rPr lang="en-US" dirty="0" smtClean="0"/>
              <a:t>”. </a:t>
            </a:r>
          </a:p>
          <a:p>
            <a:endParaRPr lang="en-US" dirty="0" smtClean="0"/>
          </a:p>
          <a:p>
            <a:r>
              <a:rPr lang="en-US" dirty="0" smtClean="0"/>
              <a:t>Porter and Kramer argue that companies should sort social issues into three categories – </a:t>
            </a:r>
          </a:p>
          <a:p>
            <a:pPr marL="571500" indent="-571500">
              <a:buAutoNum type="romanLcParenBoth"/>
            </a:pPr>
            <a:r>
              <a:rPr lang="en-US" b="1" dirty="0" smtClean="0"/>
              <a:t>generic social issues </a:t>
            </a:r>
            <a:r>
              <a:rPr lang="en-US" dirty="0" smtClean="0"/>
              <a:t>which affect all companies; </a:t>
            </a:r>
          </a:p>
          <a:p>
            <a:pPr marL="571500" indent="-571500">
              <a:buAutoNum type="romanLcParenBoth"/>
            </a:pPr>
            <a:endParaRPr lang="en-US" dirty="0" smtClean="0"/>
          </a:p>
          <a:p>
            <a:pPr>
              <a:buNone/>
            </a:pPr>
            <a:r>
              <a:rPr lang="en-US" dirty="0" smtClean="0"/>
              <a:t>(ii) </a:t>
            </a:r>
            <a:r>
              <a:rPr lang="en-US" b="1" dirty="0" smtClean="0"/>
              <a:t>value chain social impacts </a:t>
            </a:r>
            <a:r>
              <a:rPr lang="en-US" dirty="0" smtClean="0"/>
              <a:t>which have a direct affect on the </a:t>
            </a:r>
            <a:r>
              <a:rPr lang="en-US" b="1" dirty="0" smtClean="0"/>
              <a:t>company’s ordinary course of business</a:t>
            </a:r>
            <a:r>
              <a:rPr lang="en-US" dirty="0" smtClean="0"/>
              <a:t>; and </a:t>
            </a:r>
          </a:p>
          <a:p>
            <a:pPr>
              <a:buNone/>
            </a:pPr>
            <a:endParaRPr lang="en-US" dirty="0" smtClean="0"/>
          </a:p>
          <a:p>
            <a:pPr>
              <a:buNone/>
            </a:pPr>
            <a:r>
              <a:rPr lang="en-US" dirty="0" smtClean="0"/>
              <a:t>(iii) social dimensions of </a:t>
            </a:r>
            <a:r>
              <a:rPr lang="en-US" b="1" dirty="0" smtClean="0"/>
              <a:t>competitive context </a:t>
            </a:r>
            <a:r>
              <a:rPr lang="en-US" dirty="0" smtClean="0"/>
              <a:t>which significantly affect the </a:t>
            </a:r>
            <a:r>
              <a:rPr lang="en-US" b="1" dirty="0" smtClean="0"/>
              <a:t>underlying drivers of a company’s competitiveness </a:t>
            </a:r>
            <a:r>
              <a:rPr lang="en-US" dirty="0" smtClean="0"/>
              <a:t>in a specific location.</a:t>
            </a:r>
          </a:p>
          <a:p>
            <a:pPr>
              <a:buNone/>
            </a:pPr>
            <a:endParaRPr lang="en-US" dirty="0" smtClean="0"/>
          </a:p>
          <a:p>
            <a:r>
              <a:rPr lang="en-US" dirty="0" smtClean="0"/>
              <a:t> Once the social issues have been </a:t>
            </a:r>
            <a:r>
              <a:rPr lang="en-US" dirty="0" err="1" smtClean="0"/>
              <a:t>categorised</a:t>
            </a:r>
            <a:r>
              <a:rPr lang="en-US" dirty="0" smtClean="0"/>
              <a:t> they should be </a:t>
            </a:r>
            <a:r>
              <a:rPr lang="en-US" b="1" dirty="0" smtClean="0"/>
              <a:t>ranked, i.e. </a:t>
            </a:r>
            <a:r>
              <a:rPr lang="en-US" b="1" dirty="0" err="1" smtClean="0"/>
              <a:t>prioritised</a:t>
            </a:r>
            <a:r>
              <a:rPr lang="en-US" b="1" dirty="0" smtClean="0"/>
              <a:t>, for action</a:t>
            </a:r>
          </a:p>
          <a:p>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p:spPr>
        <p:txBody>
          <a:bodyPr>
            <a:normAutofit/>
          </a:bodyPr>
          <a:lstStyle/>
          <a:p>
            <a:r>
              <a:rPr lang="en-US" sz="2800" dirty="0" smtClean="0"/>
              <a:t>Creating a corporate social agenda</a:t>
            </a:r>
            <a:endParaRPr lang="en-US" sz="2800" dirty="0"/>
          </a:p>
        </p:txBody>
      </p:sp>
      <p:sp>
        <p:nvSpPr>
          <p:cNvPr id="3" name="Content Placeholder 2"/>
          <p:cNvSpPr>
            <a:spLocks noGrp="1"/>
          </p:cNvSpPr>
          <p:nvPr>
            <p:ph idx="1"/>
          </p:nvPr>
        </p:nvSpPr>
        <p:spPr>
          <a:xfrm>
            <a:off x="0" y="609600"/>
            <a:ext cx="9144000" cy="6019800"/>
          </a:xfrm>
        </p:spPr>
        <p:txBody>
          <a:bodyPr>
            <a:normAutofit fontScale="70000" lnSpcReduction="20000"/>
          </a:bodyPr>
          <a:lstStyle/>
          <a:p>
            <a:r>
              <a:rPr lang="en-US" dirty="0" smtClean="0"/>
              <a:t> The selected social issues should be identified in an </a:t>
            </a:r>
            <a:r>
              <a:rPr lang="en-US" b="1" dirty="0" smtClean="0"/>
              <a:t>explicit and affirmative corporate social agenda. </a:t>
            </a:r>
          </a:p>
          <a:p>
            <a:endParaRPr lang="en-US" b="1" dirty="0" smtClean="0"/>
          </a:p>
          <a:p>
            <a:r>
              <a:rPr lang="en-US" dirty="0" smtClean="0"/>
              <a:t>This agenda will reflect an approach to CSR which is both responsive to stakeholder concerns and anticipated risks, and strategic (i.e. integrates inside-out and outside-in linkages)</a:t>
            </a:r>
          </a:p>
          <a:p>
            <a:endParaRPr lang="en-US" dirty="0" smtClean="0"/>
          </a:p>
          <a:p>
            <a:r>
              <a:rPr lang="en-US" dirty="0" err="1" smtClean="0"/>
              <a:t>Organising</a:t>
            </a:r>
            <a:r>
              <a:rPr lang="en-US" dirty="0" smtClean="0"/>
              <a:t> for CSR. The corporate social agenda should be </a:t>
            </a:r>
            <a:r>
              <a:rPr lang="en-US" b="1" u="sng" dirty="0" smtClean="0"/>
              <a:t>integrated into affirmative business practices, i.e. to ensure that operating management is engaged in processes that identify and </a:t>
            </a:r>
            <a:r>
              <a:rPr lang="en-US" b="1" u="sng" dirty="0" err="1" smtClean="0"/>
              <a:t>prioritise</a:t>
            </a:r>
            <a:r>
              <a:rPr lang="en-US" b="1" u="sng" dirty="0" smtClean="0"/>
              <a:t> social issues based on their “salience to business </a:t>
            </a:r>
            <a:r>
              <a:rPr lang="en-US" dirty="0" smtClean="0"/>
              <a:t>operations and their importance to the company’s competitive context”. </a:t>
            </a:r>
          </a:p>
          <a:p>
            <a:endParaRPr lang="en-US" dirty="0" smtClean="0"/>
          </a:p>
          <a:p>
            <a:r>
              <a:rPr lang="en-US" dirty="0" smtClean="0"/>
              <a:t> </a:t>
            </a:r>
            <a:r>
              <a:rPr lang="en-US" u="sng" dirty="0" smtClean="0">
                <a:solidFill>
                  <a:srgbClr val="C00000"/>
                </a:solidFill>
              </a:rPr>
              <a:t>Measurement of outcomes is critical to the agenda</a:t>
            </a:r>
            <a:r>
              <a:rPr lang="en-US" dirty="0" smtClean="0"/>
              <a:t>, and that “value chain and competitive context investments in CSR need to be incorporated into the performance managers with P&amp;L responsibility”. </a:t>
            </a:r>
            <a:endParaRPr lang="en-US" smtClean="0"/>
          </a:p>
          <a:p>
            <a:pPr>
              <a:buNone/>
            </a:pPr>
            <a:endParaRPr lang="en-US" dirty="0" smtClean="0"/>
          </a:p>
          <a:p>
            <a:r>
              <a:rPr lang="en-US" dirty="0" smtClean="0"/>
              <a:t>In particular Porter and Kramer argue for the measurement of the CSR initiatives in terms of social impact</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0"/>
            <a:ext cx="8077200" cy="1877437"/>
          </a:xfrm>
          <a:prstGeom prst="rect">
            <a:avLst/>
          </a:prstGeom>
        </p:spPr>
        <p:txBody>
          <a:bodyPr wrap="square">
            <a:spAutoFit/>
          </a:bodyPr>
          <a:lstStyle/>
          <a:p>
            <a:endParaRPr lang="en-US" sz="3600" i="1" dirty="0" smtClean="0"/>
          </a:p>
          <a:p>
            <a:pPr algn="just"/>
            <a:r>
              <a:rPr lang="en-US" sz="2000" i="1" dirty="0" smtClean="0"/>
              <a:t>“Strategic </a:t>
            </a:r>
            <a:r>
              <a:rPr lang="en-US" sz="2000" i="1" dirty="0" smtClean="0"/>
              <a:t>CSR is the incorporation of a </a:t>
            </a:r>
            <a:r>
              <a:rPr lang="en-US" sz="2000" b="1" i="1" dirty="0" smtClean="0"/>
              <a:t>holistic CSR perspective</a:t>
            </a:r>
            <a:r>
              <a:rPr lang="en-US" sz="2000" i="1" dirty="0" smtClean="0"/>
              <a:t> within a firm’s </a:t>
            </a:r>
            <a:r>
              <a:rPr lang="en-US" sz="2000" b="1" i="1" dirty="0" smtClean="0"/>
              <a:t>strategic planning and core operations</a:t>
            </a:r>
            <a:r>
              <a:rPr lang="en-US" sz="2000" i="1" dirty="0" smtClean="0"/>
              <a:t> so that the firm is managed in the interest of a </a:t>
            </a:r>
            <a:r>
              <a:rPr lang="en-US" sz="2000" b="1" i="1" dirty="0" smtClean="0"/>
              <a:t>broad set of stakeholders</a:t>
            </a:r>
            <a:r>
              <a:rPr lang="en-US" sz="2000" i="1" dirty="0" smtClean="0"/>
              <a:t> to achieve </a:t>
            </a:r>
            <a:r>
              <a:rPr lang="en-US" sz="2000" b="1" i="1" dirty="0" smtClean="0"/>
              <a:t>maximum economic and social value</a:t>
            </a:r>
            <a:r>
              <a:rPr lang="en-US" sz="2000" i="1" dirty="0" smtClean="0"/>
              <a:t> over the </a:t>
            </a:r>
            <a:r>
              <a:rPr lang="en-US" sz="2000" b="1" i="1" dirty="0" smtClean="0"/>
              <a:t>medium to long term”.</a:t>
            </a:r>
            <a:endParaRPr lang="en-US" sz="2000" dirty="0"/>
          </a:p>
        </p:txBody>
      </p:sp>
      <p:sp>
        <p:nvSpPr>
          <p:cNvPr id="5" name="Rectangle 4"/>
          <p:cNvSpPr/>
          <p:nvPr/>
        </p:nvSpPr>
        <p:spPr>
          <a:xfrm>
            <a:off x="381000" y="2362200"/>
            <a:ext cx="7848600" cy="1938992"/>
          </a:xfrm>
          <a:prstGeom prst="rect">
            <a:avLst/>
          </a:prstGeom>
        </p:spPr>
        <p:txBody>
          <a:bodyPr wrap="square">
            <a:spAutoFit/>
          </a:bodyPr>
          <a:lstStyle/>
          <a:p>
            <a:pPr algn="just"/>
            <a:r>
              <a:rPr lang="en-US" sz="2000" dirty="0" smtClean="0"/>
              <a:t>When companies give in accordance to what </a:t>
            </a:r>
            <a:r>
              <a:rPr lang="en-US" sz="2000" b="1" dirty="0" smtClean="0"/>
              <a:t>they know and what they do best, they are also able to be much more effective in their giving and as such, not-for-profits/the community benefit a lot more</a:t>
            </a:r>
            <a:r>
              <a:rPr lang="en-US" sz="2000" dirty="0" smtClean="0"/>
              <a:t>. </a:t>
            </a:r>
            <a:endParaRPr lang="en-US" sz="2000" dirty="0" smtClean="0"/>
          </a:p>
          <a:p>
            <a:pPr algn="just"/>
            <a:r>
              <a:rPr lang="en-US" sz="2000" dirty="0" smtClean="0"/>
              <a:t>Instead </a:t>
            </a:r>
            <a:r>
              <a:rPr lang="en-US" sz="2000" dirty="0" smtClean="0"/>
              <a:t>of just receiving money (and money is always nice), </a:t>
            </a:r>
            <a:r>
              <a:rPr lang="en-US" sz="2000" b="1" dirty="0" smtClean="0"/>
              <a:t>the community </a:t>
            </a:r>
            <a:r>
              <a:rPr lang="en-US" sz="2000" b="1" dirty="0" smtClean="0"/>
              <a:t>organizations </a:t>
            </a:r>
            <a:r>
              <a:rPr lang="en-US" sz="2000" b="1" dirty="0" smtClean="0"/>
              <a:t>also receive the knowledge, talent, skills and other resources </a:t>
            </a:r>
            <a:r>
              <a:rPr lang="en-US" sz="2000" dirty="0" smtClean="0"/>
              <a:t>of the company when it is more strategic about it.</a:t>
            </a:r>
            <a:endParaRPr lang="en-US" sz="2000" dirty="0"/>
          </a:p>
        </p:txBody>
      </p:sp>
      <p:sp>
        <p:nvSpPr>
          <p:cNvPr id="6" name="Rectangle 5"/>
          <p:cNvSpPr/>
          <p:nvPr/>
        </p:nvSpPr>
        <p:spPr>
          <a:xfrm>
            <a:off x="457200" y="4648200"/>
            <a:ext cx="8382000" cy="1754326"/>
          </a:xfrm>
          <a:prstGeom prst="rect">
            <a:avLst/>
          </a:prstGeom>
        </p:spPr>
        <p:txBody>
          <a:bodyPr wrap="square">
            <a:spAutoFit/>
          </a:bodyPr>
          <a:lstStyle/>
          <a:p>
            <a:r>
              <a:rPr lang="en-US" b="1" dirty="0" smtClean="0">
                <a:solidFill>
                  <a:srgbClr val="FF0000"/>
                </a:solidFill>
              </a:rPr>
              <a:t>National Australia Bank</a:t>
            </a:r>
          </a:p>
          <a:p>
            <a:pPr algn="just"/>
            <a:r>
              <a:rPr lang="en-US" dirty="0" smtClean="0"/>
              <a:t>Years </a:t>
            </a:r>
            <a:r>
              <a:rPr lang="en-US" dirty="0" smtClean="0"/>
              <a:t>ago, this bank too was engaged in random acts of charity until one day they </a:t>
            </a:r>
            <a:r>
              <a:rPr lang="en-US" dirty="0" err="1" smtClean="0"/>
              <a:t>realised</a:t>
            </a:r>
            <a:r>
              <a:rPr lang="en-US" dirty="0" smtClean="0"/>
              <a:t> they are a bank </a:t>
            </a:r>
            <a:r>
              <a:rPr lang="en-US" b="1" dirty="0" smtClean="0"/>
              <a:t>– they should not send their workforce to plant trees and paint walls when they can do much more </a:t>
            </a:r>
            <a:r>
              <a:rPr lang="en-US" b="1" i="1" dirty="0" smtClean="0"/>
              <a:t>as a bank.</a:t>
            </a:r>
            <a:r>
              <a:rPr lang="en-US" b="1" dirty="0" smtClean="0"/>
              <a:t> In 2008 NAB changed its strategy and their slogan to “more give, less take</a:t>
            </a:r>
            <a:r>
              <a:rPr lang="en-US" b="1" dirty="0" smtClean="0"/>
              <a:t>”.</a:t>
            </a:r>
            <a:r>
              <a:rPr lang="en-US" b="1" dirty="0" smtClean="0">
                <a:hlinkClick r:id="rId2"/>
              </a:rPr>
              <a:t> https://www.youtube.com/watch?v=5plXdnZJxZw</a:t>
            </a:r>
            <a:endParaRPr lang="en-US"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GO sustainable eco-friendly"/>
          <p:cNvPicPr>
            <a:picLocks noChangeAspect="1" noChangeArrowheads="1"/>
          </p:cNvPicPr>
          <p:nvPr/>
        </p:nvPicPr>
        <p:blipFill>
          <a:blip r:embed="rId2">
            <a:lum bright="81000" contrast="-36000"/>
          </a:blip>
          <a:srcRect/>
          <a:stretch>
            <a:fillRect/>
          </a:stretch>
        </p:blipFill>
        <p:spPr bwMode="auto">
          <a:xfrm>
            <a:off x="0" y="0"/>
            <a:ext cx="9144000" cy="6858000"/>
          </a:xfrm>
          <a:prstGeom prst="rect">
            <a:avLst/>
          </a:prstGeom>
          <a:noFill/>
        </p:spPr>
      </p:pic>
      <p:sp>
        <p:nvSpPr>
          <p:cNvPr id="4" name="Rectangle 3"/>
          <p:cNvSpPr/>
          <p:nvPr/>
        </p:nvSpPr>
        <p:spPr>
          <a:xfrm>
            <a:off x="457200" y="228601"/>
            <a:ext cx="8077200" cy="5539978"/>
          </a:xfrm>
          <a:prstGeom prst="rect">
            <a:avLst/>
          </a:prstGeom>
        </p:spPr>
        <p:txBody>
          <a:bodyPr wrap="square">
            <a:spAutoFit/>
          </a:bodyPr>
          <a:lstStyle/>
          <a:p>
            <a:r>
              <a:rPr lang="en-US" sz="3600" b="1" dirty="0" smtClean="0"/>
              <a:t>Lego</a:t>
            </a:r>
          </a:p>
          <a:p>
            <a:pPr algn="just"/>
            <a:r>
              <a:rPr lang="en-US" sz="2000" dirty="0" smtClean="0"/>
              <a:t>As </a:t>
            </a:r>
            <a:r>
              <a:rPr lang="en-US" sz="2000" dirty="0" smtClean="0"/>
              <a:t>one of the most reputable companies in the world, Lego aims to not only help children develop through creative play, but foster a healthy planet.</a:t>
            </a:r>
          </a:p>
          <a:p>
            <a:pPr algn="just"/>
            <a:r>
              <a:rPr lang="en-US" sz="2000" dirty="0" smtClean="0"/>
              <a:t>Lego is the first, and only, toy company to be named a </a:t>
            </a:r>
            <a:r>
              <a:rPr lang="en-US" sz="2000" u="sng" dirty="0" smtClean="0">
                <a:hlinkClick r:id="rId3"/>
              </a:rPr>
              <a:t>World Wildlife Fund Climate Savers Partner</a:t>
            </a:r>
            <a:r>
              <a:rPr lang="en-US" sz="2000" dirty="0" smtClean="0"/>
              <a:t>, marking its pledge to reduce its carbon impact. And its commitment to sustainability extends beyond its partnerships.</a:t>
            </a:r>
          </a:p>
          <a:p>
            <a:pPr algn="just"/>
            <a:r>
              <a:rPr lang="en-US" sz="2000" dirty="0" smtClean="0"/>
              <a:t>By 2030, the toymaker plans to use </a:t>
            </a:r>
            <a:r>
              <a:rPr lang="en-US" sz="2000" u="sng" dirty="0" smtClean="0">
                <a:hlinkClick r:id="rId4"/>
              </a:rPr>
              <a:t>environmentally friendly materials</a:t>
            </a:r>
            <a:r>
              <a:rPr lang="en-US" sz="2000" dirty="0" smtClean="0"/>
              <a:t> to produce all of its core products and packaging—and it’s already taken key steps to achieve that goal</a:t>
            </a:r>
            <a:r>
              <a:rPr lang="en-US" sz="2000" dirty="0" smtClean="0"/>
              <a:t>.</a:t>
            </a:r>
            <a:r>
              <a:rPr lang="en-US" sz="2000" dirty="0" smtClean="0"/>
              <a:t> Over the course of 2013 and 2014, Lego shrunk its box sizes by </a:t>
            </a:r>
            <a:r>
              <a:rPr lang="en-US" sz="2000" u="sng" dirty="0" smtClean="0">
                <a:hlinkClick r:id="rId5"/>
              </a:rPr>
              <a:t>14 percent</a:t>
            </a:r>
            <a:r>
              <a:rPr lang="en-US" sz="2000" dirty="0" smtClean="0"/>
              <a:t>, saving approximately 7,000 tons of cardboard. Then, in 2018, the company introduced 150 botanical pieces </a:t>
            </a:r>
            <a:r>
              <a:rPr lang="en-US" sz="2000" u="sng" dirty="0" smtClean="0">
                <a:hlinkClick r:id="rId6"/>
              </a:rPr>
              <a:t>made from sustainably sourced sugarcane</a:t>
            </a:r>
            <a:r>
              <a:rPr lang="en-US" sz="2000" dirty="0" smtClean="0"/>
              <a:t>—a break from the petroleum-based plastic typically used to produce the company’s signature building blocks. The company has also recently committed to removing all single-use plastic packaging from its materials by 2025, among </a:t>
            </a:r>
            <a:r>
              <a:rPr lang="en-US" sz="2000" u="sng" dirty="0" smtClean="0">
                <a:hlinkClick r:id="rId7"/>
              </a:rPr>
              <a:t>other initiatives</a:t>
            </a:r>
            <a:r>
              <a:rPr lang="en-US" sz="2000" dirty="0" smtClean="0"/>
              <a:t>.</a:t>
            </a:r>
          </a:p>
          <a:p>
            <a:pPr algn="just"/>
            <a:endParaRPr lang="en-US" sz="2000" dirty="0" smtClean="0"/>
          </a:p>
          <a:p>
            <a:endParaRPr lang="en-US" dirty="0"/>
          </a:p>
        </p:txBody>
      </p:sp>
      <p:sp>
        <p:nvSpPr>
          <p:cNvPr id="6" name="Rectangle 5"/>
          <p:cNvSpPr/>
          <p:nvPr/>
        </p:nvSpPr>
        <p:spPr>
          <a:xfrm>
            <a:off x="762000" y="5562600"/>
            <a:ext cx="7086600" cy="369332"/>
          </a:xfrm>
          <a:prstGeom prst="rect">
            <a:avLst/>
          </a:prstGeom>
        </p:spPr>
        <p:txBody>
          <a:bodyPr wrap="square">
            <a:spAutoFit/>
          </a:bodyPr>
          <a:lstStyle/>
          <a:p>
            <a:r>
              <a:rPr lang="en-US" dirty="0" smtClean="0">
                <a:hlinkClick r:id="rId8"/>
              </a:rPr>
              <a:t>https://youtu.be/CseIzpf9llw</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smtClean="0"/>
              <a:t>Salesforce</a:t>
            </a:r>
            <a:endParaRPr lang="en-US" dirty="0"/>
          </a:p>
        </p:txBody>
      </p:sp>
      <p:sp>
        <p:nvSpPr>
          <p:cNvPr id="4" name="Rectangle 3"/>
          <p:cNvSpPr/>
          <p:nvPr/>
        </p:nvSpPr>
        <p:spPr>
          <a:xfrm>
            <a:off x="457200" y="914400"/>
            <a:ext cx="8229600" cy="3046988"/>
          </a:xfrm>
          <a:prstGeom prst="rect">
            <a:avLst/>
          </a:prstGeom>
        </p:spPr>
        <p:txBody>
          <a:bodyPr wrap="square">
            <a:spAutoFit/>
          </a:bodyPr>
          <a:lstStyle/>
          <a:p>
            <a:r>
              <a:rPr lang="en-US" sz="2400" dirty="0" smtClean="0"/>
              <a:t>Salesforce’s </a:t>
            </a:r>
            <a:r>
              <a:rPr lang="en-US" sz="2400" dirty="0" smtClean="0"/>
              <a:t>1-1-1 Philanthropic Model</a:t>
            </a:r>
          </a:p>
          <a:p>
            <a:r>
              <a:rPr lang="en-US" sz="2400" dirty="0" smtClean="0"/>
              <a:t>Beyond </a:t>
            </a:r>
            <a:r>
              <a:rPr lang="en-US" sz="2400" dirty="0" smtClean="0"/>
              <a:t>being </a:t>
            </a:r>
            <a:r>
              <a:rPr lang="en-US" sz="2400" dirty="0" smtClean="0"/>
              <a:t>a leader in the technology space, cloud-based software giant </a:t>
            </a:r>
            <a:r>
              <a:rPr lang="en-US" sz="2400" dirty="0" err="1" smtClean="0"/>
              <a:t>Salesforce</a:t>
            </a:r>
            <a:r>
              <a:rPr lang="en-US" sz="2400" dirty="0" smtClean="0"/>
              <a:t> is a trailblazer in the realm of corporate philanthropy.</a:t>
            </a:r>
          </a:p>
          <a:p>
            <a:r>
              <a:rPr lang="en-US" sz="2400" dirty="0" smtClean="0"/>
              <a:t>Since its outset, the company has championed its </a:t>
            </a:r>
            <a:r>
              <a:rPr lang="en-US" sz="2400" u="sng" dirty="0" smtClean="0">
                <a:hlinkClick r:id="rId2"/>
              </a:rPr>
              <a:t>1-1-1 philanthropic model</a:t>
            </a:r>
            <a:r>
              <a:rPr lang="en-US" sz="2400" dirty="0" smtClean="0"/>
              <a:t>, which involves giving one percent of product, one percent of equity, and one percent of employees’ time to communities and the nonprofit sector.</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rmAutofit fontScale="90000"/>
          </a:bodyPr>
          <a:lstStyle/>
          <a:p>
            <a:pPr algn="l"/>
            <a:r>
              <a:rPr lang="en-US" dirty="0" smtClean="0"/>
              <a:t> </a:t>
            </a:r>
            <a:r>
              <a:rPr lang="en-US" dirty="0" smtClean="0"/>
              <a:t/>
            </a:r>
            <a:br>
              <a:rPr lang="en-US" dirty="0" smtClean="0"/>
            </a:br>
            <a:r>
              <a:rPr lang="en-US" b="1" i="1" dirty="0" smtClean="0"/>
              <a:t>B</a:t>
            </a:r>
            <a:r>
              <a:rPr lang="en-US" sz="2700" b="1" i="1" dirty="0" smtClean="0"/>
              <a:t>en &amp; Jerry’s Social Mission</a:t>
            </a:r>
            <a:br>
              <a:rPr lang="en-US" sz="2700" b="1" i="1" dirty="0" smtClean="0"/>
            </a:br>
            <a:r>
              <a:rPr lang="en-US" sz="2700" b="1" i="1" dirty="0" smtClean="0"/>
              <a:t>At Ben &amp; Jerry’s, positively impacting society is just as important as producing premium ice cream</a:t>
            </a:r>
            <a:r>
              <a:rPr lang="en-US" sz="2700" b="1" i="1" dirty="0" smtClean="0"/>
              <a:t>.</a:t>
            </a:r>
            <a:r>
              <a:rPr lang="en-US" sz="2200" dirty="0" smtClean="0"/>
              <a:t/>
            </a:r>
            <a:br>
              <a:rPr lang="en-US" sz="2200" dirty="0" smtClean="0"/>
            </a:br>
            <a:endParaRPr lang="en-US" dirty="0"/>
          </a:p>
        </p:txBody>
      </p:sp>
      <p:sp>
        <p:nvSpPr>
          <p:cNvPr id="4" name="Rectangle 3"/>
          <p:cNvSpPr/>
          <p:nvPr/>
        </p:nvSpPr>
        <p:spPr>
          <a:xfrm>
            <a:off x="152400" y="1905000"/>
            <a:ext cx="8686800" cy="3477875"/>
          </a:xfrm>
          <a:prstGeom prst="rect">
            <a:avLst/>
          </a:prstGeom>
        </p:spPr>
        <p:txBody>
          <a:bodyPr wrap="square">
            <a:spAutoFit/>
          </a:bodyPr>
          <a:lstStyle/>
          <a:p>
            <a:r>
              <a:rPr lang="en-US" sz="2200" dirty="0" smtClean="0"/>
              <a:t>In 2012, the company became a </a:t>
            </a:r>
            <a:r>
              <a:rPr lang="en-US" sz="2200" u="sng" dirty="0" smtClean="0">
                <a:hlinkClick r:id="rId2"/>
              </a:rPr>
              <a:t>certified B Corporation</a:t>
            </a:r>
            <a:r>
              <a:rPr lang="en-US" sz="2200" dirty="0" smtClean="0"/>
              <a:t>, a business </a:t>
            </a:r>
            <a:r>
              <a:rPr lang="en-US" sz="2200" dirty="0" smtClean="0"/>
              <a:t>that </a:t>
            </a:r>
            <a:r>
              <a:rPr lang="en-US" sz="2200" b="1" dirty="0" smtClean="0"/>
              <a:t>balances purpose and profit by meeting the highest standards of social and environmental </a:t>
            </a:r>
            <a:r>
              <a:rPr lang="en-US" sz="2200" b="1" dirty="0" smtClean="0"/>
              <a:t>performance, public transparency, and legal accountability</a:t>
            </a:r>
            <a:r>
              <a:rPr lang="en-US" sz="2200" dirty="0" smtClean="0"/>
              <a:t>.</a:t>
            </a:r>
            <a:br>
              <a:rPr lang="en-US" sz="2200" dirty="0" smtClean="0"/>
            </a:br>
            <a:r>
              <a:rPr lang="en-US" sz="2200" dirty="0" smtClean="0"/>
              <a:t>To </a:t>
            </a:r>
            <a:r>
              <a:rPr lang="en-US" sz="2200" dirty="0" smtClean="0"/>
              <a:t>become a B </a:t>
            </a:r>
            <a:r>
              <a:rPr lang="en-US" sz="2200" dirty="0" smtClean="0"/>
              <a:t>Corporation </a:t>
            </a:r>
            <a:r>
              <a:rPr lang="en-US" sz="2200" dirty="0" smtClean="0"/>
              <a:t>a </a:t>
            </a:r>
            <a:r>
              <a:rPr lang="en-US" sz="2200" b="1" dirty="0" smtClean="0"/>
              <a:t>company must change its charter to say that founders or the board can consider the community, employees, and social impact as well as shareholder profit when making a business </a:t>
            </a:r>
            <a:r>
              <a:rPr lang="en-US" sz="2200" b="1" dirty="0" smtClean="0"/>
              <a:t>decision.</a:t>
            </a:r>
          </a:p>
          <a:p>
            <a:endParaRPr lang="en-US" sz="2200" b="1" dirty="0" smtClean="0"/>
          </a:p>
          <a:p>
            <a:endParaRPr lang="en-US" sz="2200" dirty="0"/>
          </a:p>
        </p:txBody>
      </p:sp>
      <p:sp>
        <p:nvSpPr>
          <p:cNvPr id="5" name="Rectangle 4"/>
          <p:cNvSpPr/>
          <p:nvPr/>
        </p:nvSpPr>
        <p:spPr>
          <a:xfrm>
            <a:off x="228600" y="4724400"/>
            <a:ext cx="8153400" cy="1569660"/>
          </a:xfrm>
          <a:prstGeom prst="rect">
            <a:avLst/>
          </a:prstGeom>
        </p:spPr>
        <p:txBody>
          <a:bodyPr wrap="square">
            <a:spAutoFit/>
          </a:bodyPr>
          <a:lstStyle/>
          <a:p>
            <a:r>
              <a:rPr lang="en-US" sz="2400" dirty="0" smtClean="0"/>
              <a:t>As part of its overarching commitment to leading with progressive values, the ice cream maker established the </a:t>
            </a:r>
            <a:r>
              <a:rPr lang="en-US" sz="2400" u="sng" dirty="0" smtClean="0">
                <a:hlinkClick r:id="rId3"/>
              </a:rPr>
              <a:t>Ben &amp; Jerry’s Foundation</a:t>
            </a:r>
            <a:r>
              <a:rPr lang="en-US" sz="2400" dirty="0" smtClean="0"/>
              <a:t> in 1985, </a:t>
            </a:r>
            <a:r>
              <a:rPr lang="en-US" sz="2400" b="1" dirty="0" smtClean="0"/>
              <a:t>an organization dedicated to supporting grassroots movements that drive social change</a:t>
            </a:r>
            <a:r>
              <a:rPr lang="en-US" b="1" dirty="0" smtClean="0"/>
              <a:t>.</a:t>
            </a:r>
            <a:endParaRPr 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dirty="0" smtClean="0"/>
              <a:t>Levi Strauss’s Social Impact</a:t>
            </a:r>
            <a:endParaRPr lang="en-US" dirty="0"/>
          </a:p>
        </p:txBody>
      </p:sp>
      <p:sp>
        <p:nvSpPr>
          <p:cNvPr id="4" name="Rectangle 3"/>
          <p:cNvSpPr/>
          <p:nvPr/>
        </p:nvSpPr>
        <p:spPr>
          <a:xfrm>
            <a:off x="0" y="685800"/>
            <a:ext cx="9144000" cy="6338709"/>
          </a:xfrm>
          <a:prstGeom prst="rect">
            <a:avLst/>
          </a:prstGeom>
        </p:spPr>
        <p:txBody>
          <a:bodyPr wrap="square">
            <a:spAutoFit/>
          </a:bodyPr>
          <a:lstStyle/>
          <a:p>
            <a:r>
              <a:rPr lang="en-US" dirty="0" smtClean="0"/>
              <a:t> </a:t>
            </a:r>
            <a:r>
              <a:rPr lang="en-US" sz="2200" dirty="0" smtClean="0"/>
              <a:t>In </a:t>
            </a:r>
            <a:r>
              <a:rPr lang="en-US" sz="2200" dirty="0" smtClean="0"/>
              <a:t>addition to being one of the most successful fashion brands in history, Levi’s is also one of the first to push for a more ethical and sustainable supply chain</a:t>
            </a:r>
            <a:r>
              <a:rPr lang="en-US" sz="2200" dirty="0" smtClean="0"/>
              <a:t>.</a:t>
            </a:r>
          </a:p>
          <a:p>
            <a:endParaRPr lang="en-US" sz="2200" dirty="0" smtClean="0"/>
          </a:p>
          <a:p>
            <a:r>
              <a:rPr lang="en-US" sz="2200" dirty="0" smtClean="0"/>
              <a:t>In 1991, the brand created its </a:t>
            </a:r>
            <a:r>
              <a:rPr lang="en-US" sz="2200" u="sng" dirty="0" smtClean="0">
                <a:hlinkClick r:id="rId2"/>
              </a:rPr>
              <a:t>Terms of Engagement (</a:t>
            </a:r>
            <a:r>
              <a:rPr lang="en-US" sz="2200" u="sng" dirty="0" err="1" smtClean="0">
                <a:hlinkClick r:id="rId2"/>
              </a:rPr>
              <a:t>pdf</a:t>
            </a:r>
            <a:r>
              <a:rPr lang="en-US" sz="2200" u="sng" dirty="0" smtClean="0">
                <a:hlinkClick r:id="rId2"/>
              </a:rPr>
              <a:t>)</a:t>
            </a:r>
            <a:r>
              <a:rPr lang="en-US" sz="2200" dirty="0" smtClean="0"/>
              <a:t>, which established its global code of conduct regarding its supply chain and set standards for workers’ rights, a safe work environment, and an environmentally-friendly production process</a:t>
            </a:r>
            <a:r>
              <a:rPr lang="en-US" sz="2200" dirty="0" smtClean="0"/>
              <a:t>.</a:t>
            </a:r>
          </a:p>
          <a:p>
            <a:endParaRPr lang="en-US" sz="2200" dirty="0" smtClean="0"/>
          </a:p>
          <a:p>
            <a:r>
              <a:rPr lang="en-US" sz="2200" dirty="0" smtClean="0"/>
              <a:t>Since </a:t>
            </a:r>
            <a:r>
              <a:rPr lang="en-US" sz="2200" dirty="0" smtClean="0"/>
              <a:t>2011, the Worker Well-being initiative has been expanded to 12 countries and more than 100,000 workers have benefited from it. In 2016, the brand scaled up the initiative, vowing to </a:t>
            </a:r>
            <a:r>
              <a:rPr lang="en-US" sz="2200" u="sng" dirty="0" smtClean="0">
                <a:hlinkClick r:id="rId3"/>
              </a:rPr>
              <a:t>expand the program to more than 300,000 workers</a:t>
            </a:r>
            <a:r>
              <a:rPr lang="en-US" sz="2200" dirty="0" smtClean="0"/>
              <a:t> and produce more than 80 percent of its product in Worker Well-being factories by 2025</a:t>
            </a:r>
            <a:r>
              <a:rPr lang="en-US" sz="2200" dirty="0" smtClean="0"/>
              <a:t>.</a:t>
            </a:r>
          </a:p>
          <a:p>
            <a:endParaRPr lang="en-US" sz="2200" dirty="0" smtClean="0"/>
          </a:p>
          <a:p>
            <a:r>
              <a:rPr lang="en-US" sz="2200" dirty="0" smtClean="0"/>
              <a:t>For its continued efforts to maintain the well-being of its people and the environment, Levi’s was named one of Engage for Good’s </a:t>
            </a:r>
            <a:r>
              <a:rPr lang="en-US" sz="2200" u="sng" dirty="0" smtClean="0">
                <a:hlinkClick r:id="rId4"/>
              </a:rPr>
              <a:t>2020 Golden Halo Award winners, which is the highest honor reserved for socially responsible companies.</a:t>
            </a:r>
            <a:endParaRPr lang="en-US" sz="22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792162"/>
          </a:xfrm>
        </p:spPr>
        <p:txBody>
          <a:bodyPr>
            <a:noAutofit/>
          </a:bodyPr>
          <a:lstStyle/>
          <a:p>
            <a:pPr algn="l"/>
            <a:r>
              <a:rPr lang="en-US" sz="3600" b="1" dirty="0" smtClean="0"/>
              <a:t/>
            </a:r>
            <a:br>
              <a:rPr lang="en-US" sz="3600" b="1" dirty="0" smtClean="0"/>
            </a:br>
            <a:r>
              <a:rPr lang="en-US" sz="3600" b="1" dirty="0" smtClean="0"/>
              <a:t>Starbucks’s </a:t>
            </a:r>
            <a:r>
              <a:rPr lang="en-US" sz="3600" b="1" dirty="0" smtClean="0"/>
              <a:t>Commitment to Ethical Sourcing</a:t>
            </a:r>
            <a:br>
              <a:rPr lang="en-US" sz="3600" b="1" dirty="0" smtClean="0"/>
            </a:br>
            <a:endParaRPr lang="en-US" sz="3600" b="1" dirty="0"/>
          </a:p>
        </p:txBody>
      </p:sp>
      <p:sp>
        <p:nvSpPr>
          <p:cNvPr id="3" name="Content Placeholder 2"/>
          <p:cNvSpPr>
            <a:spLocks noGrp="1"/>
          </p:cNvSpPr>
          <p:nvPr>
            <p:ph idx="1"/>
          </p:nvPr>
        </p:nvSpPr>
        <p:spPr>
          <a:xfrm>
            <a:off x="228600" y="838200"/>
            <a:ext cx="8686800" cy="5287963"/>
          </a:xfrm>
        </p:spPr>
        <p:txBody>
          <a:bodyPr>
            <a:normAutofit fontScale="85000" lnSpcReduction="20000"/>
          </a:bodyPr>
          <a:lstStyle/>
          <a:p>
            <a:r>
              <a:rPr lang="en-US" sz="2400" b="1" dirty="0" smtClean="0"/>
              <a:t>Starbucks </a:t>
            </a:r>
            <a:r>
              <a:rPr lang="en-US" sz="2400" b="1" dirty="0" smtClean="0"/>
              <a:t>launched its first corporate social responsibility report in 2002 with the goal of becoming as well-known for its CSR initiatives as for its products</a:t>
            </a:r>
            <a:r>
              <a:rPr lang="en-US" sz="2400" dirty="0" smtClean="0"/>
              <a:t>. </a:t>
            </a:r>
            <a:endParaRPr lang="en-US" sz="2400" dirty="0" smtClean="0"/>
          </a:p>
          <a:p>
            <a:pPr>
              <a:buNone/>
            </a:pPr>
            <a:r>
              <a:rPr lang="en-US" sz="2400" dirty="0" smtClean="0"/>
              <a:t> </a:t>
            </a:r>
            <a:r>
              <a:rPr lang="en-US" sz="2400" dirty="0" smtClean="0"/>
              <a:t>    One </a:t>
            </a:r>
            <a:r>
              <a:rPr lang="en-US" sz="2400" dirty="0" smtClean="0"/>
              <a:t>of the ways the brand has fulfilled this goal is through ethical sourcing</a:t>
            </a:r>
            <a:r>
              <a:rPr lang="en-US" sz="2400" dirty="0" smtClean="0"/>
              <a:t>.</a:t>
            </a:r>
          </a:p>
          <a:p>
            <a:endParaRPr lang="en-US" sz="2400" dirty="0" smtClean="0"/>
          </a:p>
          <a:p>
            <a:r>
              <a:rPr lang="en-US" sz="2400" dirty="0" smtClean="0"/>
              <a:t>In 2015, Starbucks verified that </a:t>
            </a:r>
            <a:r>
              <a:rPr lang="en-US" sz="2400" u="sng" dirty="0" smtClean="0">
                <a:hlinkClick r:id="rId2"/>
              </a:rPr>
              <a:t>99 percent of its coffee supply chain is ethically sourced</a:t>
            </a:r>
            <a:r>
              <a:rPr lang="en-US" sz="2400" dirty="0" smtClean="0"/>
              <a:t>, and it seeks to boost that figure to 100 percent through continued efforts and partnerships with local coffee farmers and organizations</a:t>
            </a:r>
            <a:r>
              <a:rPr lang="en-US" sz="2400" dirty="0" smtClean="0"/>
              <a:t>.</a:t>
            </a:r>
          </a:p>
          <a:p>
            <a:endParaRPr lang="en-US" sz="2400" dirty="0" smtClean="0"/>
          </a:p>
          <a:p>
            <a:r>
              <a:rPr lang="en-US" sz="2400" dirty="0" err="1" smtClean="0"/>
              <a:t>Assessesment</a:t>
            </a:r>
            <a:r>
              <a:rPr lang="en-US" sz="2400" dirty="0" smtClean="0"/>
              <a:t> of </a:t>
            </a:r>
            <a:r>
              <a:rPr lang="en-US" sz="2400" dirty="0" smtClean="0"/>
              <a:t>coffee farms against specific economic, social, and environmental standards, ensuring Starbucks can source its product while maintaining a positive social impact</a:t>
            </a:r>
            <a:r>
              <a:rPr lang="en-US" sz="2400" dirty="0" smtClean="0"/>
              <a:t>.</a:t>
            </a:r>
          </a:p>
          <a:p>
            <a:endParaRPr lang="en-US" sz="2400" dirty="0" smtClean="0"/>
          </a:p>
          <a:p>
            <a:r>
              <a:rPr lang="en-US" sz="2400" dirty="0" smtClean="0"/>
              <a:t>For its work, Starbucks was named one of the </a:t>
            </a:r>
            <a:r>
              <a:rPr lang="en-US" sz="2400" u="sng" dirty="0" smtClean="0">
                <a:hlinkClick r:id="rId3"/>
              </a:rPr>
              <a:t>world’s most ethical companies</a:t>
            </a:r>
            <a:r>
              <a:rPr lang="en-US" sz="2400" dirty="0" smtClean="0"/>
              <a:t> in 2021 by </a:t>
            </a:r>
            <a:r>
              <a:rPr lang="en-US" sz="2400" dirty="0" err="1" smtClean="0"/>
              <a:t>Ethisphere</a:t>
            </a:r>
            <a:r>
              <a:rPr lang="en-US" sz="2400" dirty="0" smtClean="0"/>
              <a:t>.</a:t>
            </a:r>
          </a:p>
          <a:p>
            <a:endParaRPr lang="en-US" sz="2400" dirty="0" smtClean="0"/>
          </a:p>
          <a:p>
            <a:pPr>
              <a:buNone/>
            </a:pPr>
            <a:r>
              <a:rPr lang="en-US" dirty="0" smtClean="0"/>
              <a:t>https://stories.starbucks.com/stories/2015/starbucks-ethical-sourcing-program/</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4274" name="Picture 2" descr="PPT - CSR in India PowerPoint Presentation, free download - ID:833094"/>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5" name="Rectangle 4"/>
          <p:cNvSpPr/>
          <p:nvPr/>
        </p:nvSpPr>
        <p:spPr>
          <a:xfrm>
            <a:off x="381000" y="6324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495800" y="6248400"/>
            <a:ext cx="3733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343400" y="0"/>
            <a:ext cx="6096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CSR In India</a:t>
            </a:r>
            <a:endParaRPr lang="en-US" dirty="0"/>
          </a:p>
        </p:txBody>
      </p:sp>
      <p:sp>
        <p:nvSpPr>
          <p:cNvPr id="3" name="Content Placeholder 2"/>
          <p:cNvSpPr>
            <a:spLocks noGrp="1"/>
          </p:cNvSpPr>
          <p:nvPr>
            <p:ph idx="1"/>
          </p:nvPr>
        </p:nvSpPr>
        <p:spPr/>
        <p:txBody>
          <a:bodyPr/>
          <a:lstStyle/>
          <a:p>
            <a:r>
              <a:rPr lang="en-US" dirty="0" smtClean="0">
                <a:hlinkClick r:id="rId2"/>
              </a:rPr>
              <a:t>https://www.ijrte.org/wp-content/uploads/papers/v7i6s5/F10650476S519.pdf</a:t>
            </a:r>
            <a:r>
              <a:rPr lang="en-US" dirty="0" smtClean="0"/>
              <a:t>  Case study</a:t>
            </a:r>
          </a:p>
          <a:p>
            <a:r>
              <a:rPr lang="en-US" smtClean="0"/>
              <a:t>https://www.abacademies.org/articles/evolution-of-csr-with-special-emphasis-on-india-10171.html</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learnpick.in/userfiles/resources_conversion_files/presentation_csr_1476253182_239583-4.jpg"/>
          <p:cNvPicPr>
            <a:picLocks noChangeAspect="1" noChangeArrowheads="1"/>
          </p:cNvPicPr>
          <p:nvPr/>
        </p:nvPicPr>
        <p:blipFill>
          <a:blip r:embed="rId2"/>
          <a:srcRect/>
          <a:stretch>
            <a:fillRect/>
          </a:stretch>
        </p:blipFill>
        <p:spPr bwMode="auto">
          <a:xfrm>
            <a:off x="457200" y="381000"/>
            <a:ext cx="8458200" cy="617220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s://www.learnpick.in/userfiles/resources_conversion_files/presentation_csr_1476253182_239583-6.jpg"/>
          <p:cNvPicPr>
            <a:picLocks noChangeAspect="1" noChangeArrowheads="1"/>
          </p:cNvPicPr>
          <p:nvPr/>
        </p:nvPicPr>
        <p:blipFill>
          <a:blip r:embed="rId2"/>
          <a:srcRect/>
          <a:stretch>
            <a:fillRect/>
          </a:stretch>
        </p:blipFill>
        <p:spPr bwMode="auto">
          <a:xfrm>
            <a:off x="381000" y="533400"/>
            <a:ext cx="8382000" cy="60960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985</TotalTime>
  <Words>2577</Words>
  <Application>Microsoft Office PowerPoint</Application>
  <PresentationFormat>On-screen Show (4:3)</PresentationFormat>
  <Paragraphs>295</Paragraphs>
  <Slides>49</Slides>
  <Notes>2</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Slide 1</vt:lpstr>
      <vt:lpstr>Evolution of CSR</vt:lpstr>
      <vt:lpstr>Slide 3</vt:lpstr>
      <vt:lpstr>Slide 4</vt:lpstr>
      <vt:lpstr>Slide 5</vt:lpstr>
      <vt:lpstr>Wartime patriotism accelerated the development of corporate social responsibility</vt:lpstr>
      <vt:lpstr>Business’s contribution to the war effort reinforced the idea that private enterprise includes civic duties. </vt:lpstr>
      <vt:lpstr>Post-War: Civil Rights and Sustainability  </vt:lpstr>
      <vt:lpstr>Howard Bowen</vt:lpstr>
      <vt:lpstr>The Civil Rights</vt:lpstr>
      <vt:lpstr>Environmental movement</vt:lpstr>
      <vt:lpstr> Today’s State of CSR </vt:lpstr>
      <vt:lpstr>Stakeholders</vt:lpstr>
      <vt:lpstr>“Corporate Social Justice.”</vt:lpstr>
      <vt:lpstr>Reverse Global Change</vt:lpstr>
      <vt:lpstr>Slide 16</vt:lpstr>
      <vt:lpstr>Slide 17</vt:lpstr>
      <vt:lpstr>Slide 18</vt:lpstr>
      <vt:lpstr>Slide 19</vt:lpstr>
      <vt:lpstr>Slide 20</vt:lpstr>
      <vt:lpstr>Slide 21</vt:lpstr>
      <vt:lpstr>Slide 22</vt:lpstr>
      <vt:lpstr>Slide 23</vt:lpstr>
      <vt:lpstr> Historical roots of social responsibility contd… </vt:lpstr>
      <vt:lpstr>Quality of life-Employees</vt:lpstr>
      <vt:lpstr>Growing level of urbanization and industrialization</vt:lpstr>
      <vt:lpstr>CSR- the early Charitable Impulse</vt:lpstr>
      <vt:lpstr>Slide 28</vt:lpstr>
      <vt:lpstr>Strategic Philanthropy</vt:lpstr>
      <vt:lpstr>Porter &amp; Kramer ‘Strategy and society: The link between competitive advantage and corporate social responsibility’. </vt:lpstr>
      <vt:lpstr>Slide 31</vt:lpstr>
      <vt:lpstr>Slide 32</vt:lpstr>
      <vt:lpstr>Weakness in all 4 Schools</vt:lpstr>
      <vt:lpstr>A New Approach</vt:lpstr>
      <vt:lpstr>Slide 35</vt:lpstr>
      <vt:lpstr>Slide 36</vt:lpstr>
      <vt:lpstr>Slide 37</vt:lpstr>
      <vt:lpstr>Choosing which social issues to address.  </vt:lpstr>
      <vt:lpstr>Creating a corporate social agenda</vt:lpstr>
      <vt:lpstr>Slide 40</vt:lpstr>
      <vt:lpstr>Slide 41</vt:lpstr>
      <vt:lpstr>Salesforce</vt:lpstr>
      <vt:lpstr>  Ben &amp; Jerry’s Social Mission At Ben &amp; Jerry’s, positively impacting society is just as important as producing premium ice cream. </vt:lpstr>
      <vt:lpstr>Levi Strauss’s Social Impact</vt:lpstr>
      <vt:lpstr> Starbucks’s Commitment to Ethical Sourcing </vt:lpstr>
      <vt:lpstr>Slide 46</vt:lpstr>
      <vt:lpstr>CSR In India</vt:lpstr>
      <vt:lpstr>Slide 48</vt:lpstr>
      <vt:lpstr>Slide 49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55</cp:revision>
  <dcterms:created xsi:type="dcterms:W3CDTF">2022-07-04T07:56:19Z</dcterms:created>
  <dcterms:modified xsi:type="dcterms:W3CDTF">2022-07-18T19:11:28Z</dcterms:modified>
</cp:coreProperties>
</file>