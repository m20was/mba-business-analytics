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1" r:id="rId4"/>
    <p:sldId id="257" r:id="rId5"/>
    <p:sldId id="277" r:id="rId6"/>
    <p:sldId id="274" r:id="rId7"/>
    <p:sldId id="258" r:id="rId8"/>
    <p:sldId id="259" r:id="rId9"/>
    <p:sldId id="260" r:id="rId10"/>
    <p:sldId id="261" r:id="rId11"/>
    <p:sldId id="262" r:id="rId12"/>
    <p:sldId id="263" r:id="rId13"/>
    <p:sldId id="264" r:id="rId14"/>
    <p:sldId id="265" r:id="rId15"/>
    <p:sldId id="266" r:id="rId16"/>
    <p:sldId id="267" r:id="rId17"/>
    <p:sldId id="268" r:id="rId18"/>
    <p:sldId id="283" r:id="rId19"/>
    <p:sldId id="269" r:id="rId20"/>
    <p:sldId id="270" r:id="rId21"/>
    <p:sldId id="278" r:id="rId22"/>
    <p:sldId id="271" r:id="rId23"/>
    <p:sldId id="275" r:id="rId24"/>
    <p:sldId id="272" r:id="rId25"/>
    <p:sldId id="273" r:id="rId26"/>
    <p:sldId id="27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CC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7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3EF401-DC92-4BA7-9F9B-AF1376488282}"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3EF401-DC92-4BA7-9F9B-AF1376488282}"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3EF401-DC92-4BA7-9F9B-AF1376488282}"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3EF401-DC92-4BA7-9F9B-AF1376488282}" type="datetimeFigureOut">
              <a:rPr lang="en-US" smtClean="0"/>
              <a:pPr/>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3EF401-DC92-4BA7-9F9B-AF1376488282}" type="datetimeFigureOut">
              <a:rPr lang="en-US" smtClean="0"/>
              <a:pPr/>
              <a:t>1/10/2023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3EF401-DC92-4BA7-9F9B-AF1376488282}" type="datetimeFigureOut">
              <a:rPr lang="en-US" smtClean="0"/>
              <a:pPr/>
              <a:t>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3EF401-DC92-4BA7-9F9B-AF1376488282}" type="datetimeFigureOut">
              <a:rPr lang="en-US" smtClean="0"/>
              <a:pPr/>
              <a:t>1/10/2023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3EF401-DC92-4BA7-9F9B-AF1376488282}" type="datetimeFigureOut">
              <a:rPr lang="en-US" smtClean="0"/>
              <a:pPr/>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3EF401-DC92-4BA7-9F9B-AF1376488282}" type="datetimeFigureOut">
              <a:rPr lang="en-US" smtClean="0"/>
              <a:pPr/>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3EF401-DC92-4BA7-9F9B-AF1376488282}"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3EF401-DC92-4BA7-9F9B-AF1376488282}" type="datetimeFigureOut">
              <a:rPr lang="en-US" smtClean="0"/>
              <a:pPr/>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D3FC9-3B88-400C-83D7-14D1033128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3EF401-DC92-4BA7-9F9B-AF1376488282}" type="datetimeFigureOut">
              <a:rPr lang="en-US" smtClean="0"/>
              <a:pPr/>
              <a:t>1/10/2023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AD3FC9-3B88-400C-83D7-14D1033128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hyperlink" Target="https://dx.doi.org/10.2139/ssrn.94032" TargetMode="External" /><Relationship Id="rId2" Type="http://schemas.openxmlformats.org/officeDocument/2006/relationships/hyperlink" Target="https://en.wikipedia.org/wiki/Digital_object_identifier" TargetMode="External" /><Relationship Id="rId1" Type="http://schemas.openxmlformats.org/officeDocument/2006/relationships/slideLayout" Target="../slideLayouts/slideLayout2.xml" /><Relationship Id="rId5" Type="http://schemas.openxmlformats.org/officeDocument/2006/relationships/hyperlink" Target="https://ssrn.com/abstract=94032" TargetMode="External" /><Relationship Id="rId4" Type="http://schemas.openxmlformats.org/officeDocument/2006/relationships/hyperlink" Target="https://en.wikipedia.org/wiki/Social_Science_Research_Network" TargetMode="Externa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hyperlink" Target="http://www.slideshare.net/sagarphul/agency-theory-24234940" TargetMode="Externa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04800"/>
            <a:ext cx="7772400" cy="1470025"/>
          </a:xfrm>
        </p:spPr>
        <p:txBody>
          <a:bodyPr/>
          <a:lstStyle/>
          <a:p>
            <a:r>
              <a:rPr lang="en-US" b="1" dirty="0">
                <a:solidFill>
                  <a:srgbClr val="00B050"/>
                </a:solidFill>
              </a:rPr>
              <a:t>Theories of Corporate Governance</a:t>
            </a:r>
          </a:p>
        </p:txBody>
      </p:sp>
      <p:sp>
        <p:nvSpPr>
          <p:cNvPr id="3" name="Rectangle 2"/>
          <p:cNvSpPr/>
          <p:nvPr/>
        </p:nvSpPr>
        <p:spPr>
          <a:xfrm>
            <a:off x="1371600" y="2286000"/>
            <a:ext cx="6477000" cy="4524315"/>
          </a:xfrm>
          <a:prstGeom prst="rect">
            <a:avLst/>
          </a:prstGeom>
        </p:spPr>
        <p:txBody>
          <a:bodyPr wrap="square">
            <a:spAutoFit/>
          </a:bodyPr>
          <a:lstStyle/>
          <a:p>
            <a:pPr>
              <a:buNone/>
            </a:pPr>
            <a:r>
              <a:rPr lang="en-US" sz="2400" dirty="0"/>
              <a:t>It has been contended that corporate governance practices is not a standard mode (not a “one size fits all”) and thus cannot operate in any standard form but rather vary across nations and firms (OECD, 2000). </a:t>
            </a:r>
          </a:p>
          <a:p>
            <a:pPr>
              <a:buNone/>
            </a:pPr>
            <a:endParaRPr lang="en-US" sz="2400" i="1" dirty="0">
              <a:solidFill>
                <a:srgbClr val="C00000"/>
              </a:solidFill>
            </a:endParaRPr>
          </a:p>
          <a:p>
            <a:pPr>
              <a:buNone/>
            </a:pPr>
            <a:endParaRPr lang="en-US" sz="2400" i="1" dirty="0">
              <a:solidFill>
                <a:srgbClr val="C00000"/>
              </a:solidFill>
            </a:endParaRPr>
          </a:p>
          <a:p>
            <a:pPr>
              <a:buNone/>
            </a:pPr>
            <a:endParaRPr lang="en-US" sz="2400" i="1" dirty="0">
              <a:solidFill>
                <a:srgbClr val="C00000"/>
              </a:solidFill>
            </a:endParaRPr>
          </a:p>
          <a:p>
            <a:pPr>
              <a:buNone/>
            </a:pPr>
            <a:endParaRPr lang="en-US" sz="2400" i="1" dirty="0">
              <a:solidFill>
                <a:srgbClr val="C00000"/>
              </a:solidFill>
            </a:endParaRPr>
          </a:p>
          <a:p>
            <a:pPr>
              <a:buNone/>
            </a:pPr>
            <a:r>
              <a:rPr lang="en-US" sz="2400" i="1" dirty="0">
                <a:solidFill>
                  <a:srgbClr val="C00000"/>
                </a:solidFill>
              </a:rPr>
              <a:t>www.todayscience.org/jbmJournal of Business &amp; Management Vol. 1, Issue 1; 2012</a:t>
            </a:r>
          </a:p>
          <a:p>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38200"/>
            <a:ext cx="9144000" cy="6019800"/>
          </a:xfrm>
        </p:spPr>
        <p:txBody>
          <a:bodyPr>
            <a:normAutofit fontScale="32500" lnSpcReduction="20000"/>
          </a:bodyPr>
          <a:lstStyle/>
          <a:p>
            <a:pPr>
              <a:buNone/>
            </a:pPr>
            <a:endParaRPr lang="en-US" dirty="0"/>
          </a:p>
          <a:p>
            <a:pPr marL="287338" indent="-287338"/>
            <a:r>
              <a:rPr lang="en-US" sz="6200" b="1" dirty="0"/>
              <a:t>Agents or managers may not always act in the best interest of shareholders when the control of a company is separate from its ownership. </a:t>
            </a:r>
          </a:p>
          <a:p>
            <a:pPr marL="287338" indent="-287338"/>
            <a:endParaRPr lang="en-US" sz="6200" b="1" dirty="0"/>
          </a:p>
          <a:p>
            <a:pPr marL="287338" indent="-287338"/>
            <a:r>
              <a:rPr lang="en-US" sz="6200" b="1" dirty="0"/>
              <a:t>In June 1959, Simon Herbert (quoted in </a:t>
            </a:r>
            <a:r>
              <a:rPr lang="en-US" sz="6200" b="1" dirty="0" err="1"/>
              <a:t>Baysinger</a:t>
            </a:r>
            <a:r>
              <a:rPr lang="en-US" sz="6200" b="1" dirty="0"/>
              <a:t> and </a:t>
            </a:r>
            <a:r>
              <a:rPr lang="en-US" sz="6200" b="1" dirty="0" err="1"/>
              <a:t>Hoskisson</a:t>
            </a:r>
            <a:r>
              <a:rPr lang="en-US" sz="6200" b="1" dirty="0"/>
              <a:t>, 1990) proclaimed that managers might be “satisfiers” rather than “maximisers,” that is, they tend to play it safe and seek an acceptable level of growth because they are more concerned with perpetuating their own existence than with </a:t>
            </a:r>
            <a:r>
              <a:rPr lang="en-US" sz="6200" b="1" dirty="0" err="1"/>
              <a:t>maximising</a:t>
            </a:r>
            <a:r>
              <a:rPr lang="en-US" sz="6200" b="1" dirty="0"/>
              <a:t> the value of the firm to its shareholders.</a:t>
            </a:r>
          </a:p>
          <a:p>
            <a:pPr marL="287338" indent="-287338"/>
            <a:endParaRPr lang="en-US" sz="6200" b="1" dirty="0"/>
          </a:p>
          <a:p>
            <a:pPr marL="287338" indent="-287338"/>
            <a:r>
              <a:rPr lang="en-US" sz="6200" b="1" dirty="0"/>
              <a:t> But shareholders delegate decision-making authority to the agent (CEO) with the expectation that the agent will act in their best interest.</a:t>
            </a:r>
          </a:p>
          <a:p>
            <a:pPr marL="341313" indent="0">
              <a:buNone/>
            </a:pPr>
            <a:endParaRPr lang="en-US" sz="6200" b="1" dirty="0"/>
          </a:p>
          <a:p>
            <a:pPr marL="341313" indent="-341313"/>
            <a:r>
              <a:rPr lang="en-US" sz="6200" b="1" dirty="0"/>
              <a:t>A comprehensive theory of the firm under agency arrangements was developed by Jensen and </a:t>
            </a:r>
            <a:r>
              <a:rPr lang="en-US" sz="6200" b="1" dirty="0" err="1"/>
              <a:t>Meckling</a:t>
            </a:r>
            <a:r>
              <a:rPr lang="en-US" sz="6200" b="1" dirty="0"/>
              <a:t> (1976), who show that the principals (the shareholders) can assure themselves that the agent will make the optimal decisions only if appropriate incentives are given and only if the agent is monitored. </a:t>
            </a:r>
          </a:p>
          <a:p>
            <a:pPr marL="341313" indent="-341313"/>
            <a:endParaRPr lang="en-US" sz="6200" b="1" dirty="0"/>
          </a:p>
          <a:p>
            <a:pPr marL="341313" indent="-341313"/>
            <a:r>
              <a:rPr lang="en-US" sz="6200" b="1" dirty="0"/>
              <a:t>Incentives include such things as </a:t>
            </a:r>
            <a:r>
              <a:rPr lang="en-US" sz="6200" b="1" dirty="0" err="1"/>
              <a:t>stockoptions</a:t>
            </a:r>
            <a:r>
              <a:rPr lang="en-US" sz="6200" b="1" dirty="0"/>
              <a:t>, bonuses and prerequisites which are directly related to how well the results of management’s decisions serve the interests of shareholders. </a:t>
            </a:r>
          </a:p>
        </p:txBody>
      </p:sp>
      <p:sp>
        <p:nvSpPr>
          <p:cNvPr id="4" name="Title 3"/>
          <p:cNvSpPr>
            <a:spLocks noGrp="1"/>
          </p:cNvSpPr>
          <p:nvPr>
            <p:ph type="title"/>
          </p:nvPr>
        </p:nvSpPr>
        <p:spPr>
          <a:xfrm>
            <a:off x="457200" y="0"/>
            <a:ext cx="8229600" cy="685800"/>
          </a:xfrm>
        </p:spPr>
        <p:txBody>
          <a:bodyPr>
            <a:normAutofit fontScale="90000"/>
          </a:bodyPr>
          <a:lstStyle/>
          <a:p>
            <a:r>
              <a:rPr lang="en-US" dirty="0"/>
              <a:t>Understanding of Agency Theory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8991600" cy="6629400"/>
          </a:xfrm>
        </p:spPr>
        <p:txBody>
          <a:bodyPr>
            <a:normAutofit/>
          </a:bodyPr>
          <a:lstStyle/>
          <a:p>
            <a:pPr marL="341313" indent="-341313"/>
            <a:r>
              <a:rPr lang="en-US" sz="2200" b="1" dirty="0"/>
              <a:t>Monitoring consists of bonding the agent, systematic reviews of management prerequisites, financial audits, and placing specific limits on management decisions. These involve costs, which are an inevitable result of the separation of corporate ownership and control. Such costs are not necessarily bad for shareholders, but the monitoring activity they cover needs to be efficient.</a:t>
            </a:r>
          </a:p>
          <a:p>
            <a:pPr marL="341313" indent="-341313"/>
            <a:endParaRPr lang="en-US" sz="2600" dirty="0"/>
          </a:p>
          <a:p>
            <a:r>
              <a:rPr lang="en-US" sz="2000" b="1" dirty="0"/>
              <a:t>In contrast, </a:t>
            </a:r>
            <a:r>
              <a:rPr lang="en-US" sz="2000" b="1" dirty="0" err="1"/>
              <a:t>Demesetz</a:t>
            </a:r>
            <a:r>
              <a:rPr lang="en-US" sz="2000" b="1" dirty="0"/>
              <a:t> (1983) and </a:t>
            </a:r>
            <a:r>
              <a:rPr lang="en-US" sz="2000" b="1" dirty="0" err="1"/>
              <a:t>Fama</a:t>
            </a:r>
            <a:r>
              <a:rPr lang="en-US" sz="2000" b="1" dirty="0"/>
              <a:t> and Jensen (1983) suggest that the primary monitoring of managers comes not from the owners but from the managerial </a:t>
            </a:r>
            <a:r>
              <a:rPr lang="en-US" sz="2000" b="1" dirty="0" err="1"/>
              <a:t>labour</a:t>
            </a:r>
            <a:r>
              <a:rPr lang="en-US" sz="2000" b="1" dirty="0"/>
              <a:t> market. It is argued that management control of a large corporation is completely separate from its security ownership. Efficient capital markets provide signals a bout the value of a company’s securities and thus about the performance of its managers.</a:t>
            </a:r>
          </a:p>
          <a:p>
            <a:endParaRPr lang="en-US" sz="2400" dirty="0"/>
          </a:p>
          <a:p>
            <a:r>
              <a:rPr lang="en-US" sz="2000" b="1" dirty="0"/>
              <a:t>If the managerial labor market is competitive both within and outside the firm, it will tend to discipline the manager. Therefore, the signals given by changes in the total market value of the firm’s securities become very important.</a:t>
            </a:r>
          </a:p>
          <a:p>
            <a:pPr>
              <a:buNone/>
            </a:pPr>
            <a:endParaRPr lang="en-US" sz="2000" b="1" i="1" dirty="0">
              <a:solidFill>
                <a:srgbClr val="FF0000"/>
              </a:solidFill>
            </a:endParaRPr>
          </a:p>
          <a:p>
            <a:pPr>
              <a:buNone/>
            </a:pPr>
            <a:r>
              <a:rPr lang="en-US" sz="2000" b="1" i="1" dirty="0">
                <a:solidFill>
                  <a:srgbClr val="FF0000"/>
                </a:solidFill>
              </a:rPr>
              <a:t>http://www.kantakji.com/media/9422/file689.pdf</a:t>
            </a:r>
          </a:p>
          <a:p>
            <a:endParaRPr lang="en-US" sz="2000" b="1" dirty="0"/>
          </a:p>
          <a:p>
            <a:endParaRPr 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dirty="0"/>
              <a:t>Agency Theory</a:t>
            </a:r>
          </a:p>
        </p:txBody>
      </p:sp>
      <p:sp>
        <p:nvSpPr>
          <p:cNvPr id="3" name="Content Placeholder 2"/>
          <p:cNvSpPr>
            <a:spLocks noGrp="1"/>
          </p:cNvSpPr>
          <p:nvPr>
            <p:ph idx="1"/>
          </p:nvPr>
        </p:nvSpPr>
        <p:spPr>
          <a:xfrm>
            <a:off x="0" y="1219200"/>
            <a:ext cx="9144000" cy="5638800"/>
          </a:xfrm>
        </p:spPr>
        <p:txBody>
          <a:bodyPr>
            <a:normAutofit fontScale="92500" lnSpcReduction="10000"/>
          </a:bodyPr>
          <a:lstStyle/>
          <a:p>
            <a:pPr>
              <a:buNone/>
            </a:pPr>
            <a:r>
              <a:rPr lang="en-US" dirty="0"/>
              <a:t>    Agency theory having its roots in economic theory was exposited by Alchian and Demsetz (1972) and  further developed by Jensen and Meckling (1976). </a:t>
            </a:r>
          </a:p>
          <a:p>
            <a:endParaRPr lang="en-US" dirty="0"/>
          </a:p>
          <a:p>
            <a:pPr algn="ctr">
              <a:buNone/>
            </a:pPr>
            <a:r>
              <a:rPr lang="en-US" dirty="0"/>
              <a:t>Agency theory is defined as </a:t>
            </a:r>
          </a:p>
          <a:p>
            <a:pPr marL="0" indent="0">
              <a:buNone/>
            </a:pPr>
            <a:r>
              <a:rPr lang="en-US" b="1" i="1" dirty="0"/>
              <a:t>“the relationship between the principals, such as shareholders and agents such as the company executives and  managers .In this theory, shareholders who are the owners or principals of the company, hires the agents to perform work. Principals delegate the running of business to the directors or managers, who are the shareholder’s agents”.</a:t>
            </a:r>
          </a:p>
          <a:p>
            <a:pPr algn="ctr">
              <a:buNone/>
            </a:pPr>
            <a:endParaRPr lang="en-US" dirty="0"/>
          </a:p>
          <a:p>
            <a:pPr>
              <a:buNone/>
            </a:pP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a:buNone/>
            </a:pPr>
            <a:r>
              <a:rPr lang="en-US" dirty="0"/>
              <a:t>   Berle and Means regarded corporate governance as a mechanism where a  </a:t>
            </a:r>
            <a:r>
              <a:rPr lang="en-US" b="1" dirty="0"/>
              <a:t>board of directors is a crucial monitoring device to minimize the problems brought about by the  principal-agent relationship</a:t>
            </a:r>
            <a:r>
              <a:rPr lang="en-US" dirty="0"/>
              <a:t>. In this context, agents are the managers, principals are the owners and the boards of directors act as the monitoring mechanism.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descr="An overview of corporate governance"/>
          <p:cNvPicPr>
            <a:picLocks noChangeAspect="1" noChangeArrowheads="1"/>
          </p:cNvPicPr>
          <p:nvPr/>
        </p:nvPicPr>
        <p:blipFill>
          <a:blip r:embed="rId2" cstate="print"/>
          <a:srcRect/>
          <a:stretch>
            <a:fillRect/>
          </a:stretch>
        </p:blipFill>
        <p:spPr bwMode="auto">
          <a:xfrm>
            <a:off x="304800" y="838200"/>
            <a:ext cx="8610600" cy="52578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Agency Theory Contd.</a:t>
            </a:r>
          </a:p>
        </p:txBody>
      </p:sp>
      <p:sp>
        <p:nvSpPr>
          <p:cNvPr id="3" name="Content Placeholder 2"/>
          <p:cNvSpPr>
            <a:spLocks noGrp="1"/>
          </p:cNvSpPr>
          <p:nvPr>
            <p:ph idx="1"/>
          </p:nvPr>
        </p:nvSpPr>
        <p:spPr>
          <a:xfrm>
            <a:off x="0" y="1447800"/>
            <a:ext cx="9144000" cy="5410200"/>
          </a:xfrm>
        </p:spPr>
        <p:txBody>
          <a:bodyPr>
            <a:normAutofit/>
          </a:bodyPr>
          <a:lstStyle/>
          <a:p>
            <a:pPr marL="0" indent="0">
              <a:buNone/>
            </a:pPr>
            <a:r>
              <a:rPr lang="en-US" dirty="0"/>
              <a:t>Literature on corporate governance attributes </a:t>
            </a:r>
            <a:r>
              <a:rPr lang="en-US" b="1" dirty="0">
                <a:solidFill>
                  <a:srgbClr val="FF0000"/>
                </a:solidFill>
              </a:rPr>
              <a:t>two factors </a:t>
            </a:r>
            <a:r>
              <a:rPr lang="en-US" dirty="0"/>
              <a:t>to agency theory. The first factor is that corporations are :</a:t>
            </a:r>
          </a:p>
          <a:p>
            <a:r>
              <a:rPr lang="en-US" dirty="0"/>
              <a:t>Reduced to </a:t>
            </a:r>
            <a:r>
              <a:rPr lang="en-US" b="1" i="1" dirty="0">
                <a:solidFill>
                  <a:srgbClr val="FF0000"/>
                </a:solidFill>
              </a:rPr>
              <a:t>two participants</a:t>
            </a:r>
            <a:r>
              <a:rPr lang="en-US" dirty="0"/>
              <a:t>, managers and shareholders whose interests are assumed to be both clear and consistent.</a:t>
            </a:r>
          </a:p>
          <a:p>
            <a:r>
              <a:rPr lang="en-US" dirty="0"/>
              <a:t>A second notion is that </a:t>
            </a:r>
            <a:r>
              <a:rPr lang="en-US" b="1" i="1" dirty="0">
                <a:solidFill>
                  <a:srgbClr val="FF0000"/>
                </a:solidFill>
              </a:rPr>
              <a:t>humans are self interested </a:t>
            </a:r>
            <a:r>
              <a:rPr lang="en-US" dirty="0"/>
              <a:t>and disinclined to sacrifice their personal interests for the interests of the others.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dirty="0"/>
              <a:t>Agency Theory Contd</a:t>
            </a:r>
          </a:p>
        </p:txBody>
      </p:sp>
      <p:sp>
        <p:nvSpPr>
          <p:cNvPr id="3" name="Content Placeholder 2"/>
          <p:cNvSpPr>
            <a:spLocks noGrp="1"/>
          </p:cNvSpPr>
          <p:nvPr>
            <p:ph idx="1"/>
          </p:nvPr>
        </p:nvSpPr>
        <p:spPr>
          <a:xfrm>
            <a:off x="0" y="1219200"/>
            <a:ext cx="9144000" cy="5638800"/>
          </a:xfrm>
        </p:spPr>
        <p:txBody>
          <a:bodyPr>
            <a:normAutofit fontScale="92500" lnSpcReduction="10000"/>
          </a:bodyPr>
          <a:lstStyle/>
          <a:p>
            <a:pPr marL="0" indent="0">
              <a:buNone/>
            </a:pPr>
            <a:r>
              <a:rPr lang="en-US" dirty="0"/>
              <a:t>As applied to corporate governance the theory suggests a </a:t>
            </a:r>
            <a:r>
              <a:rPr lang="en-US" b="1" dirty="0">
                <a:solidFill>
                  <a:srgbClr val="002060"/>
                </a:solidFill>
              </a:rPr>
              <a:t>fundamental problem </a:t>
            </a:r>
            <a:r>
              <a:rPr lang="en-US" dirty="0"/>
              <a:t>for </a:t>
            </a:r>
            <a:r>
              <a:rPr lang="en-US" b="1" dirty="0">
                <a:solidFill>
                  <a:srgbClr val="C00000"/>
                </a:solidFill>
              </a:rPr>
              <a:t>absent or distant owners/shareholders </a:t>
            </a:r>
            <a:r>
              <a:rPr lang="en-US" dirty="0"/>
              <a:t>who employ professional executives to act on their behalf. </a:t>
            </a:r>
          </a:p>
          <a:p>
            <a:pPr marL="0" indent="0">
              <a:buNone/>
            </a:pPr>
            <a:endParaRPr lang="en-US" dirty="0"/>
          </a:p>
          <a:p>
            <a:pPr marL="0" indent="0">
              <a:buNone/>
            </a:pPr>
            <a:r>
              <a:rPr lang="en-US" dirty="0"/>
              <a:t>In line with neo-classical economics, the root assumption informing this theory is that </a:t>
            </a:r>
            <a:r>
              <a:rPr lang="en-US" b="1" dirty="0">
                <a:solidFill>
                  <a:srgbClr val="002060"/>
                </a:solidFill>
              </a:rPr>
              <a:t>the agent is likely to be self-interested and opportunistic. </a:t>
            </a:r>
          </a:p>
          <a:p>
            <a:pPr marL="0" indent="0">
              <a:buNone/>
            </a:pPr>
            <a:endParaRPr lang="en-US" dirty="0"/>
          </a:p>
          <a:p>
            <a:pPr marL="0" indent="0">
              <a:buNone/>
            </a:pPr>
            <a:r>
              <a:rPr lang="en-US" dirty="0"/>
              <a:t>This raises the prospect that the executive, as agent, will serve their own interests rather than those of the owner principal.</a:t>
            </a:r>
          </a:p>
          <a:p>
            <a:pPr marL="0" indent="0">
              <a:buNone/>
            </a:pPr>
            <a:endParaRPr lang="en-US" dirty="0"/>
          </a:p>
          <a:p>
            <a:pPr marL="0" indent="0">
              <a:buNone/>
            </a:pP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Agency Theory Contd.</a:t>
            </a:r>
          </a:p>
        </p:txBody>
      </p:sp>
      <p:sp>
        <p:nvSpPr>
          <p:cNvPr id="3" name="Content Placeholder 2"/>
          <p:cNvSpPr>
            <a:spLocks noGrp="1"/>
          </p:cNvSpPr>
          <p:nvPr>
            <p:ph idx="1"/>
          </p:nvPr>
        </p:nvSpPr>
        <p:spPr>
          <a:xfrm>
            <a:off x="0" y="1143000"/>
            <a:ext cx="9144000" cy="5715000"/>
          </a:xfrm>
        </p:spPr>
        <p:txBody>
          <a:bodyPr wrap="square">
            <a:normAutofit fontScale="85000" lnSpcReduction="20000"/>
          </a:bodyPr>
          <a:lstStyle/>
          <a:p>
            <a:pPr>
              <a:buNone/>
            </a:pPr>
            <a:r>
              <a:rPr lang="en-US" b="1" u="sng" dirty="0">
                <a:solidFill>
                  <a:srgbClr val="002060"/>
                </a:solidFill>
              </a:rPr>
              <a:t>Model of an employee in the agency theory </a:t>
            </a:r>
          </a:p>
          <a:p>
            <a:pPr>
              <a:buNone/>
            </a:pPr>
            <a:endParaRPr lang="en-US" b="1" u="sng" dirty="0">
              <a:solidFill>
                <a:srgbClr val="002060"/>
              </a:solidFill>
            </a:endParaRPr>
          </a:p>
          <a:p>
            <a:pPr marL="0" indent="0" algn="ctr">
              <a:buNone/>
            </a:pPr>
            <a:r>
              <a:rPr lang="en-US" b="1" i="1" dirty="0"/>
              <a:t>A self-interested, individualistic and bounded rationality where rewards and punishments seem to take priority.</a:t>
            </a:r>
          </a:p>
          <a:p>
            <a:pPr marL="0" indent="0" algn="ctr">
              <a:buNone/>
            </a:pPr>
            <a:endParaRPr lang="en-US" b="1" i="1" dirty="0"/>
          </a:p>
          <a:p>
            <a:pPr>
              <a:buNone/>
            </a:pPr>
            <a:r>
              <a:rPr lang="en-US" dirty="0"/>
              <a:t>     Agents or managers may not always act in the best interest of shareholders when the control of a company is separate from its ownership. In June 1959, Simon Herbert (quoted in Baysinger and Hoskisson, 1990) proclaimed that </a:t>
            </a:r>
            <a:r>
              <a:rPr lang="en-US" b="1" dirty="0"/>
              <a:t>managers might be “satisfiers” rather than “maximisers,” that is, they tend to play it safe and seek an acceptable level of growth </a:t>
            </a:r>
            <a:r>
              <a:rPr lang="en-US" dirty="0"/>
              <a:t>because they are more concerned with perpetuating their </a:t>
            </a:r>
            <a:r>
              <a:rPr lang="en-US" b="1" dirty="0"/>
              <a:t>own existence </a:t>
            </a:r>
            <a:r>
              <a:rPr lang="en-US" dirty="0"/>
              <a:t>than with maximising the value of the firm to its shareholders. But shareholders delegate decision-making authority to the agent (CEO) with the expectation that the agent will act in their best interest.</a:t>
            </a:r>
          </a:p>
          <a:p>
            <a:pPr algn="ctr"/>
            <a:endParaRPr lang="en-US" b="1"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229600" cy="639762"/>
          </a:xfrm>
        </p:spPr>
        <p:txBody>
          <a:bodyPr>
            <a:normAutofit fontScale="90000"/>
          </a:bodyPr>
          <a:lstStyle/>
          <a:p>
            <a:r>
              <a:rPr lang="en-US" dirty="0"/>
              <a:t>Agency Theory Contd.</a:t>
            </a:r>
          </a:p>
        </p:txBody>
      </p:sp>
      <p:sp>
        <p:nvSpPr>
          <p:cNvPr id="3" name="Content Placeholder 2"/>
          <p:cNvSpPr>
            <a:spLocks noGrp="1"/>
          </p:cNvSpPr>
          <p:nvPr>
            <p:ph idx="1"/>
          </p:nvPr>
        </p:nvSpPr>
        <p:spPr>
          <a:xfrm>
            <a:off x="0" y="685800"/>
            <a:ext cx="9144000" cy="6172200"/>
          </a:xfrm>
        </p:spPr>
        <p:txBody>
          <a:bodyPr>
            <a:normAutofit fontScale="55000" lnSpcReduction="20000"/>
          </a:bodyPr>
          <a:lstStyle/>
          <a:p>
            <a:pPr marL="0" indent="0">
              <a:buNone/>
            </a:pPr>
            <a:r>
              <a:rPr lang="en-US" sz="3800" b="1" dirty="0"/>
              <a:t>Agency Costs</a:t>
            </a:r>
          </a:p>
          <a:p>
            <a:pPr marL="0" indent="0">
              <a:buNone/>
            </a:pPr>
            <a:r>
              <a:rPr lang="en-US" dirty="0"/>
              <a:t>To counter such problems the principal will have to incur </a:t>
            </a:r>
            <a:r>
              <a:rPr lang="en-US" b="1" i="1" dirty="0">
                <a:solidFill>
                  <a:srgbClr val="0070C0"/>
                </a:solidFill>
              </a:rPr>
              <a:t>‘Agency costs';  </a:t>
            </a:r>
            <a:r>
              <a:rPr lang="en-US" dirty="0"/>
              <a:t>costs that arise from the necessity of creating incentives (Stock options)that align the interests of the executive with those of the shareholder, and costs incurred by the </a:t>
            </a:r>
            <a:r>
              <a:rPr lang="en-US" b="1" dirty="0">
                <a:solidFill>
                  <a:srgbClr val="0070C0"/>
                </a:solidFill>
              </a:rPr>
              <a:t>necessity of monitoring executive conduct to prevent the abuse of owner interests. </a:t>
            </a:r>
            <a:r>
              <a:rPr lang="en-US" dirty="0"/>
              <a:t>Gathering</a:t>
            </a:r>
            <a:r>
              <a:rPr lang="en-US" b="1" dirty="0">
                <a:solidFill>
                  <a:srgbClr val="0070C0"/>
                </a:solidFill>
              </a:rPr>
              <a:t> </a:t>
            </a:r>
            <a:r>
              <a:rPr lang="en-US" dirty="0"/>
              <a:t>more information on what the agent is doing (e.g., the costs of producing financial statement ) </a:t>
            </a:r>
          </a:p>
          <a:p>
            <a:pPr marL="0" indent="0">
              <a:buNone/>
            </a:pPr>
            <a:endParaRPr lang="en-US" dirty="0"/>
          </a:p>
          <a:p>
            <a:pPr marL="0" indent="0">
              <a:buNone/>
            </a:pPr>
            <a:r>
              <a:rPr lang="en-US" dirty="0"/>
              <a:t>Agency theorists point to the important disciplinary effects of two further market mechanisms. </a:t>
            </a:r>
          </a:p>
          <a:p>
            <a:pPr marL="0" indent="0">
              <a:buNone/>
            </a:pPr>
            <a:endParaRPr lang="en-US" dirty="0"/>
          </a:p>
          <a:p>
            <a:pPr marL="514350" indent="-514350">
              <a:buFont typeface="+mj-lt"/>
              <a:buAutoNum type="arabicPeriod"/>
            </a:pPr>
            <a:r>
              <a:rPr lang="en-US" sz="3800" b="1" i="1" dirty="0">
                <a:solidFill>
                  <a:schemeClr val="tx2">
                    <a:lumMod val="50000"/>
                  </a:schemeClr>
                </a:solidFill>
              </a:rPr>
              <a:t>Market for corporate control</a:t>
            </a:r>
            <a:r>
              <a:rPr lang="en-US" dirty="0"/>
              <a:t>:  the potential for takeovers to discipline executives by providing a mechanism </a:t>
            </a:r>
            <a:r>
              <a:rPr lang="en-US" b="1" i="1" dirty="0"/>
              <a:t>whereby ineffective executive teams can be displaced by more effective executive teams</a:t>
            </a:r>
            <a:r>
              <a:rPr lang="en-US" dirty="0"/>
              <a:t>. </a:t>
            </a:r>
          </a:p>
          <a:p>
            <a:pPr marL="514350" indent="-514350">
              <a:buNone/>
            </a:pPr>
            <a:r>
              <a:rPr lang="en-US" dirty="0"/>
              <a:t>          </a:t>
            </a:r>
            <a:r>
              <a:rPr lang="en-US" b="1" i="1" dirty="0">
                <a:solidFill>
                  <a:srgbClr val="C00000"/>
                </a:solidFill>
              </a:rPr>
              <a:t>Dutch Beer Heineken raised its shareholding in United Breweries to 42% leaving Mallya’s share to 32%.United Spirits Board has asked Mallya to step down as Chairman after PWC investigation into the company’s account exposed violations and irregularities.</a:t>
            </a:r>
          </a:p>
          <a:p>
            <a:pPr marL="514350" indent="-514350">
              <a:buFont typeface="+mj-lt"/>
              <a:buAutoNum type="arabicPeriod"/>
            </a:pPr>
            <a:endParaRPr lang="en-US" dirty="0"/>
          </a:p>
          <a:p>
            <a:pPr marL="514350" indent="-514350">
              <a:buFont typeface="+mj-lt"/>
              <a:buAutoNum type="arabicPeriod"/>
            </a:pPr>
            <a:r>
              <a:rPr lang="en-US" sz="3800" b="1" i="1" dirty="0">
                <a:solidFill>
                  <a:schemeClr val="tx2">
                    <a:lumMod val="50000"/>
                  </a:schemeClr>
                </a:solidFill>
              </a:rPr>
              <a:t>The managerial labor market' </a:t>
            </a:r>
            <a:r>
              <a:rPr lang="en-US" dirty="0"/>
              <a:t>: Individual level; </a:t>
            </a:r>
          </a:p>
          <a:p>
            <a:pPr marL="514350" indent="-514350">
              <a:buNone/>
            </a:pPr>
            <a:r>
              <a:rPr lang="en-US" b="1" i="1" dirty="0"/>
              <a:t>          poor executive performance will threaten an individual's future employment potential whilst good performance will have positive reputational and hence career-enhancing effects. </a:t>
            </a:r>
          </a:p>
          <a:p>
            <a:pPr marL="514350" indent="-514350">
              <a:buFont typeface="+mj-lt"/>
              <a:buAutoNum type="arabicPeriod"/>
            </a:pPr>
            <a:endParaRPr lang="en-US" dirty="0"/>
          </a:p>
          <a:p>
            <a:pPr marL="53975" indent="-53975">
              <a:buNone/>
            </a:pPr>
            <a:r>
              <a:rPr lang="en-US" sz="2200" dirty="0"/>
              <a:t>Fama, Eugene </a:t>
            </a:r>
            <a:r>
              <a:rPr lang="en-US" sz="2200" dirty="0" err="1"/>
              <a:t>F.Jenson</a:t>
            </a:r>
            <a:r>
              <a:rPr lang="en-US" sz="2200" dirty="0"/>
              <a:t>, Michael C. (1983). "Agency Problems and Residual Claims". </a:t>
            </a:r>
            <a:r>
              <a:rPr lang="en-US" sz="2200" i="1" dirty="0"/>
              <a:t>Journal of Law &amp; Economics</a:t>
            </a:r>
            <a:r>
              <a:rPr lang="en-US" sz="2200" dirty="0"/>
              <a:t> </a:t>
            </a:r>
            <a:r>
              <a:rPr lang="en-US" sz="2200" b="1" dirty="0"/>
              <a:t>26</a:t>
            </a:r>
            <a:r>
              <a:rPr lang="en-US" sz="2200" dirty="0"/>
              <a:t>: 327–349. </a:t>
            </a:r>
            <a:r>
              <a:rPr lang="en-US" sz="2200" dirty="0">
                <a:hlinkClick r:id="rId2" tooltip="Digital object identifier"/>
              </a:rPr>
              <a:t>doi</a:t>
            </a:r>
            <a:r>
              <a:rPr lang="en-US" sz="2200" dirty="0"/>
              <a:t>:</a:t>
            </a:r>
            <a:r>
              <a:rPr lang="en-US" sz="2200" dirty="0">
                <a:hlinkClick r:id="rId3"/>
              </a:rPr>
              <a:t>10.2139/ssrn.94032</a:t>
            </a:r>
            <a:r>
              <a:rPr lang="en-US" sz="2200" dirty="0"/>
              <a:t>. </a:t>
            </a:r>
            <a:r>
              <a:rPr lang="en-US" sz="2200" dirty="0">
                <a:hlinkClick r:id="rId4" tooltip="Social Science Research Network"/>
              </a:rPr>
              <a:t>SSRN</a:t>
            </a:r>
            <a:r>
              <a:rPr lang="en-US" sz="2200" dirty="0"/>
              <a:t> </a:t>
            </a:r>
            <a:r>
              <a:rPr lang="en-US" sz="2200" dirty="0">
                <a:hlinkClick r:id="rId5"/>
              </a:rPr>
              <a:t>94032</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pPr algn="l"/>
            <a:r>
              <a:rPr lang="en-US" sz="3600" b="1" dirty="0"/>
              <a:t>Agency theory and Reforms in Corporate Governance</a:t>
            </a:r>
          </a:p>
        </p:txBody>
      </p:sp>
      <p:sp>
        <p:nvSpPr>
          <p:cNvPr id="3" name="Content Placeholder 2"/>
          <p:cNvSpPr>
            <a:spLocks noGrp="1"/>
          </p:cNvSpPr>
          <p:nvPr>
            <p:ph idx="1"/>
          </p:nvPr>
        </p:nvSpPr>
        <p:spPr>
          <a:xfrm>
            <a:off x="0" y="1371600"/>
            <a:ext cx="8686800" cy="5486400"/>
          </a:xfrm>
        </p:spPr>
        <p:txBody>
          <a:bodyPr>
            <a:normAutofit/>
          </a:bodyPr>
          <a:lstStyle/>
          <a:p>
            <a:pPr marL="0" indent="0">
              <a:buNone/>
            </a:pPr>
            <a:r>
              <a:rPr lang="en-US" sz="2800" dirty="0"/>
              <a:t>Agency theory assumptions have nevertheless been highly influential is </a:t>
            </a:r>
            <a:r>
              <a:rPr lang="en-US" sz="2800" b="1" dirty="0"/>
              <a:t>shaping the reform of corporate governance systems. </a:t>
            </a:r>
          </a:p>
          <a:p>
            <a:pPr marL="0" indent="0">
              <a:buNone/>
            </a:pPr>
            <a:endParaRPr lang="en-US" sz="2800" b="1" dirty="0"/>
          </a:p>
          <a:p>
            <a:pPr marL="0" indent="0"/>
            <a:r>
              <a:rPr lang="en-US" sz="2800" dirty="0"/>
              <a:t>Formally, it is the Annual General Meeting provides an opportunity for directors to report face-to-face to their shareholders. </a:t>
            </a:r>
          </a:p>
          <a:p>
            <a:pPr marL="0" indent="0"/>
            <a:endParaRPr lang="en-US" sz="2800" dirty="0"/>
          </a:p>
          <a:p>
            <a:pPr marL="0" indent="0"/>
            <a:r>
              <a:rPr lang="en-US" sz="2800" dirty="0"/>
              <a:t>Internal</a:t>
            </a:r>
            <a:r>
              <a:rPr lang="en-US" sz="2800" b="1" dirty="0"/>
              <a:t> reform of boards of directors</a:t>
            </a:r>
            <a:r>
              <a:rPr lang="en-US" sz="2800" dirty="0"/>
              <a:t>. One of its most significant direct contributions came in the form of the widespread adoption of </a:t>
            </a:r>
            <a:r>
              <a:rPr lang="en-US" sz="2800" b="1" i="1" dirty="0">
                <a:solidFill>
                  <a:srgbClr val="00B050"/>
                </a:solidFill>
              </a:rPr>
              <a:t>executive share-option scheme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p:spPr>
        <p:txBody>
          <a:bodyPr>
            <a:noAutofit/>
          </a:bodyPr>
          <a:lstStyle/>
          <a:p>
            <a:pPr algn="l"/>
            <a:r>
              <a:rPr lang="en-US" sz="3200" b="1" dirty="0"/>
              <a:t>Agency theory and Reforms in Corporate Governance Contd.</a:t>
            </a:r>
          </a:p>
        </p:txBody>
      </p:sp>
      <p:sp>
        <p:nvSpPr>
          <p:cNvPr id="3" name="Content Placeholder 2"/>
          <p:cNvSpPr>
            <a:spLocks noGrp="1"/>
          </p:cNvSpPr>
          <p:nvPr>
            <p:ph idx="1"/>
          </p:nvPr>
        </p:nvSpPr>
        <p:spPr>
          <a:xfrm>
            <a:off x="0" y="1371600"/>
            <a:ext cx="9144000" cy="5486400"/>
          </a:xfrm>
        </p:spPr>
        <p:txBody>
          <a:bodyPr>
            <a:normAutofit fontScale="77500" lnSpcReduction="20000"/>
          </a:bodyPr>
          <a:lstStyle/>
          <a:p>
            <a:pPr marL="0" indent="0">
              <a:buNone/>
            </a:pPr>
            <a:r>
              <a:rPr lang="en-US" sz="2800" dirty="0"/>
              <a:t>Influence of agency theory assumptions can be seen in the seminal reforms promoted by the Cadbury Committee </a:t>
            </a:r>
            <a:r>
              <a:rPr lang="en-US" sz="2800" b="1" dirty="0"/>
              <a:t>'Code of Best Practice', </a:t>
            </a:r>
            <a:r>
              <a:rPr lang="en-US" sz="2800" dirty="0"/>
              <a:t>and its subsequent elaboration by Greenbury, Hampel, Turnbull and most recently Derek Higgs. </a:t>
            </a:r>
          </a:p>
          <a:p>
            <a:pPr marL="0" indent="0">
              <a:buNone/>
            </a:pPr>
            <a:endParaRPr lang="en-US" sz="2800" dirty="0"/>
          </a:p>
          <a:p>
            <a:pPr marL="0" indent="0">
              <a:buNone/>
            </a:pPr>
            <a:r>
              <a:rPr lang="en-US" sz="2800" dirty="0"/>
              <a:t>The </a:t>
            </a:r>
            <a:r>
              <a:rPr lang="en-US" sz="2800" b="1" u="sng" dirty="0">
                <a:solidFill>
                  <a:srgbClr val="00B050"/>
                </a:solidFill>
              </a:rPr>
              <a:t>'independence' of the non-executives directors </a:t>
            </a:r>
          </a:p>
          <a:p>
            <a:pPr marL="0" indent="0">
              <a:buNone/>
            </a:pPr>
            <a:endParaRPr lang="en-US" sz="2800" b="1" u="sng" dirty="0">
              <a:solidFill>
                <a:srgbClr val="00B050"/>
              </a:solidFill>
            </a:endParaRPr>
          </a:p>
          <a:p>
            <a:pPr marL="0" indent="0"/>
            <a:r>
              <a:rPr lang="en-US" sz="2800" dirty="0"/>
              <a:t>   Who must now constitute 50 %of the board,</a:t>
            </a:r>
          </a:p>
          <a:p>
            <a:pPr marL="0" indent="0"/>
            <a:r>
              <a:rPr lang="en-US" sz="2800" dirty="0"/>
              <a:t>   Their lead role on audit,</a:t>
            </a:r>
          </a:p>
          <a:p>
            <a:pPr marL="288925" indent="-288925"/>
            <a:r>
              <a:rPr lang="en-US" sz="2800" dirty="0"/>
              <a:t>Nominations and remuneration committees where conflicts of interest    between executive and shareholder are potentially most acute,</a:t>
            </a:r>
          </a:p>
          <a:p>
            <a:pPr marL="177800" indent="-177800"/>
            <a:r>
              <a:rPr lang="en-US" sz="2800" dirty="0"/>
              <a:t> Progressively more stringent provisions around the separation of the roles  of chairman and chief executive.</a:t>
            </a:r>
          </a:p>
          <a:p>
            <a:pPr marL="231775" indent="-177800"/>
            <a:endParaRPr lang="en-US" sz="2800" dirty="0"/>
          </a:p>
          <a:p>
            <a:pPr marL="0" indent="0">
              <a:buNone/>
            </a:pPr>
            <a:r>
              <a:rPr lang="en-US" sz="2800" dirty="0"/>
              <a:t>Above all consonant with agency theory's assumption that the interests of the owner/ shareholder are potentially at risk from executive self-interest, in the absence of close monitoring by independent non-executives.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686800" cy="685800"/>
          </a:xfrm>
        </p:spPr>
        <p:txBody>
          <a:bodyPr>
            <a:normAutofit fontScale="90000"/>
          </a:bodyPr>
          <a:lstStyle/>
          <a:p>
            <a:br>
              <a:rPr lang="en-US" b="1" dirty="0"/>
            </a:br>
            <a:r>
              <a:rPr lang="en-US" b="1" dirty="0"/>
              <a:t>Resource Dependence Theory</a:t>
            </a:r>
            <a:br>
              <a:rPr lang="en-US" b="1" dirty="0"/>
            </a:br>
            <a:endParaRPr lang="en-US" dirty="0"/>
          </a:p>
        </p:txBody>
      </p:sp>
      <p:sp>
        <p:nvSpPr>
          <p:cNvPr id="3" name="Content Placeholder 2"/>
          <p:cNvSpPr>
            <a:spLocks noGrp="1"/>
          </p:cNvSpPr>
          <p:nvPr>
            <p:ph idx="1"/>
          </p:nvPr>
        </p:nvSpPr>
        <p:spPr>
          <a:xfrm>
            <a:off x="0" y="914400"/>
            <a:ext cx="9144000" cy="5943600"/>
          </a:xfrm>
        </p:spPr>
        <p:txBody>
          <a:bodyPr>
            <a:normAutofit fontScale="70000" lnSpcReduction="20000"/>
          </a:bodyPr>
          <a:lstStyle/>
          <a:p>
            <a:pPr>
              <a:buNone/>
            </a:pPr>
            <a:r>
              <a:rPr lang="en-US" b="1" i="1" dirty="0"/>
              <a:t>Resource dependence </a:t>
            </a:r>
            <a:r>
              <a:rPr lang="en-US" dirty="0"/>
              <a:t>ideas were originally developed by </a:t>
            </a:r>
            <a:r>
              <a:rPr lang="en-US" dirty="0" err="1"/>
              <a:t>Pfeffer</a:t>
            </a:r>
            <a:r>
              <a:rPr lang="en-US" dirty="0"/>
              <a:t> and </a:t>
            </a:r>
            <a:r>
              <a:rPr lang="en-US" dirty="0" err="1"/>
              <a:t>Salancik</a:t>
            </a:r>
            <a:r>
              <a:rPr lang="en-US" dirty="0"/>
              <a:t> (1978) in the late 1970s. </a:t>
            </a:r>
          </a:p>
          <a:p>
            <a:pPr>
              <a:buNone/>
            </a:pPr>
            <a:endParaRPr lang="en-US" dirty="0"/>
          </a:p>
          <a:p>
            <a:pPr>
              <a:buNone/>
            </a:pPr>
            <a:r>
              <a:rPr lang="en-US" dirty="0"/>
              <a:t>     The basic proposition of resource dependence theory is the </a:t>
            </a:r>
            <a:r>
              <a:rPr lang="en-US" b="1" dirty="0"/>
              <a:t>need for environmental linkages  between the firm and outside resources</a:t>
            </a:r>
            <a:r>
              <a:rPr lang="en-US" dirty="0"/>
              <a:t>. In this perspective, </a:t>
            </a:r>
            <a:r>
              <a:rPr lang="en-US" b="1" dirty="0"/>
              <a:t>directors serve to connect the firm with external factors </a:t>
            </a:r>
            <a:r>
              <a:rPr lang="en-US" dirty="0"/>
              <a:t>by </a:t>
            </a:r>
            <a:r>
              <a:rPr lang="en-US" b="1" dirty="0"/>
              <a:t>co-opting the resources </a:t>
            </a:r>
            <a:r>
              <a:rPr lang="en-US" dirty="0"/>
              <a:t>needed to survive (</a:t>
            </a:r>
            <a:r>
              <a:rPr lang="en-US" dirty="0" err="1"/>
              <a:t>Pfeffer</a:t>
            </a:r>
            <a:r>
              <a:rPr lang="en-US" dirty="0"/>
              <a:t> and </a:t>
            </a:r>
            <a:r>
              <a:rPr lang="en-US" dirty="0" err="1"/>
              <a:t>Salancik</a:t>
            </a:r>
            <a:r>
              <a:rPr lang="en-US" dirty="0"/>
              <a:t>, 1978). Thus,  boards of directors are an important mechanism for absorbing critical elements of environmental uncertainty into the firm. </a:t>
            </a:r>
          </a:p>
          <a:p>
            <a:pPr>
              <a:buNone/>
            </a:pPr>
            <a:endParaRPr lang="en-US" dirty="0"/>
          </a:p>
          <a:p>
            <a:pPr>
              <a:buNone/>
            </a:pPr>
            <a:r>
              <a:rPr lang="en-US" b="1" u="sng" dirty="0">
                <a:solidFill>
                  <a:srgbClr val="C00000"/>
                </a:solidFill>
              </a:rPr>
              <a:t>key contribution </a:t>
            </a:r>
          </a:p>
          <a:p>
            <a:pPr>
              <a:buNone/>
            </a:pPr>
            <a:endParaRPr lang="en-US" dirty="0"/>
          </a:p>
          <a:p>
            <a:pPr marL="0" indent="0">
              <a:buNone/>
            </a:pPr>
            <a:r>
              <a:rPr lang="en-US" dirty="0"/>
              <a:t>Observation that the board, and in particular the </a:t>
            </a:r>
            <a:r>
              <a:rPr lang="en-US" b="1" dirty="0"/>
              <a:t>constitution of the non-executive element of a board,</a:t>
            </a:r>
            <a:r>
              <a:rPr lang="en-US" dirty="0"/>
              <a:t> can provide the firm with a vital set of resources: </a:t>
            </a:r>
          </a:p>
          <a:p>
            <a:pPr marL="0" indent="0">
              <a:buNone/>
            </a:pPr>
            <a:endParaRPr lang="en-US" dirty="0"/>
          </a:p>
          <a:p>
            <a:pPr algn="ctr">
              <a:buNone/>
            </a:pPr>
            <a:r>
              <a:rPr lang="en-US" b="1" i="1" dirty="0"/>
              <a:t>'When an organization appoints an individual to a board, it expects the individual will come to support the organization, will concern himself with its problems, will variably present it to others, and will try to aid it'</a:t>
            </a:r>
          </a:p>
          <a:p>
            <a:endParaRPr lang="en-US" dirty="0">
              <a:hlinkClick r:id="rId2" tooltip="Agency theor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b="1" dirty="0"/>
              <a:t>Resource Dependence Theory</a:t>
            </a:r>
            <a:endParaRPr lang="en-US" dirty="0"/>
          </a:p>
        </p:txBody>
      </p:sp>
      <p:sp>
        <p:nvSpPr>
          <p:cNvPr id="3" name="Content Placeholder 2"/>
          <p:cNvSpPr>
            <a:spLocks noGrp="1"/>
          </p:cNvSpPr>
          <p:nvPr>
            <p:ph idx="1"/>
          </p:nvPr>
        </p:nvSpPr>
        <p:spPr>
          <a:xfrm>
            <a:off x="0" y="1143000"/>
            <a:ext cx="9144000" cy="5715000"/>
          </a:xfrm>
        </p:spPr>
        <p:txBody>
          <a:bodyPr>
            <a:normAutofit fontScale="92500" lnSpcReduction="10000"/>
          </a:bodyPr>
          <a:lstStyle/>
          <a:p>
            <a:r>
              <a:rPr lang="en-US" dirty="0"/>
              <a:t>Seeing the board as </a:t>
            </a:r>
            <a:r>
              <a:rPr lang="en-US" b="1" i="1" dirty="0"/>
              <a:t>a source of resources </a:t>
            </a:r>
            <a:r>
              <a:rPr lang="en-US" dirty="0"/>
              <a:t>for a company opens up a very different way to think about the board's role in </a:t>
            </a:r>
            <a:r>
              <a:rPr lang="en-US" b="1" i="1" dirty="0"/>
              <a:t>creating high performance. </a:t>
            </a:r>
          </a:p>
          <a:p>
            <a:endParaRPr lang="en-US" dirty="0"/>
          </a:p>
          <a:p>
            <a:r>
              <a:rPr lang="en-US" dirty="0"/>
              <a:t>Resources can take a variety of forms each of which can be argued to add to the 'capital' of a company (</a:t>
            </a:r>
            <a:r>
              <a:rPr lang="en-US" dirty="0" err="1"/>
              <a:t>Hilman</a:t>
            </a:r>
            <a:r>
              <a:rPr lang="en-US" dirty="0"/>
              <a:t> and </a:t>
            </a:r>
            <a:r>
              <a:rPr lang="en-US" dirty="0" err="1"/>
              <a:t>Dalziel</a:t>
            </a:r>
            <a:r>
              <a:rPr lang="en-US" dirty="0"/>
              <a:t> 2003).</a:t>
            </a:r>
          </a:p>
          <a:p>
            <a:endParaRPr lang="en-US" dirty="0"/>
          </a:p>
          <a:p>
            <a:r>
              <a:rPr lang="en-US" dirty="0"/>
              <a:t>Non-executive directors can be a source of expertise which executives can draw upon, both in the form of </a:t>
            </a:r>
            <a:r>
              <a:rPr lang="en-US" b="1" i="1" dirty="0"/>
              <a:t>specific skills as well as advice and counsel in relation to strategy and its implementation.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dirty="0"/>
              <a:t>Resource Dependence Theory</a:t>
            </a:r>
            <a:endParaRPr lang="en-US" dirty="0"/>
          </a:p>
        </p:txBody>
      </p:sp>
      <p:sp>
        <p:nvSpPr>
          <p:cNvPr id="3" name="Content Placeholder 2"/>
          <p:cNvSpPr>
            <a:spLocks noGrp="1"/>
          </p:cNvSpPr>
          <p:nvPr>
            <p:ph idx="1"/>
          </p:nvPr>
        </p:nvSpPr>
        <p:spPr>
          <a:xfrm>
            <a:off x="0" y="1295400"/>
            <a:ext cx="9144000" cy="5562600"/>
          </a:xfrm>
        </p:spPr>
        <p:txBody>
          <a:bodyPr/>
          <a:lstStyle/>
          <a:p>
            <a:r>
              <a:rPr lang="en-US" dirty="0"/>
              <a:t>They can also serve as an </a:t>
            </a:r>
            <a:r>
              <a:rPr lang="en-US" b="1" i="1" dirty="0"/>
              <a:t>important source of contacts, information and relationships </a:t>
            </a:r>
            <a:r>
              <a:rPr lang="en-US" dirty="0"/>
              <a:t>that allow executives to better manage some of the uncertainties in the environment.</a:t>
            </a:r>
          </a:p>
          <a:p>
            <a:endParaRPr lang="en-US" dirty="0"/>
          </a:p>
          <a:p>
            <a:r>
              <a:rPr lang="en-US" dirty="0"/>
              <a:t>Practical and symbolic Role: the </a:t>
            </a:r>
            <a:r>
              <a:rPr lang="en-US" b="1" i="1" dirty="0"/>
              <a:t>association of particular individuals </a:t>
            </a:r>
            <a:r>
              <a:rPr lang="en-US" dirty="0"/>
              <a:t>with a company has the potential to </a:t>
            </a:r>
            <a:r>
              <a:rPr lang="en-US" b="1" dirty="0"/>
              <a:t>enhance the reputation or perceived legitimacy of an executive team</a:t>
            </a:r>
            <a:r>
              <a:rPr lang="en-US"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pPr algn="l"/>
            <a:r>
              <a:rPr lang="en-US" sz="3600" b="1" dirty="0"/>
              <a:t>Resource Dependence: </a:t>
            </a:r>
            <a:r>
              <a:rPr lang="en-US" sz="3600" b="1" dirty="0">
                <a:solidFill>
                  <a:srgbClr val="FF0000"/>
                </a:solidFill>
              </a:rPr>
              <a:t>Needs of company at different stages of  life cycle </a:t>
            </a:r>
            <a:endParaRPr lang="en-US" sz="3600" dirty="0">
              <a:solidFill>
                <a:srgbClr val="FF0000"/>
              </a:solidFill>
            </a:endParaRPr>
          </a:p>
        </p:txBody>
      </p:sp>
      <p:sp>
        <p:nvSpPr>
          <p:cNvPr id="3" name="Content Placeholder 2"/>
          <p:cNvSpPr>
            <a:spLocks noGrp="1"/>
          </p:cNvSpPr>
          <p:nvPr>
            <p:ph idx="1"/>
          </p:nvPr>
        </p:nvSpPr>
        <p:spPr>
          <a:xfrm>
            <a:off x="0" y="1295400"/>
            <a:ext cx="9144000" cy="5562600"/>
          </a:xfrm>
        </p:spPr>
        <p:txBody>
          <a:bodyPr>
            <a:normAutofit fontScale="70000" lnSpcReduction="20000"/>
          </a:bodyPr>
          <a:lstStyle/>
          <a:p>
            <a:pPr>
              <a:buNone/>
            </a:pPr>
            <a:r>
              <a:rPr lang="en-US" sz="3800" b="1" dirty="0"/>
              <a:t>Young entrepreneurial firm :</a:t>
            </a:r>
          </a:p>
          <a:p>
            <a:pPr>
              <a:buNone/>
            </a:pPr>
            <a:endParaRPr lang="en-US" sz="3800" b="1" dirty="0"/>
          </a:p>
          <a:p>
            <a:pPr marL="0" indent="0">
              <a:buNone/>
            </a:pPr>
            <a:r>
              <a:rPr lang="en-US" dirty="0"/>
              <a:t>Non-executive is a relatively cheap source of part-time legal, financial or operational management skills that are not otherwise available to the entrepreneur.</a:t>
            </a:r>
          </a:p>
          <a:p>
            <a:pPr marL="0" indent="0">
              <a:buNone/>
            </a:pPr>
            <a:endParaRPr lang="en-US" sz="3500" dirty="0"/>
          </a:p>
          <a:p>
            <a:pPr marL="0" indent="0">
              <a:buNone/>
            </a:pPr>
            <a:r>
              <a:rPr lang="en-US" sz="3500" b="1" dirty="0"/>
              <a:t>Publicly listed</a:t>
            </a:r>
          </a:p>
          <a:p>
            <a:pPr marL="0" indent="0">
              <a:buNone/>
            </a:pPr>
            <a:endParaRPr lang="en-US" sz="3500" b="1" dirty="0"/>
          </a:p>
          <a:p>
            <a:pPr marL="0" indent="0">
              <a:buNone/>
            </a:pPr>
            <a:r>
              <a:rPr lang="en-US" dirty="0"/>
              <a:t>provision of expertise blended with 'grown-up governance'. </a:t>
            </a:r>
          </a:p>
          <a:p>
            <a:pPr marL="0" indent="0">
              <a:buNone/>
            </a:pPr>
            <a:r>
              <a:rPr lang="en-US" dirty="0"/>
              <a:t>Here the value of the non-executive lies not only in their </a:t>
            </a:r>
            <a:r>
              <a:rPr lang="en-US" b="1" dirty="0"/>
              <a:t>expertise</a:t>
            </a:r>
            <a:r>
              <a:rPr lang="en-US" dirty="0"/>
              <a:t> but also through </a:t>
            </a:r>
            <a:r>
              <a:rPr lang="en-US" b="1" dirty="0"/>
              <a:t>their networks </a:t>
            </a:r>
            <a:r>
              <a:rPr lang="en-US" dirty="0"/>
              <a:t>that give the company </a:t>
            </a:r>
            <a:r>
              <a:rPr lang="en-US" b="1" dirty="0"/>
              <a:t>ready access to new markets </a:t>
            </a:r>
            <a:r>
              <a:rPr lang="en-US" dirty="0"/>
              <a:t>or to sources of finance, as well as in the </a:t>
            </a:r>
            <a:r>
              <a:rPr lang="en-US" b="1" dirty="0"/>
              <a:t>reputation benefits </a:t>
            </a:r>
            <a:r>
              <a:rPr lang="en-US" dirty="0"/>
              <a:t>that arise from an </a:t>
            </a:r>
            <a:r>
              <a:rPr lang="en-US" b="1" dirty="0"/>
              <a:t>individual's association with the company.</a:t>
            </a:r>
          </a:p>
          <a:p>
            <a:pPr marL="0" indent="0">
              <a:buNone/>
            </a:pPr>
            <a:endParaRPr lang="en-US" dirty="0">
              <a:solidFill>
                <a:srgbClr val="0070C0"/>
              </a:solidFill>
            </a:endParaRPr>
          </a:p>
          <a:p>
            <a:pPr marL="0" indent="0">
              <a:buNone/>
            </a:pPr>
            <a:r>
              <a:rPr lang="en-US" b="1" dirty="0">
                <a:solidFill>
                  <a:srgbClr val="0070C0"/>
                </a:solidFill>
              </a:rPr>
              <a:t>This theory supports the appointment of directors to multiple boards because of their opportunities to gather information and network in various ways.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pPr algn="l"/>
            <a:r>
              <a:rPr lang="en-US" sz="2800" dirty="0"/>
              <a:t>Difference between Agency and Resource Dependence Theory</a:t>
            </a:r>
          </a:p>
        </p:txBody>
      </p:sp>
      <p:sp>
        <p:nvSpPr>
          <p:cNvPr id="3" name="Content Placeholder 2"/>
          <p:cNvSpPr>
            <a:spLocks noGrp="1"/>
          </p:cNvSpPr>
          <p:nvPr>
            <p:ph idx="1"/>
          </p:nvPr>
        </p:nvSpPr>
        <p:spPr/>
        <p:txBody>
          <a:bodyPr/>
          <a:lstStyle/>
          <a:p>
            <a:pPr algn="ctr">
              <a:buNone/>
            </a:pPr>
            <a:endParaRPr lang="en-US" dirty="0">
              <a:solidFill>
                <a:schemeClr val="tx2">
                  <a:lumMod val="75000"/>
                </a:schemeClr>
              </a:solidFill>
            </a:endParaRPr>
          </a:p>
          <a:p>
            <a:pPr algn="ctr">
              <a:buNone/>
            </a:pPr>
            <a:r>
              <a:rPr lang="en-US" dirty="0">
                <a:solidFill>
                  <a:schemeClr val="tx2">
                    <a:lumMod val="75000"/>
                  </a:schemeClr>
                </a:solidFill>
              </a:rPr>
              <a:t>Agency view of the non-executive emphasizes their </a:t>
            </a:r>
            <a:r>
              <a:rPr lang="en-US" b="1" dirty="0">
                <a:solidFill>
                  <a:schemeClr val="tx2">
                    <a:lumMod val="75000"/>
                  </a:schemeClr>
                </a:solidFill>
              </a:rPr>
              <a:t>local policing </a:t>
            </a:r>
            <a:r>
              <a:rPr lang="en-US" dirty="0">
                <a:solidFill>
                  <a:schemeClr val="tx2">
                    <a:lumMod val="75000"/>
                  </a:schemeClr>
                </a:solidFill>
              </a:rPr>
              <a:t>role on behalf of investors, </a:t>
            </a:r>
            <a:r>
              <a:rPr lang="en-US" b="1" dirty="0">
                <a:solidFill>
                  <a:schemeClr val="tx2">
                    <a:lumMod val="75000"/>
                  </a:schemeClr>
                </a:solidFill>
              </a:rPr>
              <a:t>Resource dependence </a:t>
            </a:r>
            <a:r>
              <a:rPr lang="en-US" dirty="0">
                <a:solidFill>
                  <a:schemeClr val="tx2">
                    <a:lumMod val="75000"/>
                  </a:schemeClr>
                </a:solidFill>
              </a:rPr>
              <a:t>theory sees the non-executive primarily as a context specific resource to </a:t>
            </a:r>
            <a:r>
              <a:rPr lang="en-US" b="1" dirty="0">
                <a:solidFill>
                  <a:schemeClr val="tx2">
                    <a:lumMod val="75000"/>
                  </a:schemeClr>
                </a:solidFill>
              </a:rPr>
              <a:t>support the performance of both the executives and the company</a:t>
            </a:r>
            <a:r>
              <a:rPr lang="en-US" b="1"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3200" b="1" dirty="0"/>
              <a:t>Arun Sarin as Independent Director of Ola</a:t>
            </a:r>
          </a:p>
        </p:txBody>
      </p:sp>
      <p:sp>
        <p:nvSpPr>
          <p:cNvPr id="3" name="Content Placeholder 2"/>
          <p:cNvSpPr>
            <a:spLocks noGrp="1"/>
          </p:cNvSpPr>
          <p:nvPr>
            <p:ph idx="1"/>
          </p:nvPr>
        </p:nvSpPr>
        <p:spPr>
          <a:xfrm>
            <a:off x="0" y="1143000"/>
            <a:ext cx="9144000" cy="5715000"/>
          </a:xfrm>
        </p:spPr>
        <p:txBody>
          <a:bodyPr>
            <a:normAutofit fontScale="70000" lnSpcReduction="20000"/>
          </a:bodyPr>
          <a:lstStyle/>
          <a:p>
            <a:pPr marL="395288" indent="-395288">
              <a:buFont typeface="Wingdings" pitchFamily="2" charset="2"/>
              <a:buChar char="§"/>
            </a:pPr>
            <a:r>
              <a:rPr lang="en-US" dirty="0"/>
              <a:t> Ola has roped in former Vodafone group CEO </a:t>
            </a:r>
            <a:r>
              <a:rPr lang="en-US" b="1" dirty="0"/>
              <a:t>Arun Sarin on its board as an independent director. </a:t>
            </a:r>
          </a:p>
          <a:p>
            <a:pPr marL="109538" indent="-109538">
              <a:buFont typeface="Wingdings" pitchFamily="2" charset="2"/>
              <a:buChar char="§"/>
            </a:pPr>
            <a:endParaRPr lang="en-US" dirty="0"/>
          </a:p>
          <a:p>
            <a:pPr marL="341313" indent="-341313">
              <a:buFont typeface="Wingdings" pitchFamily="2" charset="2"/>
              <a:buChar char="§"/>
            </a:pPr>
            <a:r>
              <a:rPr lang="en-US" dirty="0"/>
              <a:t> Sarin will contribute in an advisory role to Ola's overall    business strategy that will further drive growth and leadership in the market, Ola said in a statement. </a:t>
            </a:r>
          </a:p>
          <a:p>
            <a:pPr marL="341313" indent="-341313">
              <a:buFont typeface="Wingdings" pitchFamily="2" charset="2"/>
              <a:buChar char="§"/>
            </a:pPr>
            <a:endParaRPr lang="en-US" dirty="0"/>
          </a:p>
          <a:p>
            <a:pPr marL="341313" indent="-341313">
              <a:buFont typeface="Wingdings" pitchFamily="2" charset="2"/>
              <a:buChar char="§"/>
            </a:pPr>
            <a:r>
              <a:rPr lang="en-US" dirty="0"/>
              <a:t>Arun brings a global perspective and a strong understanding of emerging markets like India. His experience in management and in growing large companies is invaluable to Ola," Ola co-founder and CEO Bhavish Aggarwal said. </a:t>
            </a:r>
          </a:p>
          <a:p>
            <a:pPr marL="341313" indent="-341313">
              <a:buFont typeface="Wingdings" pitchFamily="2" charset="2"/>
              <a:buChar char="§"/>
            </a:pPr>
            <a:endParaRPr lang="en-US" dirty="0"/>
          </a:p>
          <a:p>
            <a:pPr marL="287338" indent="-287338">
              <a:buFont typeface="Wingdings" pitchFamily="2" charset="2"/>
              <a:buChar char="§"/>
            </a:pPr>
            <a:r>
              <a:rPr lang="en-US" dirty="0"/>
              <a:t>Sarin served as the chief executive officer of Vodafone Group  Plc from 2003 to 2008.</a:t>
            </a:r>
          </a:p>
          <a:p>
            <a:pPr marL="287338" indent="-287338">
              <a:buFont typeface="Wingdings" pitchFamily="2" charset="2"/>
              <a:buChar char="§"/>
            </a:pPr>
            <a:endParaRPr lang="en-US" dirty="0"/>
          </a:p>
          <a:p>
            <a:pPr marL="287338" indent="-287338">
              <a:buFont typeface="Wingdings" pitchFamily="2" charset="2"/>
              <a:buChar char="§"/>
            </a:pPr>
            <a:r>
              <a:rPr lang="en-US" dirty="0"/>
              <a:t> He is currently a </a:t>
            </a:r>
            <a:r>
              <a:rPr lang="en-US" b="1" dirty="0">
                <a:solidFill>
                  <a:srgbClr val="C00000"/>
                </a:solidFill>
              </a:rPr>
              <a:t>non-executive director of Cisco, Charles  Schwab and Blackhawk Networks</a:t>
            </a:r>
            <a:r>
              <a:rPr lang="en-US"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i="1" dirty="0"/>
              <a:t>Stewardship theory</a:t>
            </a:r>
            <a:endParaRPr lang="en-US" dirty="0"/>
          </a:p>
        </p:txBody>
      </p:sp>
      <p:sp>
        <p:nvSpPr>
          <p:cNvPr id="3" name="Content Placeholder 2"/>
          <p:cNvSpPr>
            <a:spLocks noGrp="1"/>
          </p:cNvSpPr>
          <p:nvPr>
            <p:ph idx="1"/>
          </p:nvPr>
        </p:nvSpPr>
        <p:spPr>
          <a:xfrm>
            <a:off x="0" y="1143000"/>
            <a:ext cx="9144000" cy="5715000"/>
          </a:xfrm>
        </p:spPr>
        <p:txBody>
          <a:bodyPr>
            <a:normAutofit fontScale="85000" lnSpcReduction="10000"/>
          </a:bodyPr>
          <a:lstStyle/>
          <a:p>
            <a:r>
              <a:rPr lang="en-US" dirty="0"/>
              <a:t>Contrary to agency theory's </a:t>
            </a:r>
            <a:r>
              <a:rPr lang="en-US" b="1" dirty="0"/>
              <a:t>pessimistic assumptions </a:t>
            </a:r>
            <a:r>
              <a:rPr lang="en-US" dirty="0"/>
              <a:t>about the </a:t>
            </a:r>
            <a:r>
              <a:rPr lang="en-US" b="1" dirty="0"/>
              <a:t>self-interested and self-serving motives </a:t>
            </a:r>
            <a:r>
              <a:rPr lang="en-US" dirty="0"/>
              <a:t>of executives, </a:t>
            </a:r>
            <a:r>
              <a:rPr lang="en-US" b="1" dirty="0">
                <a:solidFill>
                  <a:srgbClr val="002060"/>
                </a:solidFill>
              </a:rPr>
              <a:t>Stewardship theory </a:t>
            </a:r>
            <a:r>
              <a:rPr lang="en-US" dirty="0"/>
              <a:t>suggests the potential for what it calls </a:t>
            </a:r>
          </a:p>
          <a:p>
            <a:pPr algn="ctr">
              <a:buNone/>
            </a:pPr>
            <a:r>
              <a:rPr lang="en-US" dirty="0"/>
              <a:t>the </a:t>
            </a:r>
            <a:r>
              <a:rPr lang="en-US" sz="3300" b="1" i="1" u="sng" dirty="0">
                <a:solidFill>
                  <a:srgbClr val="C00000"/>
                </a:solidFill>
              </a:rPr>
              <a:t>'pro-organizational' motives of directors.</a:t>
            </a:r>
          </a:p>
          <a:p>
            <a:endParaRPr lang="en-US" b="1" dirty="0"/>
          </a:p>
          <a:p>
            <a:r>
              <a:rPr lang="en-US" dirty="0"/>
              <a:t>What drives performance here is </a:t>
            </a:r>
            <a:r>
              <a:rPr lang="en-US" b="1" dirty="0"/>
              <a:t>not the aligned greed of an executive but their </a:t>
            </a:r>
            <a:r>
              <a:rPr lang="en-US" b="1" dirty="0">
                <a:solidFill>
                  <a:srgbClr val="C00000"/>
                </a:solidFill>
              </a:rPr>
              <a:t>personal identification with the aims and purposes of the organization.</a:t>
            </a:r>
          </a:p>
          <a:p>
            <a:endParaRPr lang="en-US" dirty="0"/>
          </a:p>
          <a:p>
            <a:r>
              <a:rPr lang="en-US" dirty="0"/>
              <a:t>Stewardship theory refutes the assumption that executive aims and motives are opposed to those of the shareholder; both, it insists, have an </a:t>
            </a:r>
            <a:r>
              <a:rPr lang="en-US" b="1" dirty="0">
                <a:solidFill>
                  <a:srgbClr val="C00000"/>
                </a:solidFill>
              </a:rPr>
              <a:t>interest in maximizing the long-term stewardship of a company and are therefore already well aligned.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b="1" i="1" dirty="0"/>
              <a:t>Stewardship theory</a:t>
            </a:r>
            <a:endParaRPr lang="en-US" dirty="0"/>
          </a:p>
        </p:txBody>
      </p:sp>
      <p:sp>
        <p:nvSpPr>
          <p:cNvPr id="3" name="Content Placeholder 2"/>
          <p:cNvSpPr>
            <a:spLocks noGrp="1"/>
          </p:cNvSpPr>
          <p:nvPr>
            <p:ph idx="1"/>
          </p:nvPr>
        </p:nvSpPr>
        <p:spPr>
          <a:xfrm>
            <a:off x="0" y="1066800"/>
            <a:ext cx="9144000" cy="5791200"/>
          </a:xfrm>
        </p:spPr>
        <p:txBody>
          <a:bodyPr>
            <a:normAutofit/>
          </a:bodyPr>
          <a:lstStyle/>
          <a:p>
            <a:r>
              <a:rPr lang="en-US" dirty="0"/>
              <a:t>From this stewardship theory suggests the </a:t>
            </a:r>
            <a:r>
              <a:rPr lang="en-US" b="1" dirty="0">
                <a:solidFill>
                  <a:srgbClr val="C00000"/>
                </a:solidFill>
              </a:rPr>
              <a:t>potentially negative impact of a division of responsibilities between a chairman and chief executive</a:t>
            </a:r>
            <a:r>
              <a:rPr lang="en-US" dirty="0"/>
              <a:t>. </a:t>
            </a:r>
          </a:p>
          <a:p>
            <a:endParaRPr lang="en-US" dirty="0"/>
          </a:p>
          <a:p>
            <a:r>
              <a:rPr lang="en-US" dirty="0"/>
              <a:t>The roles, it suggests, </a:t>
            </a:r>
            <a:r>
              <a:rPr lang="en-US" b="1" dirty="0">
                <a:solidFill>
                  <a:srgbClr val="C00000"/>
                </a:solidFill>
              </a:rPr>
              <a:t>should remain combined in order to protect a key aspect of high performance; </a:t>
            </a:r>
            <a:r>
              <a:rPr lang="en-US" dirty="0"/>
              <a:t>the strength and authority of executive leadership.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https://html1-f.scribdassets.com/6vxc5ivym83wgnms/images/6-b5167fff8c.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ttps://html1-f.scribdassets.com/6vxc5ivym83wgnms/images/6-b5167fff8c.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https://html1-f.scribdassets.com/6vxc5ivym83wgnms/images/6-b5167fff8c.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https://html1-f.scribdassets.com/6vxc5ivym83wgnms/images/6-b5167fff8c.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https://html1-f.scribdassets.com/6vxc5ivym83wgnms/images/6-b5167fff8c.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6" name="AutoShape 12" descr="https://html1-f.scribdassets.com/6vxc5ivym83wgnms/images/6-b5167fff8c.jpg"/>
          <p:cNvSpPr>
            <a:spLocks noChangeAspect="1" noChangeArrowheads="1"/>
          </p:cNvSpPr>
          <p:nvPr/>
        </p:nvSpPr>
        <p:spPr bwMode="auto">
          <a:xfrm>
            <a:off x="155575" y="269081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7" name="AutoShape 13" descr="https://html1-f.scribdassets.com/6vxc5ivym83wgnms/images/6-b5167fff8c.jpg"/>
          <p:cNvSpPr>
            <a:spLocks noChangeAspect="1" noChangeArrowheads="1"/>
          </p:cNvSpPr>
          <p:nvPr/>
        </p:nvSpPr>
        <p:spPr bwMode="auto">
          <a:xfrm>
            <a:off x="349250" y="269081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8" name="Picture 14" descr="C:\Users\amit\Desktop\6-b5167fff8c.jpg"/>
          <p:cNvPicPr>
            <a:picLocks noChangeAspect="1" noChangeArrowheads="1"/>
          </p:cNvPicPr>
          <p:nvPr/>
        </p:nvPicPr>
        <p:blipFill>
          <a:blip r:embed="rId2" cstate="print">
            <a:duotone>
              <a:prstClr val="black"/>
              <a:schemeClr val="accent3">
                <a:tint val="45000"/>
                <a:satMod val="400000"/>
              </a:schemeClr>
            </a:duotone>
          </a:blip>
          <a:srcRect/>
          <a:stretch>
            <a:fillRect/>
          </a:stretch>
        </p:blipFill>
        <p:spPr bwMode="auto">
          <a:xfrm>
            <a:off x="533400" y="762000"/>
            <a:ext cx="8229600" cy="5638800"/>
          </a:xfrm>
          <a:prstGeom prst="rect">
            <a:avLst/>
          </a:prstGeom>
          <a:solidFill>
            <a:srgbClr val="FFFF00"/>
          </a:solidFill>
          <a:ln>
            <a:solidFill>
              <a:srgbClr val="B3CC82"/>
            </a:solidFill>
          </a:ln>
        </p:spPr>
      </p:pic>
      <p:sp>
        <p:nvSpPr>
          <p:cNvPr id="14" name="Rectangle 13"/>
          <p:cNvSpPr/>
          <p:nvPr/>
        </p:nvSpPr>
        <p:spPr>
          <a:xfrm>
            <a:off x="1752600" y="2667000"/>
            <a:ext cx="1447800" cy="6096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Shareholders</a:t>
            </a:r>
          </a:p>
        </p:txBody>
      </p:sp>
      <p:sp>
        <p:nvSpPr>
          <p:cNvPr id="20" name="Rectangle 19"/>
          <p:cNvSpPr/>
          <p:nvPr/>
        </p:nvSpPr>
        <p:spPr>
          <a:xfrm>
            <a:off x="3733800" y="1066800"/>
            <a:ext cx="1752600" cy="6096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Empower &amp; trust</a:t>
            </a:r>
          </a:p>
        </p:txBody>
      </p:sp>
      <p:sp>
        <p:nvSpPr>
          <p:cNvPr id="22" name="Rectangle 21"/>
          <p:cNvSpPr/>
          <p:nvPr/>
        </p:nvSpPr>
        <p:spPr>
          <a:xfrm>
            <a:off x="6019800" y="2667000"/>
            <a:ext cx="1295400" cy="6096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Stewards</a:t>
            </a:r>
          </a:p>
        </p:txBody>
      </p:sp>
      <p:sp>
        <p:nvSpPr>
          <p:cNvPr id="23" name="Rectangle 22"/>
          <p:cNvSpPr/>
          <p:nvPr/>
        </p:nvSpPr>
        <p:spPr>
          <a:xfrm>
            <a:off x="6172200" y="3657600"/>
            <a:ext cx="2286000" cy="8382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Intrinsic &amp; Extrinsic motivation</a:t>
            </a:r>
          </a:p>
        </p:txBody>
      </p:sp>
      <p:sp>
        <p:nvSpPr>
          <p:cNvPr id="24" name="Rectangle 23"/>
          <p:cNvSpPr/>
          <p:nvPr/>
        </p:nvSpPr>
        <p:spPr>
          <a:xfrm>
            <a:off x="3352800" y="4419600"/>
            <a:ext cx="2286000" cy="6096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Protect &amp; maximize shareholder’s wealth</a:t>
            </a:r>
          </a:p>
        </p:txBody>
      </p:sp>
      <p:sp>
        <p:nvSpPr>
          <p:cNvPr id="25" name="Rectangle 24"/>
          <p:cNvSpPr/>
          <p:nvPr/>
        </p:nvSpPr>
        <p:spPr>
          <a:xfrm>
            <a:off x="3733800" y="5715000"/>
            <a:ext cx="2743200" cy="609600"/>
          </a:xfrm>
          <a:prstGeom prst="rect">
            <a:avLst/>
          </a:prstGeom>
          <a:solidFill>
            <a:srgbClr val="B3CC82"/>
          </a:solidFill>
          <a:ln>
            <a:solidFill>
              <a:srgbClr val="B3C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The Stewardship theory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br>
              <a:rPr lang="en-US" b="1" dirty="0"/>
            </a:br>
            <a:r>
              <a:rPr lang="en-US" b="1" dirty="0"/>
              <a:t>Stakeholder Theory</a:t>
            </a:r>
            <a:br>
              <a:rPr lang="en-US" b="1" dirty="0"/>
            </a:br>
            <a:endParaRPr lang="en-US" dirty="0"/>
          </a:p>
        </p:txBody>
      </p:sp>
      <p:sp>
        <p:nvSpPr>
          <p:cNvPr id="3" name="Content Placeholder 2"/>
          <p:cNvSpPr>
            <a:spLocks noGrp="1"/>
          </p:cNvSpPr>
          <p:nvPr>
            <p:ph idx="1"/>
          </p:nvPr>
        </p:nvSpPr>
        <p:spPr>
          <a:xfrm>
            <a:off x="0" y="1219200"/>
            <a:ext cx="9144000" cy="5638800"/>
          </a:xfrm>
        </p:spPr>
        <p:txBody>
          <a:bodyPr/>
          <a:lstStyle/>
          <a:p>
            <a:r>
              <a:rPr lang="en-US" dirty="0"/>
              <a:t>These ideas were originally developed by Ed Freeman in the 1980s, but have achieved a wider currency in the UK.</a:t>
            </a:r>
          </a:p>
          <a:p>
            <a:r>
              <a:rPr lang="en-US" dirty="0"/>
              <a:t>Stakeholder theory challenges agency assumptions about the primacy of shareholder interests.</a:t>
            </a:r>
          </a:p>
          <a:p>
            <a:r>
              <a:rPr lang="en-US" dirty="0"/>
              <a:t> Instead it argues that a company should be managed in the interests of all its stakeholders. </a:t>
            </a:r>
          </a:p>
          <a:p>
            <a:r>
              <a:rPr lang="en-US" dirty="0"/>
              <a:t>These interests include not only those of the shareholder but also a range of other direct and indirect interests.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32770" name="Picture 2" descr="An overview of corporate governance"/>
          <p:cNvPicPr>
            <a:picLocks noChangeAspect="1" noChangeArrowheads="1"/>
          </p:cNvPicPr>
          <p:nvPr/>
        </p:nvPicPr>
        <p:blipFill>
          <a:blip r:embed="rId2" cstate="print"/>
          <a:srcRect/>
          <a:stretch>
            <a:fillRect/>
          </a:stretch>
        </p:blipFill>
        <p:spPr bwMode="auto">
          <a:xfrm>
            <a:off x="457200" y="838200"/>
            <a:ext cx="8305800" cy="53340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a:t>Stakeholder Theory</a:t>
            </a:r>
            <a:endParaRPr lang="en-US" dirty="0"/>
          </a:p>
        </p:txBody>
      </p:sp>
      <p:pic>
        <p:nvPicPr>
          <p:cNvPr id="4" name="Picture 10" descr="ste05051_0105"/>
          <p:cNvPicPr>
            <a:picLocks noGrp="1" noChangeAspect="1" noChangeArrowheads="1"/>
          </p:cNvPicPr>
          <p:nvPr>
            <p:ph idx="1"/>
          </p:nvPr>
        </p:nvPicPr>
        <p:blipFill>
          <a:blip r:embed="rId2" cstate="print"/>
          <a:srcRect/>
          <a:stretch>
            <a:fillRect/>
          </a:stretch>
        </p:blipFill>
        <p:spPr bwMode="auto">
          <a:xfrm>
            <a:off x="762000" y="1219200"/>
            <a:ext cx="7543800" cy="52578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fontScale="90000"/>
          </a:bodyPr>
          <a:lstStyle/>
          <a:p>
            <a:br>
              <a:rPr lang="en-US" b="1" dirty="0"/>
            </a:br>
            <a:r>
              <a:rPr lang="en-US" b="1" dirty="0"/>
              <a:t>Stakeholder Theory</a:t>
            </a:r>
            <a:br>
              <a:rPr lang="en-US" b="1" dirty="0"/>
            </a:br>
            <a:endParaRPr lang="en-US" dirty="0"/>
          </a:p>
        </p:txBody>
      </p:sp>
      <p:sp>
        <p:nvSpPr>
          <p:cNvPr id="3" name="Content Placeholder 2"/>
          <p:cNvSpPr>
            <a:spLocks noGrp="1"/>
          </p:cNvSpPr>
          <p:nvPr>
            <p:ph idx="1"/>
          </p:nvPr>
        </p:nvSpPr>
        <p:spPr>
          <a:xfrm>
            <a:off x="0" y="838200"/>
            <a:ext cx="9144000" cy="6019800"/>
          </a:xfrm>
        </p:spPr>
        <p:txBody>
          <a:bodyPr/>
          <a:lstStyle/>
          <a:p>
            <a:pPr marL="0" indent="0">
              <a:buNone/>
            </a:pPr>
            <a:r>
              <a:rPr lang="en-US" dirty="0"/>
              <a:t>The argument that is repeatedly raised against a stakeholder view of the firm is that it is </a:t>
            </a:r>
            <a:r>
              <a:rPr lang="en-US" b="1" dirty="0"/>
              <a:t>hard to operationalise</a:t>
            </a:r>
            <a:r>
              <a:rPr lang="en-US" dirty="0"/>
              <a:t> because of the difficulties of deciding </a:t>
            </a:r>
            <a:r>
              <a:rPr lang="en-US" b="1" dirty="0"/>
              <a:t>what weight should be given to different stakeholder interests.</a:t>
            </a:r>
          </a:p>
          <a:p>
            <a:pPr marL="0" indent="0">
              <a:buNone/>
            </a:pPr>
            <a:r>
              <a:rPr lang="en-US" dirty="0"/>
              <a:t>In terms of corporate governance it is argued that, </a:t>
            </a:r>
            <a:r>
              <a:rPr lang="en-US" sz="4000" b="1" dirty="0">
                <a:solidFill>
                  <a:srgbClr val="C00000"/>
                </a:solidFill>
              </a:rPr>
              <a:t>were executives to be made accountable to all of a company's stakeholders they would, in effect, be answerable to none.</a:t>
            </a:r>
          </a:p>
          <a:p>
            <a:pPr marL="0" indent="0">
              <a:buNone/>
            </a:pPr>
            <a:endParaRPr lang="en-US" dirty="0"/>
          </a:p>
          <a:p>
            <a:pPr marL="0" indent="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fontScale="77500" lnSpcReduction="20000"/>
          </a:bodyPr>
          <a:lstStyle/>
          <a:p>
            <a:pPr>
              <a:buNone/>
            </a:pPr>
            <a:r>
              <a:rPr lang="en-US" dirty="0"/>
              <a:t>     The present corporate governance theories cannot fully explain the intricacy and heterogeneity of corporate business. Governance may differ from country to country due to their various cultural values, political and social and historical circumstances. In this sense, governance in developed countries and developing countries can vary due to the cultural and economic contexts of individual countries. However, the literature has confirmed that even with strict regulations, there have been breaches in corporate governance. Hence it is vital that a rounded recognition be driven across the corporate world that would bring about a different perspective towards corporate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3819</TotalTime>
  <Words>2165</Words>
  <Application>Microsoft Office PowerPoint</Application>
  <PresentationFormat>On-screen Show (4:3)</PresentationFormat>
  <Paragraphs>151</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Theories of Corporate Governance</vt:lpstr>
      <vt:lpstr>Understanding of Agency Theory</vt:lpstr>
      <vt:lpstr>PowerPoint Presentation</vt:lpstr>
      <vt:lpstr>Agency Theory</vt:lpstr>
      <vt:lpstr>PowerPoint Presentation</vt:lpstr>
      <vt:lpstr>PowerPoint Presentation</vt:lpstr>
      <vt:lpstr>Agency Theory Contd.</vt:lpstr>
      <vt:lpstr>Agency Theory Contd</vt:lpstr>
      <vt:lpstr>Agency Theory Contd.</vt:lpstr>
      <vt:lpstr>Agency Theory Contd.</vt:lpstr>
      <vt:lpstr>Agency theory and Reforms in Corporate Governance</vt:lpstr>
      <vt:lpstr>Agency theory and Reforms in Corporate Governance Contd.</vt:lpstr>
      <vt:lpstr> Resource Dependence Theory </vt:lpstr>
      <vt:lpstr>Resource Dependence Theory</vt:lpstr>
      <vt:lpstr>Resource Dependence Theory</vt:lpstr>
      <vt:lpstr>Resource Dependence: Needs of company at different stages of  life cycle </vt:lpstr>
      <vt:lpstr>Difference between Agency and Resource Dependence Theory</vt:lpstr>
      <vt:lpstr>Arun Sarin as Independent Director of Ola</vt:lpstr>
      <vt:lpstr>Stewardship theory</vt:lpstr>
      <vt:lpstr>Stewardship theory</vt:lpstr>
      <vt:lpstr>PowerPoint Presentation</vt:lpstr>
      <vt:lpstr> Stakeholder Theory </vt:lpstr>
      <vt:lpstr>PowerPoint Presentation</vt:lpstr>
      <vt:lpstr>Stakeholder Theory</vt:lpstr>
      <vt:lpstr> Stakeholder Theory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Theories of Corporate Governance</dc:title>
  <dc:creator>amit</dc:creator>
  <cp:lastModifiedBy>Unknown User</cp:lastModifiedBy>
  <cp:revision>154</cp:revision>
  <dcterms:created xsi:type="dcterms:W3CDTF">2015-05-01T09:47:03Z</dcterms:created>
  <dcterms:modified xsi:type="dcterms:W3CDTF">2023-01-10T14:56:39Z</dcterms:modified>
</cp:coreProperties>
</file>