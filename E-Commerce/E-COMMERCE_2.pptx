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Lato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  <p:embeddedFont>
      <p:font typeface="Montserrat Light"/>
      <p:regular r:id="rId22"/>
      <p:bold r:id="rId23"/>
      <p:italic r:id="rId24"/>
      <p:boldItalic r:id="rId25"/>
    </p:embeddedFont>
    <p:embeddedFont>
      <p:font typeface="Montserrat ExtraBold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8" roundtripDataSignature="AMtx7mg7jB/jbY347Z7IUzQzTJ8chEz1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MontserratLight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MontserratLight-italic.fntdata"/><Relationship Id="rId23" Type="http://schemas.openxmlformats.org/officeDocument/2006/relationships/font" Target="fonts/MontserratLigh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MontserratExtraBold-bold.fntdata"/><Relationship Id="rId25" Type="http://schemas.openxmlformats.org/officeDocument/2006/relationships/font" Target="fonts/MontserratLight-boldItalic.fntdata"/><Relationship Id="rId28" Type="http://customschemas.google.com/relationships/presentationmetadata" Target="metadata"/><Relationship Id="rId27" Type="http://schemas.openxmlformats.org/officeDocument/2006/relationships/font" Target="fonts/Montserrat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int_transparent1.png" id="16" name="Google Shape;16;p10"/>
          <p:cNvPicPr preferRelativeResize="0"/>
          <p:nvPr/>
        </p:nvPicPr>
        <p:blipFill rotWithShape="1">
          <a:blip r:embed="rId3">
            <a:alphaModFix/>
          </a:blip>
          <a:srcRect b="0" l="55210" r="0" t="0"/>
          <a:stretch/>
        </p:blipFill>
        <p:spPr>
          <a:xfrm>
            <a:off x="2" y="0"/>
            <a:ext cx="54609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0"/>
          <p:cNvSpPr txBox="1"/>
          <p:nvPr>
            <p:ph type="ctrTitle"/>
          </p:nvPr>
        </p:nvSpPr>
        <p:spPr>
          <a:xfrm>
            <a:off x="4277500" y="4382967"/>
            <a:ext cx="7000400" cy="15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pic>
        <p:nvPicPr>
          <p:cNvPr descr="Symbiosis Institute of Business Management, Bengaluru - Wikipedia" id="18" name="Google Shape;1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702" y="101371"/>
            <a:ext cx="2338476" cy="878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int_transparent1.png" id="20" name="Google Shape;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1"/>
          <p:cNvSpPr txBox="1"/>
          <p:nvPr>
            <p:ph type="title"/>
          </p:nvPr>
        </p:nvSpPr>
        <p:spPr>
          <a:xfrm>
            <a:off x="609600" y="1798633"/>
            <a:ext cx="7348400" cy="11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body"/>
          </p:nvPr>
        </p:nvSpPr>
        <p:spPr>
          <a:xfrm>
            <a:off x="609600" y="2949100"/>
            <a:ext cx="35668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×"/>
              <a:defRPr sz="2133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×"/>
              <a:defRPr sz="2133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×"/>
              <a:defRPr sz="2133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×"/>
              <a:defRPr sz="2133"/>
            </a:lvl4pPr>
            <a:lvl5pPr indent="-3302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2133"/>
            </a:lvl5pPr>
            <a:lvl6pPr indent="-3302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2133"/>
            </a:lvl6pPr>
            <a:lvl7pPr indent="-3302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2133"/>
            </a:lvl7pPr>
            <a:lvl8pPr indent="-3302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2133"/>
            </a:lvl8pPr>
            <a:lvl9pPr indent="-3302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2133"/>
            </a:lvl9pPr>
          </a:lstStyle>
          <a:p/>
        </p:txBody>
      </p:sp>
      <p:sp>
        <p:nvSpPr>
          <p:cNvPr id="23" name="Google Shape;23;p11"/>
          <p:cNvSpPr txBox="1"/>
          <p:nvPr>
            <p:ph idx="2" type="body"/>
          </p:nvPr>
        </p:nvSpPr>
        <p:spPr>
          <a:xfrm>
            <a:off x="4391208" y="2949100"/>
            <a:ext cx="35668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×"/>
              <a:defRPr sz="2133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×"/>
              <a:defRPr sz="2133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×"/>
              <a:defRPr sz="2133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×"/>
              <a:defRPr sz="2133"/>
            </a:lvl4pPr>
            <a:lvl5pPr indent="-3302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2133"/>
            </a:lvl5pPr>
            <a:lvl6pPr indent="-3302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2133"/>
            </a:lvl6pPr>
            <a:lvl7pPr indent="-3302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2133"/>
            </a:lvl7pPr>
            <a:lvl8pPr indent="-3302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2133"/>
            </a:lvl8pPr>
            <a:lvl9pPr indent="-3302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2133"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Symbiosis Institute of Business Management, Bengaluru - Wikipedia" id="25" name="Google Shape;2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702" y="101371"/>
            <a:ext cx="2338476" cy="878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int_transparent1.png" id="32" name="Google Shape;3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/>
          <p:nvPr>
            <p:ph type="title"/>
          </p:nvPr>
        </p:nvSpPr>
        <p:spPr>
          <a:xfrm>
            <a:off x="609600" y="1798633"/>
            <a:ext cx="7348400" cy="11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" type="body"/>
          </p:nvPr>
        </p:nvSpPr>
        <p:spPr>
          <a:xfrm>
            <a:off x="609600" y="2992533"/>
            <a:ext cx="7348400" cy="34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×"/>
              <a:defRPr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×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×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×"/>
              <a:defRPr/>
            </a:lvl4pPr>
            <a:lvl5pPr indent="-3429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Symbiosis Institute of Business Management, Bengaluru - Wikipedia" id="36" name="Google Shape;3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702" y="101371"/>
            <a:ext cx="2338476" cy="878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0" name="Google Shape;4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2" name="Google Shape;5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6" name="Google Shape;8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ircle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int_transparent4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12192000" cy="685801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>
            <p:ph idx="12" type="sldNum"/>
          </p:nvPr>
        </p:nvSpPr>
        <p:spPr>
          <a:xfrm>
            <a:off x="5730200" y="62315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ct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ct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ct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ct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ct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ct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ct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ct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ct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Symbiosis Institute of Business Management, Bengaluru - Wikipedia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702" y="101371"/>
            <a:ext cx="2338476" cy="878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int_transparent1.png" id="112" name="Google Shape;112;p26"/>
          <p:cNvPicPr preferRelativeResize="0"/>
          <p:nvPr/>
        </p:nvPicPr>
        <p:blipFill rotWithShape="1">
          <a:blip r:embed="rId3">
            <a:alphaModFix/>
          </a:blip>
          <a:srcRect b="0" l="55210" r="0" t="0"/>
          <a:stretch/>
        </p:blipFill>
        <p:spPr>
          <a:xfrm>
            <a:off x="2" y="0"/>
            <a:ext cx="54609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6"/>
          <p:cNvSpPr txBox="1"/>
          <p:nvPr>
            <p:ph type="ctrTitle"/>
          </p:nvPr>
        </p:nvSpPr>
        <p:spPr>
          <a:xfrm>
            <a:off x="4277500" y="4382967"/>
            <a:ext cx="7000400" cy="15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pic>
        <p:nvPicPr>
          <p:cNvPr descr="Symbiosis Institute of Business Management, Bengaluru - Wikipedia" id="114" name="Google Shape;11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702" y="101371"/>
            <a:ext cx="2338476" cy="878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int_transparent4.png" id="116" name="Google Shape;11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5"/>
            <a:ext cx="12192000" cy="68580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7"/>
          <p:cNvSpPr txBox="1"/>
          <p:nvPr>
            <p:ph idx="1" type="body"/>
          </p:nvPr>
        </p:nvSpPr>
        <p:spPr>
          <a:xfrm>
            <a:off x="3311133" y="1114833"/>
            <a:ext cx="5569600" cy="46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i="1" sz="3200">
                <a:solidFill>
                  <a:srgbClr val="FFFFFF"/>
                </a:solidFill>
              </a:defRPr>
            </a:lvl1pPr>
            <a:lvl2pPr indent="-3810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i="1" sz="3200">
                <a:solidFill>
                  <a:srgbClr val="FFFFFF"/>
                </a:solidFill>
              </a:defRPr>
            </a:lvl2pPr>
            <a:lvl3pPr indent="-3810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i="1" sz="3200">
                <a:solidFill>
                  <a:srgbClr val="FFFFFF"/>
                </a:solidFill>
              </a:defRPr>
            </a:lvl3pPr>
            <a:lvl4pPr indent="-3810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i="1" sz="3200">
                <a:solidFill>
                  <a:srgbClr val="FFFFFF"/>
                </a:solidFill>
              </a:defRPr>
            </a:lvl4pPr>
            <a:lvl5pPr indent="-3810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○"/>
              <a:defRPr i="1" sz="3200">
                <a:solidFill>
                  <a:srgbClr val="FFFFFF"/>
                </a:solidFill>
              </a:defRPr>
            </a:lvl5pPr>
            <a:lvl6pPr indent="-3810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■"/>
              <a:defRPr i="1" sz="3200">
                <a:solidFill>
                  <a:srgbClr val="FFFFFF"/>
                </a:solidFill>
              </a:defRPr>
            </a:lvl6pPr>
            <a:lvl7pPr indent="-3810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i="1" sz="3200">
                <a:solidFill>
                  <a:srgbClr val="FFFFFF"/>
                </a:solidFill>
              </a:defRPr>
            </a:lvl7pPr>
            <a:lvl8pPr indent="-3810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○"/>
              <a:defRPr i="1" sz="3200">
                <a:solidFill>
                  <a:srgbClr val="FFFFFF"/>
                </a:solidFill>
              </a:defRPr>
            </a:lvl8pPr>
            <a:lvl9pPr indent="-3810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■"/>
              <a:defRPr i="1" sz="3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12" type="sldNum"/>
          </p:nvPr>
        </p:nvSpPr>
        <p:spPr>
          <a:xfrm>
            <a:off x="5730200" y="62315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ct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ct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ct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ct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ct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ct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ct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ct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ct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Symbiosis Institute of Business Management, Bengaluru - Wikipedia" id="119" name="Google Shape;11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702" y="101371"/>
            <a:ext cx="2338476" cy="878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int_transparent1.png" id="121" name="Google Shape;12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8"/>
          <p:cNvSpPr txBox="1"/>
          <p:nvPr>
            <p:ph type="title"/>
          </p:nvPr>
        </p:nvSpPr>
        <p:spPr>
          <a:xfrm>
            <a:off x="609600" y="1798633"/>
            <a:ext cx="7348400" cy="11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3" name="Google Shape;123;p28"/>
          <p:cNvSpPr txBox="1"/>
          <p:nvPr>
            <p:ph idx="1" type="body"/>
          </p:nvPr>
        </p:nvSpPr>
        <p:spPr>
          <a:xfrm>
            <a:off x="609600" y="2992533"/>
            <a:ext cx="7348400" cy="34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×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4" name="Google Shape;124;p28"/>
          <p:cNvSpPr txBox="1"/>
          <p:nvPr>
            <p:ph idx="12" type="sldNum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Symbiosis Institute of Business Management, Bengaluru - Wikipedia" id="125" name="Google Shape;12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702" y="101371"/>
            <a:ext cx="2338476" cy="878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int_transparent1.png" id="127" name="Google Shape;12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9"/>
          <p:cNvSpPr txBox="1"/>
          <p:nvPr>
            <p:ph type="title"/>
          </p:nvPr>
        </p:nvSpPr>
        <p:spPr>
          <a:xfrm>
            <a:off x="609600" y="1798633"/>
            <a:ext cx="7348400" cy="11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1" type="body"/>
          </p:nvPr>
        </p:nvSpPr>
        <p:spPr>
          <a:xfrm>
            <a:off x="609600" y="2949100"/>
            <a:ext cx="35668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×"/>
              <a:defRPr sz="2133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×"/>
              <a:defRPr sz="2133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×"/>
              <a:defRPr sz="2133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×"/>
              <a:defRPr sz="2133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/>
        </p:txBody>
      </p:sp>
      <p:sp>
        <p:nvSpPr>
          <p:cNvPr id="130" name="Google Shape;130;p29"/>
          <p:cNvSpPr txBox="1"/>
          <p:nvPr>
            <p:ph idx="2" type="body"/>
          </p:nvPr>
        </p:nvSpPr>
        <p:spPr>
          <a:xfrm>
            <a:off x="4391208" y="2949100"/>
            <a:ext cx="35668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×"/>
              <a:defRPr sz="2133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×"/>
              <a:defRPr sz="2133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×"/>
              <a:defRPr sz="2133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×"/>
              <a:defRPr sz="2133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/>
        </p:txBody>
      </p:sp>
      <p:sp>
        <p:nvSpPr>
          <p:cNvPr id="131" name="Google Shape;131;p29"/>
          <p:cNvSpPr txBox="1"/>
          <p:nvPr>
            <p:ph idx="12" type="sldNum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Symbiosis Institute of Business Management, Bengaluru - Wikipedia" id="132" name="Google Shape;13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702" y="101371"/>
            <a:ext cx="2338476" cy="878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int_transparent1.png" id="134" name="Google Shape;13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0"/>
          <p:cNvSpPr txBox="1"/>
          <p:nvPr>
            <p:ph idx="1" type="body"/>
          </p:nvPr>
        </p:nvSpPr>
        <p:spPr>
          <a:xfrm>
            <a:off x="609600" y="5875079"/>
            <a:ext cx="10972800" cy="6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  <a:defRPr sz="1867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6" name="Google Shape;136;p30"/>
          <p:cNvSpPr txBox="1"/>
          <p:nvPr>
            <p:ph idx="12" type="sldNum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Symbiosis Institute of Business Management, Bengaluru - Wikipedia" id="137" name="Google Shape;13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702" y="101371"/>
            <a:ext cx="2338476" cy="878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rectangle">
  <p:cSld name="Blank rectang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int_transparent3.png" id="139" name="Google Shape;13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12192000" cy="685800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1"/>
          <p:cNvSpPr txBox="1"/>
          <p:nvPr>
            <p:ph idx="12" type="sldNum"/>
          </p:nvPr>
        </p:nvSpPr>
        <p:spPr>
          <a:xfrm>
            <a:off x="5730200" y="593063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ctr">
              <a:buClr>
                <a:srgbClr val="999999"/>
              </a:buClr>
              <a:buSzPts val="2400"/>
              <a:buFont typeface="Lato"/>
              <a:buNone/>
              <a:defRPr sz="24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ctr">
              <a:buClr>
                <a:srgbClr val="999999"/>
              </a:buClr>
              <a:buSzPts val="2400"/>
              <a:buFont typeface="Lato"/>
              <a:buNone/>
              <a:defRPr sz="24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ctr">
              <a:buClr>
                <a:srgbClr val="999999"/>
              </a:buClr>
              <a:buSzPts val="2400"/>
              <a:buFont typeface="Lato"/>
              <a:buNone/>
              <a:defRPr sz="24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ctr">
              <a:buClr>
                <a:srgbClr val="999999"/>
              </a:buClr>
              <a:buSzPts val="2400"/>
              <a:buFont typeface="Lato"/>
              <a:buNone/>
              <a:defRPr sz="24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ctr">
              <a:buClr>
                <a:srgbClr val="999999"/>
              </a:buClr>
              <a:buSzPts val="2400"/>
              <a:buFont typeface="Lato"/>
              <a:buNone/>
              <a:defRPr sz="24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ctr">
              <a:buClr>
                <a:srgbClr val="999999"/>
              </a:buClr>
              <a:buSzPts val="2400"/>
              <a:buFont typeface="Lato"/>
              <a:buNone/>
              <a:defRPr sz="24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ctr">
              <a:buClr>
                <a:srgbClr val="999999"/>
              </a:buClr>
              <a:buSzPts val="2400"/>
              <a:buFont typeface="Lato"/>
              <a:buNone/>
              <a:defRPr sz="24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ctr">
              <a:buClr>
                <a:srgbClr val="999999"/>
              </a:buClr>
              <a:buSzPts val="2400"/>
              <a:buFont typeface="Lato"/>
              <a:buNone/>
              <a:defRPr sz="24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ctr">
              <a:buClr>
                <a:srgbClr val="999999"/>
              </a:buClr>
              <a:buSzPts val="2400"/>
              <a:buFont typeface="Lato"/>
              <a:buNone/>
              <a:defRPr sz="24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Symbiosis Institute of Business Management, Bengaluru - Wikipedia" id="141" name="Google Shape;14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702" y="101371"/>
            <a:ext cx="2338476" cy="878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half">
  <p:cSld name="Blank half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/>
          <p:nvPr>
            <p:ph idx="12" type="sldNum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aint_transparent1.png" id="144" name="Google Shape;144;p32"/>
          <p:cNvPicPr preferRelativeResize="0"/>
          <p:nvPr/>
        </p:nvPicPr>
        <p:blipFill rotWithShape="1">
          <a:blip r:embed="rId3">
            <a:alphaModFix/>
          </a:blip>
          <a:srcRect b="0" l="27161" r="0" t="0"/>
          <a:stretch/>
        </p:blipFill>
        <p:spPr>
          <a:xfrm>
            <a:off x="0" y="0"/>
            <a:ext cx="888073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ymbiosis Institute of Business Management, Bengaluru - Wikipedia" id="145" name="Google Shape;14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702" y="101371"/>
            <a:ext cx="2338476" cy="878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">
  <p:cSld name="Title + 1 column + Image">
    <p:bg>
      <p:bgPr>
        <a:gradFill>
          <a:gsLst>
            <a:gs pos="0">
              <a:srgbClr val="8790B9"/>
            </a:gs>
            <a:gs pos="100000">
              <a:srgbClr val="D4ECFF"/>
            </a:gs>
          </a:gsLst>
          <a:lin ang="5400700" scaled="0"/>
        </a:gra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3"/>
          <p:cNvSpPr txBox="1"/>
          <p:nvPr>
            <p:ph type="title"/>
          </p:nvPr>
        </p:nvSpPr>
        <p:spPr>
          <a:xfrm>
            <a:off x="932000" y="1053533"/>
            <a:ext cx="4659600" cy="110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33"/>
          <p:cNvSpPr txBox="1"/>
          <p:nvPr>
            <p:ph idx="1" type="body"/>
          </p:nvPr>
        </p:nvSpPr>
        <p:spPr>
          <a:xfrm>
            <a:off x="932000" y="2360300"/>
            <a:ext cx="4659600" cy="34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Char char="◦"/>
              <a:defRPr/>
            </a:lvl1pPr>
            <a:lvl2pPr indent="-368300" lvl="1" marL="91440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SzPts val="2200"/>
              <a:buChar char="◦"/>
              <a:defRPr/>
            </a:lvl2pPr>
            <a:lvl3pPr indent="-368300" lvl="2" marL="137160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SzPts val="2200"/>
              <a:buChar char="◦"/>
              <a:defRPr/>
            </a:lvl3pPr>
            <a:lvl4pPr indent="-368300" lvl="3" marL="182880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SzPts val="2200"/>
              <a:buChar char="◦"/>
              <a:defRPr/>
            </a:lvl4pPr>
            <a:lvl5pPr indent="-368300" lvl="4" marL="228600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SzPts val="2200"/>
              <a:buChar char="◦"/>
              <a:defRPr/>
            </a:lvl5pPr>
            <a:lvl6pPr indent="-368300" lvl="5" marL="274320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SzPts val="2200"/>
              <a:buChar char="◦"/>
              <a:defRPr/>
            </a:lvl6pPr>
            <a:lvl7pPr indent="-368300" lvl="6" marL="320040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SzPts val="2200"/>
              <a:buChar char="◦"/>
              <a:defRPr/>
            </a:lvl7pPr>
            <a:lvl8pPr indent="-368300" lvl="7" marL="365760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SzPts val="2200"/>
              <a:buChar char="◦"/>
              <a:defRPr/>
            </a:lvl8pPr>
            <a:lvl9pPr indent="-368300" lvl="8" marL="4114800" algn="l">
              <a:lnSpc>
                <a:spcPct val="100000"/>
              </a:lnSpc>
              <a:spcBef>
                <a:spcPts val="1333"/>
              </a:spcBef>
              <a:spcAft>
                <a:spcPts val="1333"/>
              </a:spcAft>
              <a:buSzPts val="2200"/>
              <a:buChar char="◦"/>
              <a:defRPr/>
            </a:lvl9pPr>
          </a:lstStyle>
          <a:p/>
        </p:txBody>
      </p:sp>
      <p:sp>
        <p:nvSpPr>
          <p:cNvPr id="150" name="Google Shape;150;p33"/>
          <p:cNvSpPr txBox="1"/>
          <p:nvPr>
            <p:ph idx="12" type="sldNum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Symbiosis Institute of Business Management, Bengaluru - Wikipedia" id="151" name="Google Shape;15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702" y="101371"/>
            <a:ext cx="2338476" cy="8789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-Commerce logo, Logo E-commerce Electronic business, ecommerce, angle,  text, service png | PNGWing" id="152" name="Google Shape;15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54889" y="114027"/>
            <a:ext cx="1567752" cy="1388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int_transparent1.png" id="154" name="Google Shape;15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>
            <p:ph type="title"/>
          </p:nvPr>
        </p:nvSpPr>
        <p:spPr>
          <a:xfrm>
            <a:off x="609600" y="1798633"/>
            <a:ext cx="7348400" cy="11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56" name="Google Shape;156;p34"/>
          <p:cNvSpPr txBox="1"/>
          <p:nvPr>
            <p:ph idx="12" type="sldNum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Symbiosis Institute of Business Management, Bengaluru - Wikipedia" id="157" name="Google Shape;15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702" y="101371"/>
            <a:ext cx="2338476" cy="878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image" Target="../media/image4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CCC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>
            <p:ph type="title"/>
          </p:nvPr>
        </p:nvSpPr>
        <p:spPr>
          <a:xfrm>
            <a:off x="609600" y="1798633"/>
            <a:ext cx="7348400" cy="11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  <a:defRPr b="0" i="0" sz="4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  <a:defRPr b="0" i="0" sz="4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  <a:defRPr b="0" i="0" sz="4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  <a:defRPr b="0" i="0" sz="4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  <a:defRPr b="0" i="0" sz="4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  <a:defRPr b="0" i="0" sz="4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  <a:defRPr b="0" i="0" sz="4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  <a:defRPr b="0" i="0" sz="4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  <a:defRPr b="0" i="0" sz="4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3" name="Google Shape;103;p14"/>
          <p:cNvSpPr txBox="1"/>
          <p:nvPr>
            <p:ph idx="1" type="body"/>
          </p:nvPr>
        </p:nvSpPr>
        <p:spPr>
          <a:xfrm>
            <a:off x="609600" y="2992533"/>
            <a:ext cx="7348400" cy="34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ato"/>
              <a:buChar char="×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ato"/>
              <a:buChar char="×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ato"/>
              <a:buChar char="×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×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○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■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○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■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4" name="Google Shape;104;p14"/>
          <p:cNvSpPr txBox="1"/>
          <p:nvPr>
            <p:ph idx="12" type="sldNum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buClr>
                <a:schemeClr val="lt1"/>
              </a:buClr>
              <a:buSzPts val="2400"/>
              <a:buFont typeface="Lato"/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Symbiosis Institute of Business Management, Bengaluru - Wikipedia" id="105" name="Google Shape;105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40702" y="101371"/>
            <a:ext cx="2338476" cy="8789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-Commerce logo, Logo E-commerce Electronic business, ecommerce, angle,  text, service png | PNGWing" id="106" name="Google Shape;10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54889" y="114027"/>
            <a:ext cx="1567752" cy="138898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websitebuilderexpert.com/building-online-stores/e-commerce-examples-case-studies/" TargetMode="External"/><Relationship Id="rId4" Type="http://schemas.openxmlformats.org/officeDocument/2006/relationships/hyperlink" Target="https://www.indusnet.co.in/ecommerce-successful-india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>
            <p:ph type="ctrTitle"/>
          </p:nvPr>
        </p:nvSpPr>
        <p:spPr>
          <a:xfrm>
            <a:off x="4382415" y="2137951"/>
            <a:ext cx="7000400" cy="15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</a:pPr>
            <a:r>
              <a:rPr lang="en"/>
              <a:t>E-COMMERCE</a:t>
            </a:r>
            <a:endParaRPr/>
          </a:p>
        </p:txBody>
      </p:sp>
      <p:sp>
        <p:nvSpPr>
          <p:cNvPr id="163" name="Google Shape;163;p1"/>
          <p:cNvSpPr txBox="1"/>
          <p:nvPr>
            <p:ph idx="4294967295" type="subTitle"/>
          </p:nvPr>
        </p:nvSpPr>
        <p:spPr>
          <a:xfrm>
            <a:off x="4977781" y="4641721"/>
            <a:ext cx="7000400" cy="10456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0" i="0" lang="en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2: E-Commerce in Indian Business Context</a:t>
            </a:r>
            <a:endParaRPr b="0" i="0" sz="42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4977215" y="1643301"/>
            <a:ext cx="64056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333"/>
              </a:spcAft>
              <a:buClr>
                <a:schemeClr val="lt1"/>
              </a:buClr>
              <a:buSzPts val="1800"/>
              <a:buFont typeface="Montserrat Light"/>
              <a:buNone/>
            </a:pPr>
            <a:r>
              <a:rPr b="0" i="0" lang="en" sz="2400" u="none" cap="none" strike="noStrik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MBA(BA) </a:t>
            </a:r>
            <a:endParaRPr/>
          </a:p>
        </p:txBody>
      </p:sp>
      <p:pic>
        <p:nvPicPr>
          <p:cNvPr descr="Ecommerce Shopping Cart Png Photo - Online Shopping Cart Png, Transparent  Png - kindpng" id="165" name="Google Shape;16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49842" y="3939017"/>
            <a:ext cx="4660756" cy="3528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"/>
          <p:cNvSpPr txBox="1"/>
          <p:nvPr>
            <p:ph type="title"/>
          </p:nvPr>
        </p:nvSpPr>
        <p:spPr>
          <a:xfrm>
            <a:off x="297712" y="1215600"/>
            <a:ext cx="10873563" cy="1166093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" sz="5333"/>
              <a:t>E-COMMERCE PLATFORM</a:t>
            </a:r>
            <a:endParaRPr sz="5333"/>
          </a:p>
        </p:txBody>
      </p:sp>
      <p:sp>
        <p:nvSpPr>
          <p:cNvPr id="171" name="Google Shape;171;p2"/>
          <p:cNvSpPr txBox="1"/>
          <p:nvPr>
            <p:ph idx="1" type="body"/>
          </p:nvPr>
        </p:nvSpPr>
        <p:spPr>
          <a:xfrm>
            <a:off x="297712" y="2317099"/>
            <a:ext cx="10873563" cy="41853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396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" sz="3200"/>
              <a:t>A software solution used to create a storefront, administer back-end functions and integrate with other systems (such as digital analytics, business intelligence, databases, CRM, and marketing technology).</a:t>
            </a:r>
            <a:r>
              <a:rPr lang="en" sz="3733"/>
              <a:t> </a:t>
            </a:r>
            <a:endParaRPr/>
          </a:p>
          <a:p>
            <a:pPr indent="0" lvl="0" marL="152396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" sz="3200"/>
              <a:t>enables the totality of functionality that creates the e-commerce experience, such as the product catalog and pages, other content.</a:t>
            </a:r>
            <a:endParaRPr sz="3200"/>
          </a:p>
        </p:txBody>
      </p:sp>
      <p:sp>
        <p:nvSpPr>
          <p:cNvPr id="172" name="Google Shape;172;p2"/>
          <p:cNvSpPr txBox="1"/>
          <p:nvPr>
            <p:ph idx="12" type="sldNum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"/>
          <p:cNvSpPr txBox="1"/>
          <p:nvPr>
            <p:ph type="title"/>
          </p:nvPr>
        </p:nvSpPr>
        <p:spPr>
          <a:xfrm>
            <a:off x="502594" y="568215"/>
            <a:ext cx="9511293" cy="17569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</a:pPr>
            <a:r>
              <a:rPr lang="en" sz="5333"/>
              <a:t>E-COMMERCE FUNNEL</a:t>
            </a:r>
            <a:endParaRPr sz="5333"/>
          </a:p>
        </p:txBody>
      </p:sp>
      <p:sp>
        <p:nvSpPr>
          <p:cNvPr id="178" name="Google Shape;178;p3"/>
          <p:cNvSpPr txBox="1"/>
          <p:nvPr>
            <p:ph idx="12" type="sldNum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0" y="2552042"/>
            <a:ext cx="4463621" cy="3522135"/>
            <a:chOff x="3169316" y="1202600"/>
            <a:chExt cx="3054200" cy="2740618"/>
          </a:xfrm>
        </p:grpSpPr>
        <p:sp>
          <p:nvSpPr>
            <p:cNvPr id="180" name="Google Shape;180;p3"/>
            <p:cNvSpPr/>
            <p:nvPr/>
          </p:nvSpPr>
          <p:spPr>
            <a:xfrm>
              <a:off x="3925418" y="3076297"/>
              <a:ext cx="1546791" cy="469143"/>
            </a:xfrm>
            <a:custGeom>
              <a:rect b="b" l="l" r="r" t="t"/>
              <a:pathLst>
                <a:path extrusionOk="0" h="194" w="64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OPERATIONS</a:t>
              </a:r>
              <a:endParaRPr b="1" i="0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4086750" y="3467360"/>
              <a:ext cx="1201931" cy="475858"/>
            </a:xfrm>
            <a:custGeom>
              <a:rect b="b" l="l" r="r" t="t"/>
              <a:pathLst>
                <a:path extrusionOk="0" h="190" w="483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MONITORING</a:t>
              </a:r>
              <a:endParaRPr b="1" i="0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3176041" y="1451084"/>
              <a:ext cx="3047475" cy="488330"/>
            </a:xfrm>
            <a:custGeom>
              <a:rect b="b" l="l" r="r" t="t"/>
              <a:pathLst>
                <a:path extrusionOk="0" h="202" w="1261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CONSUMER</a:t>
              </a:r>
              <a:endParaRPr b="1" i="0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3550729" y="2262731"/>
              <a:ext cx="2298092" cy="477779"/>
            </a:xfrm>
            <a:custGeom>
              <a:rect b="b" l="l" r="r" t="t"/>
              <a:pathLst>
                <a:path extrusionOk="0" h="198" w="951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ANALYTICS</a:t>
              </a:r>
              <a:endParaRPr b="1" i="0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3365307" y="1856907"/>
              <a:ext cx="2669893" cy="483533"/>
            </a:xfrm>
            <a:custGeom>
              <a:rect b="b" l="l" r="r" t="t"/>
              <a:pathLst>
                <a:path extrusionOk="0" h="200" w="1105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INTEGRATION</a:t>
              </a:r>
              <a:endParaRPr b="1" i="0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3737113" y="2668554"/>
              <a:ext cx="1923399" cy="475858"/>
            </a:xfrm>
            <a:custGeom>
              <a:rect b="b" l="l" r="r" t="t"/>
              <a:pathLst>
                <a:path extrusionOk="0" h="197" w="796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</a:t>
              </a:r>
              <a:endParaRPr b="1" i="0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3169316" y="1202600"/>
              <a:ext cx="3049703" cy="33588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cxnSp>
        <p:nvCxnSpPr>
          <p:cNvPr id="187" name="Google Shape;187;p3"/>
          <p:cNvCxnSpPr/>
          <p:nvPr/>
        </p:nvCxnSpPr>
        <p:spPr>
          <a:xfrm>
            <a:off x="4554823" y="3146491"/>
            <a:ext cx="1086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88" name="Google Shape;188;p3"/>
          <p:cNvSpPr txBox="1"/>
          <p:nvPr/>
        </p:nvSpPr>
        <p:spPr>
          <a:xfrm>
            <a:off x="5787603" y="2969507"/>
            <a:ext cx="2863600" cy="3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Storefront</a:t>
            </a:r>
            <a:endParaRPr sz="2133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9" name="Google Shape;189;p3"/>
          <p:cNvCxnSpPr/>
          <p:nvPr/>
        </p:nvCxnSpPr>
        <p:spPr>
          <a:xfrm>
            <a:off x="4188403" y="3641400"/>
            <a:ext cx="12460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90" name="Google Shape;190;p3"/>
          <p:cNvSpPr txBox="1"/>
          <p:nvPr/>
        </p:nvSpPr>
        <p:spPr>
          <a:xfrm>
            <a:off x="5484000" y="3393954"/>
            <a:ext cx="3485147" cy="4541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Unification</a:t>
            </a:r>
            <a:endParaRPr sz="2133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1" name="Google Shape;191;p3"/>
          <p:cNvCxnSpPr/>
          <p:nvPr/>
        </p:nvCxnSpPr>
        <p:spPr>
          <a:xfrm>
            <a:off x="3897720" y="4255059"/>
            <a:ext cx="14732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92" name="Google Shape;192;p3"/>
          <p:cNvSpPr txBox="1"/>
          <p:nvPr/>
        </p:nvSpPr>
        <p:spPr>
          <a:xfrm>
            <a:off x="5476832" y="3971518"/>
            <a:ext cx="3485145" cy="450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Analyze and work with data</a:t>
            </a:r>
            <a:endParaRPr sz="2133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3" name="Google Shape;193;p3"/>
          <p:cNvCxnSpPr/>
          <p:nvPr/>
        </p:nvCxnSpPr>
        <p:spPr>
          <a:xfrm>
            <a:off x="3704068" y="4749952"/>
            <a:ext cx="16668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94" name="Google Shape;194;p3"/>
          <p:cNvSpPr txBox="1"/>
          <p:nvPr/>
        </p:nvSpPr>
        <p:spPr>
          <a:xfrm>
            <a:off x="5476831" y="4604037"/>
            <a:ext cx="4082131" cy="3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Database Management Systems, </a:t>
            </a:r>
            <a:endParaRPr sz="2133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5" name="Google Shape;195;p3"/>
          <p:cNvCxnSpPr/>
          <p:nvPr/>
        </p:nvCxnSpPr>
        <p:spPr>
          <a:xfrm>
            <a:off x="3380640" y="5244857"/>
            <a:ext cx="1877600" cy="176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96" name="Google Shape;196;p3"/>
          <p:cNvSpPr txBox="1"/>
          <p:nvPr/>
        </p:nvSpPr>
        <p:spPr>
          <a:xfrm>
            <a:off x="5476831" y="5177720"/>
            <a:ext cx="2803109" cy="611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Managing the platform</a:t>
            </a:r>
            <a:endParaRPr sz="2133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7" name="Google Shape;197;p3"/>
          <p:cNvCxnSpPr/>
          <p:nvPr/>
        </p:nvCxnSpPr>
        <p:spPr>
          <a:xfrm flipH="1" rot="10800000">
            <a:off x="3170640" y="5562967"/>
            <a:ext cx="2087600" cy="187864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"/>
          <p:cNvSpPr txBox="1"/>
          <p:nvPr>
            <p:ph type="title"/>
          </p:nvPr>
        </p:nvSpPr>
        <p:spPr>
          <a:xfrm>
            <a:off x="863481" y="819044"/>
            <a:ext cx="7348400" cy="11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</a:pPr>
            <a:r>
              <a:rPr lang="en" sz="5333"/>
              <a:t>FUNCTIONALITIES </a:t>
            </a:r>
            <a:endParaRPr sz="5333"/>
          </a:p>
        </p:txBody>
      </p:sp>
      <p:sp>
        <p:nvSpPr>
          <p:cNvPr id="203" name="Google Shape;203;p4"/>
          <p:cNvSpPr txBox="1"/>
          <p:nvPr>
            <p:ph idx="1" type="body"/>
          </p:nvPr>
        </p:nvSpPr>
        <p:spPr>
          <a:xfrm>
            <a:off x="609600" y="2992533"/>
            <a:ext cx="7348400" cy="34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" sz="3733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MUST HAVES IN A E-COMMERCE PLATFORM</a:t>
            </a:r>
            <a:endParaRPr sz="3733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04" name="Google Shape;204;p4"/>
          <p:cNvSpPr txBox="1"/>
          <p:nvPr>
            <p:ph idx="12" type="sldNum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4"/>
          <p:cNvSpPr txBox="1"/>
          <p:nvPr/>
        </p:nvSpPr>
        <p:spPr>
          <a:xfrm>
            <a:off x="184298" y="2075155"/>
            <a:ext cx="11345687" cy="4390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189" lvl="0" marL="45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" sz="3200" u="none" cap="none" strike="noStrike">
                <a:solidFill>
                  <a:srgbClr val="06080A"/>
                </a:solidFill>
                <a:latin typeface="Lato"/>
                <a:ea typeface="Lato"/>
                <a:cs typeface="Lato"/>
                <a:sym typeface="Lato"/>
              </a:rPr>
              <a:t>Content management system</a:t>
            </a:r>
            <a:endParaRPr/>
          </a:p>
          <a:p>
            <a:pPr indent="-457189" lvl="0" marL="45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" sz="3200" u="none" cap="none" strike="noStrike">
                <a:solidFill>
                  <a:srgbClr val="06080A"/>
                </a:solidFill>
                <a:latin typeface="Lato"/>
                <a:ea typeface="Lato"/>
                <a:cs typeface="Lato"/>
                <a:sym typeface="Lato"/>
              </a:rPr>
              <a:t>Search-based navigation</a:t>
            </a:r>
            <a:endParaRPr/>
          </a:p>
          <a:p>
            <a:pPr indent="-457189" lvl="0" marL="45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" sz="3200" u="none" cap="none" strike="noStrike">
                <a:solidFill>
                  <a:srgbClr val="06080A"/>
                </a:solidFill>
                <a:latin typeface="Lato"/>
                <a:ea typeface="Lato"/>
                <a:cs typeface="Lato"/>
                <a:sym typeface="Lato"/>
              </a:rPr>
              <a:t>Product Catalog</a:t>
            </a:r>
            <a:endParaRPr/>
          </a:p>
          <a:p>
            <a:pPr indent="-457189" lvl="0" marL="45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" sz="3200" u="none" cap="none" strike="noStrike">
                <a:solidFill>
                  <a:srgbClr val="06080A"/>
                </a:solidFill>
                <a:latin typeface="Lato"/>
                <a:ea typeface="Lato"/>
                <a:cs typeface="Lato"/>
                <a:sym typeface="Lato"/>
              </a:rPr>
              <a:t>Customer management technologies</a:t>
            </a:r>
            <a:endParaRPr/>
          </a:p>
          <a:p>
            <a:pPr indent="-457189" lvl="0" marL="45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" sz="3200" u="none" cap="none" strike="noStrike">
                <a:solidFill>
                  <a:srgbClr val="06080A"/>
                </a:solidFill>
                <a:latin typeface="Lato"/>
                <a:ea typeface="Lato"/>
                <a:cs typeface="Lato"/>
                <a:sym typeface="Lato"/>
              </a:rPr>
              <a:t>Order capture functionality (Shopping)</a:t>
            </a:r>
            <a:endParaRPr/>
          </a:p>
          <a:p>
            <a:pPr indent="-457189" lvl="0" marL="45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" sz="3200" u="none" cap="none" strike="noStrike">
                <a:solidFill>
                  <a:srgbClr val="06080A"/>
                </a:solidFill>
                <a:latin typeface="Lato"/>
                <a:ea typeface="Lato"/>
                <a:cs typeface="Lato"/>
                <a:sym typeface="Lato"/>
              </a:rPr>
              <a:t>Order functionality</a:t>
            </a:r>
            <a:endParaRPr/>
          </a:p>
          <a:p>
            <a:pPr indent="-457189" lvl="0" marL="45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" sz="3200" u="none" cap="none" strike="noStrike">
                <a:solidFill>
                  <a:srgbClr val="06080A"/>
                </a:solidFill>
                <a:latin typeface="Lato"/>
                <a:ea typeface="Lato"/>
                <a:cs typeface="Lato"/>
                <a:sym typeface="Lato"/>
              </a:rPr>
              <a:t>Payment Related functions</a:t>
            </a:r>
            <a:endParaRPr/>
          </a:p>
          <a:p>
            <a:pPr indent="-457189" lvl="0" marL="45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" sz="3200" u="none" cap="none" strike="noStrike">
                <a:solidFill>
                  <a:srgbClr val="06080A"/>
                </a:solidFill>
                <a:latin typeface="Lato"/>
                <a:ea typeface="Lato"/>
                <a:cs typeface="Lato"/>
                <a:sym typeface="Lato"/>
              </a:rPr>
              <a:t>Inventory Management</a:t>
            </a:r>
            <a:endParaRPr/>
          </a:p>
          <a:p>
            <a:pPr indent="-457189" lvl="0" marL="45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" sz="3200" u="none" cap="none" strike="noStrike">
                <a:solidFill>
                  <a:srgbClr val="06080A"/>
                </a:solidFill>
                <a:latin typeface="Lato"/>
                <a:ea typeface="Lato"/>
                <a:cs typeface="Lato"/>
                <a:sym typeface="Lato"/>
              </a:rPr>
              <a:t>Customer Service</a:t>
            </a:r>
            <a:endParaRPr/>
          </a:p>
          <a:p>
            <a:pPr indent="-457189" lvl="0" marL="45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" sz="3200" u="none" cap="none" strike="noStrike">
                <a:solidFill>
                  <a:srgbClr val="06080A"/>
                </a:solidFill>
                <a:latin typeface="Lato"/>
                <a:ea typeface="Lato"/>
                <a:cs typeface="Lato"/>
                <a:sym typeface="Lato"/>
              </a:rPr>
              <a:t>Data Analytics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6080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"/>
          <p:cNvSpPr txBox="1"/>
          <p:nvPr>
            <p:ph type="title"/>
          </p:nvPr>
        </p:nvSpPr>
        <p:spPr>
          <a:xfrm>
            <a:off x="723013" y="1215600"/>
            <a:ext cx="10584432" cy="86838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</a:pPr>
            <a:r>
              <a:rPr lang="en"/>
              <a:t>E-COMMERCE ANALYTICS</a:t>
            </a:r>
            <a:endParaRPr/>
          </a:p>
        </p:txBody>
      </p:sp>
      <p:sp>
        <p:nvSpPr>
          <p:cNvPr id="211" name="Google Shape;211;p5"/>
          <p:cNvSpPr txBox="1"/>
          <p:nvPr>
            <p:ph idx="1" type="body"/>
          </p:nvPr>
        </p:nvSpPr>
        <p:spPr>
          <a:xfrm>
            <a:off x="152955" y="2197396"/>
            <a:ext cx="11886091" cy="41785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188" lvl="0" marL="60958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6080A"/>
              </a:buClr>
              <a:buSzPts val="1800"/>
              <a:buChar char="×"/>
            </a:pPr>
            <a:r>
              <a:rPr lang="en" sz="3200">
                <a:solidFill>
                  <a:srgbClr val="06080A"/>
                </a:solidFill>
              </a:rPr>
              <a:t>Process of gathering data from all areas that have an impact on your online store </a:t>
            </a:r>
            <a:endParaRPr/>
          </a:p>
          <a:p>
            <a:pPr indent="-457188" lvl="0" marL="60958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6080A"/>
              </a:buClr>
              <a:buSzPts val="1800"/>
              <a:buChar char="×"/>
            </a:pPr>
            <a:r>
              <a:rPr lang="en" sz="3200">
                <a:solidFill>
                  <a:srgbClr val="06080A"/>
                </a:solidFill>
              </a:rPr>
              <a:t> Use this information to understand the trends and the shift in consumer behavior to make data-driven decisions that will drive more online sales.</a:t>
            </a:r>
            <a:endParaRPr/>
          </a:p>
          <a:p>
            <a:pPr indent="-457188" lvl="0" marL="60958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6080A"/>
              </a:buClr>
              <a:buSzPts val="1800"/>
              <a:buChar char="×"/>
            </a:pPr>
            <a:r>
              <a:rPr lang="en" sz="3200">
                <a:solidFill>
                  <a:srgbClr val="06080A"/>
                </a:solidFill>
              </a:rPr>
              <a:t>Metrics related to the full customer journey from discovery, to acquisition, to conversion, and finally to retention and advocacy</a:t>
            </a:r>
            <a:r>
              <a:rPr lang="en" sz="2400">
                <a:solidFill>
                  <a:srgbClr val="06080A"/>
                </a:solidFill>
              </a:rPr>
              <a:t>. </a:t>
            </a:r>
            <a:endParaRPr/>
          </a:p>
          <a:p>
            <a:pPr indent="-342888" lvl="0" marL="609585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133">
              <a:solidFill>
                <a:srgbClr val="06080A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12" name="Google Shape;212;p5"/>
          <p:cNvSpPr txBox="1"/>
          <p:nvPr>
            <p:ph idx="12" type="sldNum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"/>
          <p:cNvSpPr txBox="1"/>
          <p:nvPr>
            <p:ph type="title"/>
          </p:nvPr>
        </p:nvSpPr>
        <p:spPr>
          <a:xfrm>
            <a:off x="340241" y="1132327"/>
            <a:ext cx="10079665" cy="1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en" sz="5333"/>
              <a:t>COMPONENTS OF E-COMMERCE PLATFORM</a:t>
            </a:r>
            <a:endParaRPr sz="5333"/>
          </a:p>
        </p:txBody>
      </p:sp>
      <p:sp>
        <p:nvSpPr>
          <p:cNvPr id="218" name="Google Shape;218;p6"/>
          <p:cNvSpPr txBox="1"/>
          <p:nvPr>
            <p:ph idx="1" type="body"/>
          </p:nvPr>
        </p:nvSpPr>
        <p:spPr>
          <a:xfrm>
            <a:off x="453656" y="2609761"/>
            <a:ext cx="8279219" cy="38406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57189" lvl="0" marL="457189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6080A"/>
              </a:buClr>
              <a:buSzPts val="1800"/>
              <a:buFont typeface="Arial"/>
              <a:buChar char="•"/>
            </a:pPr>
            <a:r>
              <a:rPr lang="en" sz="3200">
                <a:solidFill>
                  <a:srgbClr val="06080A"/>
                </a:solidFill>
                <a:latin typeface="Lato"/>
                <a:ea typeface="Lato"/>
                <a:cs typeface="Lato"/>
                <a:sym typeface="Lato"/>
              </a:rPr>
              <a:t>Marketing</a:t>
            </a:r>
            <a:endParaRPr/>
          </a:p>
          <a:p>
            <a:pPr indent="-457189" lvl="0" marL="457189" rtl="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rgbClr val="06080A"/>
              </a:buClr>
              <a:buSzPts val="1800"/>
              <a:buFont typeface="Arial"/>
              <a:buChar char="•"/>
            </a:pPr>
            <a:r>
              <a:rPr lang="en" sz="3200">
                <a:solidFill>
                  <a:srgbClr val="06080A"/>
                </a:solidFill>
                <a:latin typeface="Lato"/>
                <a:ea typeface="Lato"/>
                <a:cs typeface="Lato"/>
                <a:sym typeface="Lato"/>
              </a:rPr>
              <a:t>UX and UI</a:t>
            </a:r>
            <a:endParaRPr/>
          </a:p>
          <a:p>
            <a:pPr indent="-457189" lvl="0" marL="457189" rtl="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rgbClr val="06080A"/>
              </a:buClr>
              <a:buSzPts val="1800"/>
              <a:buFont typeface="Arial"/>
              <a:buChar char="•"/>
            </a:pPr>
            <a:r>
              <a:rPr lang="en" sz="3200">
                <a:solidFill>
                  <a:srgbClr val="06080A"/>
                </a:solidFill>
                <a:latin typeface="Lato"/>
                <a:ea typeface="Lato"/>
                <a:cs typeface="Lato"/>
                <a:sym typeface="Lato"/>
              </a:rPr>
              <a:t>Transactional</a:t>
            </a:r>
            <a:endParaRPr/>
          </a:p>
          <a:p>
            <a:pPr indent="-457189" lvl="0" marL="457189" rtl="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rgbClr val="06080A"/>
              </a:buClr>
              <a:buSzPts val="1800"/>
              <a:buFont typeface="Arial"/>
              <a:buChar char="•"/>
            </a:pPr>
            <a:r>
              <a:rPr lang="en" sz="3200">
                <a:solidFill>
                  <a:srgbClr val="06080A"/>
                </a:solidFill>
                <a:latin typeface="Lato"/>
                <a:ea typeface="Lato"/>
                <a:cs typeface="Lato"/>
                <a:sym typeface="Lato"/>
              </a:rPr>
              <a:t>Customer</a:t>
            </a:r>
            <a:endParaRPr/>
          </a:p>
          <a:p>
            <a:pPr indent="-457189" lvl="0" marL="457189" rtl="0" algn="l">
              <a:lnSpc>
                <a:spcPct val="90000"/>
              </a:lnSpc>
              <a:spcBef>
                <a:spcPts val="2133"/>
              </a:spcBef>
              <a:spcAft>
                <a:spcPts val="1333"/>
              </a:spcAft>
              <a:buClr>
                <a:srgbClr val="06080A"/>
              </a:buClr>
              <a:buSzPts val="1800"/>
              <a:buFont typeface="Arial"/>
              <a:buChar char="•"/>
            </a:pPr>
            <a:r>
              <a:rPr lang="en" sz="3200">
                <a:solidFill>
                  <a:srgbClr val="06080A"/>
                </a:solidFill>
                <a:latin typeface="Lato"/>
                <a:ea typeface="Lato"/>
                <a:cs typeface="Lato"/>
                <a:sym typeface="Lato"/>
              </a:rPr>
              <a:t>Internal and external data</a:t>
            </a:r>
            <a:endParaRPr/>
          </a:p>
        </p:txBody>
      </p:sp>
      <p:sp>
        <p:nvSpPr>
          <p:cNvPr id="219" name="Google Shape;219;p6"/>
          <p:cNvSpPr txBox="1"/>
          <p:nvPr>
            <p:ph idx="12" type="sldNum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"/>
          <p:cNvSpPr txBox="1"/>
          <p:nvPr>
            <p:ph type="title"/>
          </p:nvPr>
        </p:nvSpPr>
        <p:spPr>
          <a:xfrm>
            <a:off x="609600" y="1798633"/>
            <a:ext cx="7348400" cy="1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" sz="4800"/>
              <a:t>AFTER CLASSROOM ACTIVITY</a:t>
            </a:r>
            <a:endParaRPr sz="4800"/>
          </a:p>
        </p:txBody>
      </p:sp>
      <p:sp>
        <p:nvSpPr>
          <p:cNvPr id="225" name="Google Shape;225;p7"/>
          <p:cNvSpPr txBox="1"/>
          <p:nvPr>
            <p:ph idx="1" type="body"/>
          </p:nvPr>
        </p:nvSpPr>
        <p:spPr>
          <a:xfrm>
            <a:off x="609599" y="2949100"/>
            <a:ext cx="7683796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80990" lvl="0" marL="38099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×"/>
            </a:pPr>
            <a:r>
              <a:rPr lang="en" sz="2400" u="sng">
                <a:solidFill>
                  <a:schemeClr val="hlink"/>
                </a:solidFill>
                <a:hlinkClick r:id="rId3"/>
              </a:rPr>
              <a:t>https://www.websitebuilderexpert.com/building-online-stores/e-commerce-examples-case-studies/</a:t>
            </a:r>
            <a:endParaRPr sz="2400"/>
          </a:p>
          <a:p>
            <a:pPr indent="-279390" lvl="0" marL="38099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2400"/>
          </a:p>
          <a:p>
            <a:pPr indent="-380990" lvl="0" marL="38099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×"/>
            </a:pPr>
            <a:r>
              <a:rPr lang="en" sz="2400" u="sng">
                <a:solidFill>
                  <a:schemeClr val="hlink"/>
                </a:solidFill>
                <a:hlinkClick r:id="rId4"/>
              </a:rPr>
              <a:t>https://www.indusnet.co.in/ecommerce-successful-india/</a:t>
            </a:r>
            <a:endParaRPr sz="2400"/>
          </a:p>
          <a:p>
            <a:pPr indent="-279390" lvl="0" marL="38099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2400"/>
          </a:p>
        </p:txBody>
      </p:sp>
      <p:sp>
        <p:nvSpPr>
          <p:cNvPr id="226" name="Google Shape;226;p7"/>
          <p:cNvSpPr txBox="1"/>
          <p:nvPr>
            <p:ph idx="12" type="sldNum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"/>
          <p:cNvSpPr txBox="1"/>
          <p:nvPr>
            <p:ph idx="4294967295" type="subTitle"/>
          </p:nvPr>
        </p:nvSpPr>
        <p:spPr>
          <a:xfrm>
            <a:off x="1744717" y="2182150"/>
            <a:ext cx="8792633" cy="104563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ato"/>
              <a:buNone/>
            </a:pPr>
            <a:r>
              <a:rPr b="1" i="0" lang="en" sz="4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ANY QUESTIONS?</a:t>
            </a:r>
            <a:endParaRPr b="1" i="0" sz="4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" name="Google Shape;232;p8"/>
          <p:cNvSpPr txBox="1"/>
          <p:nvPr>
            <p:ph idx="12" type="sldNum"/>
          </p:nvPr>
        </p:nvSpPr>
        <p:spPr>
          <a:xfrm>
            <a:off x="5730200" y="62315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Lato"/>
              <a:buNone/>
            </a:pPr>
            <a:fld id="{00000000-1234-1234-1234-123412341234}" type="slidenum">
              <a:rPr b="0" i="0" lang="en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24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8"/>
          <p:cNvSpPr txBox="1"/>
          <p:nvPr>
            <p:ph idx="4294967295" type="ctrTitle"/>
          </p:nvPr>
        </p:nvSpPr>
        <p:spPr>
          <a:xfrm>
            <a:off x="0" y="1405467"/>
            <a:ext cx="10363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</a:pPr>
            <a:r>
              <a:rPr b="0" i="0" lang="en" sz="3733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Thanks!</a:t>
            </a:r>
            <a:endParaRPr b="0" i="0" sz="3733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4" name="Google Shape;234;p8"/>
          <p:cNvSpPr txBox="1"/>
          <p:nvPr>
            <p:ph idx="4294967295" type="body"/>
          </p:nvPr>
        </p:nvSpPr>
        <p:spPr>
          <a:xfrm>
            <a:off x="1699684" y="3873894"/>
            <a:ext cx="8792633" cy="171873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FFFFFF"/>
                </a:solidFill>
              </a:rPr>
              <a:t>You can find me at:</a:t>
            </a:r>
            <a:endParaRPr sz="24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FFFFFF"/>
                </a:solidFill>
              </a:rPr>
              <a:t>parvathi.pdf@gmail.com</a:t>
            </a:r>
            <a:endParaRPr sz="2400">
              <a:solidFill>
                <a:srgbClr val="FFFFFF"/>
              </a:solidFill>
            </a:endParaRPr>
          </a:p>
        </p:txBody>
      </p:sp>
      <p:grpSp>
        <p:nvGrpSpPr>
          <p:cNvPr id="235" name="Google Shape;235;p8"/>
          <p:cNvGrpSpPr/>
          <p:nvPr/>
        </p:nvGrpSpPr>
        <p:grpSpPr>
          <a:xfrm>
            <a:off x="5236800" y="3386400"/>
            <a:ext cx="1718400" cy="85200"/>
            <a:chOff x="3927600" y="2539800"/>
            <a:chExt cx="1288800" cy="63900"/>
          </a:xfrm>
        </p:grpSpPr>
        <p:cxnSp>
          <p:nvCxnSpPr>
            <p:cNvPr id="236" name="Google Shape;236;p8"/>
            <p:cNvCxnSpPr/>
            <p:nvPr/>
          </p:nvCxnSpPr>
          <p:spPr>
            <a:xfrm>
              <a:off x="3927600" y="2571750"/>
              <a:ext cx="1288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7" name="Google Shape;237;p8"/>
            <p:cNvSpPr/>
            <p:nvPr/>
          </p:nvSpPr>
          <p:spPr>
            <a:xfrm flipH="1">
              <a:off x="4538275" y="2539800"/>
              <a:ext cx="67500" cy="63900"/>
            </a:xfrm>
            <a:prstGeom prst="diamond">
              <a:avLst/>
            </a:prstGeom>
            <a:solidFill>
              <a:srgbClr val="22222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glamour template">
  <a:themeElements>
    <a:clrScheme name="Custom 347">
      <a:dk1>
        <a:srgbClr val="434343"/>
      </a:dk1>
      <a:lt1>
        <a:srgbClr val="FFFFFF"/>
      </a:lt1>
      <a:dk2>
        <a:srgbClr val="666666"/>
      </a:dk2>
      <a:lt2>
        <a:srgbClr val="E7EAEC"/>
      </a:lt2>
      <a:accent1>
        <a:srgbClr val="6ED87E"/>
      </a:accent1>
      <a:accent2>
        <a:srgbClr val="18C7B2"/>
      </a:accent2>
      <a:accent3>
        <a:srgbClr val="33ADEB"/>
      </a:accent3>
      <a:accent4>
        <a:srgbClr val="DF77D2"/>
      </a:accent4>
      <a:accent5>
        <a:srgbClr val="A143B3"/>
      </a:accent5>
      <a:accent6>
        <a:srgbClr val="FFB300"/>
      </a:accent6>
      <a:hlink>
        <a:srgbClr val="4A86E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2022-12-05T06:59:25Z</dcterms:created>
  <dc:creator>Parvathi Jayaprakash</dc:creator>
</cp:coreProperties>
</file>